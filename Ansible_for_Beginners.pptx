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(2 min). Introduce yourself and the goal: by the end, everyone will have run real playbooks against three Linux servers on their own laptop. Ask: who has used Linux? SSH? YAML? Adjust pace. The three coloured dots are Ansible's output colours - we will see them all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flow (1 min). Concepts in the first hour, then playbooks, authentication and modules with live demos against the lab. Best practices and Q&amp;A close the session. Demos are woven in, not saved for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check (2 min). Participants should have finished the setup guide before the session. Quick hands-up: who can run 'ansible all -m ping -k'? Anyone who cannot: use Plan B, the control container (docker compose exec control bash). Point out: Ansible's control node must be Linux/macOS, which is why we use WSL2. The nodes are Ubuntu containers running SSH - to Ansible they look like any Linux server. Login: ansible / ansible.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What is Ansible (12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Motivate (3 min). Ask: how long to install and configure nginx on 100 servers by hand? What if one command is typed wrong on server 57? Configuration drift: servers that should be identical slowly differ. Ansible replaces the manual steps with a file that describes the desired state; the same file works for 1 or 1000 servers and lives in version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(3 min). Emphasise the three words: open-source, agentless, YAML. Agentless means nothing to install or keep running on the servers - just SSH and Python. Mention the product family so beginners aren't confused later: ansible-core vs the 'ansible' community package (we installed the full package, which includes collections like ansible.posix), and AAP / AWX as the web-UI layer used in companies.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Concepts (3 min). Idempotency is THE key idea - demo it later by running the same playbook twice (yellow 'changed' becomes green 'ok'). Contrast declarative (state: present) with imperative shell scripts (apt install...). Ansible is mostly declarative, but tasks run in order, so it is sometimes called procedural-declarative.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cases (3 min). Ask the room which of these their team does manually today. In this session we focus on configuration management and app deployment on Linux, but the same skills transfer to cloud, network and Windows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Comparison (10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Comparison (5 min). Read across the Architecture row first - that is the big difference: Ansible needs no agent and no central server. Chef and Puppet are mature and powerful but need agents, a server, and a Ruby-based language. Salt is extremely fast thanks to its ZeroMQ event bus, and can also work agentless (salt-ssh). Ownership changes (Chef to Progress 2020, Puppet to Perforce 2022, Salt to VMware 2020 then Broadcom 2023) - not needed for exams, useful context. No tool is 'best'; pick for the team and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vs pull (3 min). Push: the control node connects out and applies changes now - great for deployments and on-demand work. Pull: an agent on every server periodically asks the master for its configuration - great for continuous drift correction, but you run and secure agents plus the master. Ansible can also do pull via ansible-pull or scheduled runs in AWX/AAP.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Ansible (5 min). Summarise the comparison in positive terms. Ask the class which reason matters most for a beginner - usually simplicity and job demand. Honest caveats worth mentioning: large inventories over SSH are slower than agent/event-bus tools, and there is no built-in continuous drift correction unless you schedule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Architecture (12 min) + Terminologies (10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(6 min). Control node = where Ansible is installed (our WSL). It reads the INVENTORY (which hosts), the PLAYBOOK (what to do), uses MODULES (small programs that do the work) and PLUGINS (connection, callback/output, lookup, filter). It connects to MANAGED NODES over SSH/WinRM. Nothing Ansible-specific is installed on the targets. Live: run 'ansible-inventory --graph' and 'ansible-config dump --only-changed' to show the inventory and config in our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Execution flow (4 min). This explains why Python is needed on Linux targets: modules are Python programs copied over and executed. Show: 'ansible web1 -m ping -vvv' and point at the SSH command, the PUT of the module and the JSON result. Forks control parallelism: our lab's ansible.cfg sets forks =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Terminology part 1 (5 min). Build the vocabulary bottom-up: a MODULE does one thing; a TASK is one use of a module; a PLAY says 'on these hosts, run these tasks'; a PLAYBOOK is a file with one or more plays. Inventory = who, playbook = what. Check understanding with a quick question: 'Is apt a task or a module?'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Terminology part 2 (5 min). Don't go deep yet - each of these comes back in the playbook section with code. Facts: run 'ansible web1 -m setup -a filter=ansible_distribution*'. Collections are how modules are shipped since Ansible 2.10; that's why module names look like ansible.builtin.copy (FQCN).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Inventory (4 min). Walk through the INI file from the lab. ansible_host and ansible_port are 'behavioural inventory variables' - they tell Ansible how to connect. Groups let you target many hosts at once; :children makes a group of groups. Live: 'ansible-inventory --graph' and 'ansible-inventory --host web1'. Mention group_vars/ and host_vars/ folders beside the inventory -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Variables (2 min, keep it light). There are 22 levels of precedence officially - beginners only need this simplified ladder. Rule of thumb: put sensible defaults in role defaults, environment-specific values in group_vars, one-off overrides in host_vars, and use -e only for quick tests. Variables are referenced with double curly braces {{ }} - Jinja2.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(5 min). Use it to help anyone whose lab isn't working - usually Docker not running, ansible.cfg ignored because they are in /mnt/c, or sshpass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Playbooks (20 min incl.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YAML (4 min). Most beginner errors are YAML indentation. Show the difference between a mapping and a list. The {{ }} quoting rule: a value that STARTS with {{ must be quoted, otherwise YAML thinks it's a dictionary. Recommend the VS Code Red Hat YAML/Ansible extensions - they underline mistakes as you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Hierarchy (3 min). One playbook can configure multiple tiers by having several plays. Important behaviour: Ansible runs task 1 on ALL hosts of the play, then task 2 on all hosts, and so on (the default 'linear' strategy). A failed host drops out of the rest of the play; the others continue.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Anatomy (5 min) then LIVE DEMO (5 min). Walk top to bottom. Then in the lab: 1) ansible-playbook playbooks/03_webserver.yml --check  2) run it for real  3) open http://localhost:8081  4) run it AGAIN - everything green, changed=0: idempotency  5) change page_title in group_vars/webservers.yml, run with --diff - only the template task changes and the handler fires. The full lab file also has a lineinfile task that removes the IPv6 listen line, because some Docker setups lack IPv6.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flow (3 min). loop replaces the old with_items. when uses Jinja2 expressions WITHOUT the curly braces. register captures module output; changed_when: false tells Ansible a read-only command never changes anything, keeping idempotent reports honest. Run the lab playbook and point at the host_vars-driven 'I am the database server' message that only appears for db1.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Roles (3 min). A role is just a folder convention - Ansible automatically loads tasks/main.yml, handlers/main.yml etc., and finds templates/files without full paths. Roles make a playbook short and readable. Demo: tree roles/ then ansible-playbook playbooks/site.yml. Point out the tags on the common role and run --tags motd.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 (2 min). The PLAY RECAP is what you check first. 'changed=0' on a second run proves idempotency. Encourage --check --diff before every real run in shared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Authentication (10 min incl.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 overview (3 min). Three separate questions: HOW do I log in (SSH password or key), HOW do I get root (become), and HOW do I keep secrets safe (vault). In production you almost always use SSH keys, a dedicated automation user with limited sudo, and secrets in Vault or an external secrets 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SSH key DEMO (4 min). Do it live. Explain the key pair: private key stays on the control node (~/.ssh/id_ed25519, permissions 600), the public key goes into ~/.ssh/authorized_keys on each server. After step 3, ping works with no -k. Mention: the lab disables host key checking and known_hosts only because containers are rebuilt often - keep host key checking ON in real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Become &amp; Vault (3 min). become uses sudo by default; become_user switches to a non-root user when needed. Vault DEMO if time: cp vault/secrets.example.yml vault/secrets.yml, ansible-vault encrypt, cat the file to show ciphertext, then run 07_vault.yml --ask-vault-pass. no_log: true keeps the secret out of the console. The lab .gitignore excludes vault/secrets.yml for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Executing modules (10 min) + Modules (8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Ad-hoc anatomy (3 min). Syntax: ansible &lt;pattern&gt; -m &lt;module&gt; -a '&lt;args&gt;'. The default module is 'command', so 'ansible all -a uptime' also works. Ad-hoc is great for exploring; anything you'll do twice belongs in a playbook.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(5 min). Let participants type these. Watch for: forgetting -b for package installs (permission error), and quoting of -a arguments. Point out that 'shell' was needed for the pipe in df -h | grep.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 vs shell (2 min). Prefer a dedicated module (apt, copy, service) over any of these - dedicated modules are idempotent. If you must run a command, prefer 'command' over 'shell', and add creates:, removes: or changed_when: so the task reports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categories (2 min). Don't memorise - know the categories and how to look things up. Most day-to-day Linux work uses fewer than 20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modules (3 min). Point out which ones appear in the lab playbooks. For every module, 'state' is the key argument: present/absent, started/stopped/restarted, directory/file/absent.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Docs (3 min). Live: ansible-doc -s ansible.builtin.file and copy the snippet into a playbook. The EXAMPLES section at the bottom of every module doc is gold for beginners. FQCN became the norm with collections in Ansible 2.10+.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7: Best practices (8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 practices (4 min). The lab project passes ansible-lint's 'production' profile - show 'ansible-lint playbooks roles'. Other good habits: least privilege (become only where needed), keep host key checking on outside labs, pin collection versions in requirements.yml, and test in a non-production environment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Do/Don't (3 min). Ask the class to spot the problem in each 'don't' before revealing. The echo &gt;&gt; example is the classic idempotency bug: run it 5 times, get 5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(2 min). Quick-fire quiz: What makes Ansible agentless? What's idempotency? Difference between a play and a task? When does a handler run? Which module would you use to add one line to a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(3 min). Suggested next topics for a follow-up session: Jinja2 templates in depth, error handling (block/rescue), dynamic inventory for cloud, AWX / Automation Platform, Molecule for testing roles. Remind people to stop the lab: docker compose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share this with participants in advance. Plan B if WSL can't be installed: docker compose up -d --build, then docker compose exec control bash, and work from /ansible inside the container.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1.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image" Target="../media/image-36-7.png"/><Relationship Id="rId8" Type="http://schemas.openxmlformats.org/officeDocument/2006/relationships/image" Target="../media/image-36-8.png"/><Relationship Id="rId9" Type="http://schemas.openxmlformats.org/officeDocument/2006/relationships/slideLayout" Target="../slideLayouts/slideLayout1.xml"/><Relationship Id="rId10"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image" Target="../media/image-40-7.png"/><Relationship Id="rId8" Type="http://schemas.openxmlformats.org/officeDocument/2006/relationships/image" Target="../media/image-40-8.png"/><Relationship Id="rId9" Type="http://schemas.openxmlformats.org/officeDocument/2006/relationships/slideLayout" Target="../slideLayouts/slideLayout1.xml"/><Relationship Id="rId10"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image" Target="../media/image-42-7.png"/><Relationship Id="rId8" Type="http://schemas.openxmlformats.org/officeDocument/2006/relationships/slideLayout" Target="../slideLayouts/slideLayout1.xml"/><Relationship Id="rId9"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slideLayout" Target="../slideLayouts/slideLayout1.xml"/><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81D"/>
        </a:solidFill>
      </p:bgPr>
    </p:bg>
    <p:spTree>
      <p:nvGrpSpPr>
        <p:cNvPr id="1" name=""/>
        <p:cNvGrpSpPr/>
        <p:nvPr/>
      </p:nvGrpSpPr>
      <p:grpSpPr>
        <a:xfrm>
          <a:off x="0" y="0"/>
          <a:ext cx="0" cy="0"/>
          <a:chOff x="0" y="0"/>
          <a:chExt cx="0" cy="0"/>
        </a:xfrm>
      </p:grpSpPr>
      <p:sp>
        <p:nvSpPr>
          <p:cNvPr id="2" name="Text 0"/>
          <p:cNvSpPr txBox="1"/>
          <p:nvPr/>
        </p:nvSpPr>
        <p:spPr>
          <a:xfrm>
            <a:off x="457200" y="1188720"/>
            <a:ext cx="8229600" cy="914400"/>
          </a:xfrm>
          <a:prstGeom prst="rect">
            <a:avLst/>
          </a:prstGeom>
          <a:noFill/>
          <a:ln/>
        </p:spPr>
        <p:txBody>
          <a:bodyPr wrap="square" lIns="0" tIns="0" rIns="0" bIns="0" rtlCol="0" anchor="ctr"/>
          <a:lstStyle/>
          <a:p>
            <a:pPr indent="0" marL="0">
              <a:buNone/>
            </a:pPr>
            <a:r>
              <a:rPr lang="en-US" sz="6000" b="1" spc="600" kern="0" dirty="0">
                <a:solidFill>
                  <a:srgbClr val="FFFFFF"/>
                </a:solidFill>
                <a:latin typeface="Arial" pitchFamily="34" charset="0"/>
                <a:ea typeface="Arial" pitchFamily="34" charset="-122"/>
                <a:cs typeface="Arial" pitchFamily="34" charset="-120"/>
              </a:rPr>
              <a:t>ANSIBLE</a:t>
            </a:r>
            <a:endParaRPr lang="en-US" sz="6000" dirty="0"/>
          </a:p>
        </p:txBody>
      </p:sp>
      <p:sp>
        <p:nvSpPr>
          <p:cNvPr id="3" name="Text 1"/>
          <p:cNvSpPr txBox="1"/>
          <p:nvPr/>
        </p:nvSpPr>
        <p:spPr>
          <a:xfrm>
            <a:off x="457200" y="2057400"/>
            <a:ext cx="8229600" cy="640080"/>
          </a:xfrm>
          <a:prstGeom prst="rect">
            <a:avLst/>
          </a:prstGeom>
          <a:noFill/>
          <a:ln/>
        </p:spPr>
        <p:txBody>
          <a:bodyPr wrap="square" lIns="0" tIns="0" rIns="0" bIns="0" rtlCol="0" anchor="ctr"/>
          <a:lstStyle/>
          <a:p>
            <a:pPr indent="0" marL="0">
              <a:buNone/>
            </a:pPr>
            <a:r>
              <a:rPr lang="en-US" sz="3000" dirty="0">
                <a:solidFill>
                  <a:srgbClr val="D92D27"/>
                </a:solidFill>
                <a:latin typeface="Arial" pitchFamily="34" charset="0"/>
                <a:ea typeface="Arial" pitchFamily="34" charset="-122"/>
                <a:cs typeface="Arial" pitchFamily="34" charset="-120"/>
              </a:rPr>
              <a:t>for Beginners</a:t>
            </a:r>
            <a:endParaRPr lang="en-US" sz="3000" dirty="0"/>
          </a:p>
        </p:txBody>
      </p:sp>
      <p:sp>
        <p:nvSpPr>
          <p:cNvPr id="4" name="Text 2"/>
          <p:cNvSpPr txBox="1"/>
          <p:nvPr/>
        </p:nvSpPr>
        <p:spPr>
          <a:xfrm>
            <a:off x="457200" y="2834640"/>
            <a:ext cx="6217920" cy="731520"/>
          </a:xfrm>
          <a:prstGeom prst="rect">
            <a:avLst/>
          </a:prstGeom>
          <a:noFill/>
          <a:ln/>
        </p:spPr>
        <p:txBody>
          <a:bodyPr wrap="square" lIns="0" tIns="0" rIns="0" bIns="0" rtlCol="0" anchor="ctr"/>
          <a:lstStyle/>
          <a:p>
            <a:pPr indent="0" marL="0">
              <a:buNone/>
            </a:pPr>
            <a:r>
              <a:rPr lang="en-US" sz="1500" dirty="0">
                <a:solidFill>
                  <a:srgbClr val="C9CED6"/>
                </a:solidFill>
                <a:latin typeface="Calibri" pitchFamily="34" charset="0"/>
                <a:ea typeface="Calibri" pitchFamily="34" charset="-122"/>
                <a:cs typeface="Calibri" pitchFamily="34" charset="-120"/>
              </a:rPr>
              <a:t>Automate servers with simple YAML — from first ping to roles, with a hands-on lab on your Windows laptop</a:t>
            </a:r>
            <a:endParaRPr lang="en-US" sz="1500" dirty="0"/>
          </a:p>
        </p:txBody>
      </p:sp>
      <p:sp>
        <p:nvSpPr>
          <p:cNvPr id="5" name="Shape 3"/>
          <p:cNvSpPr/>
          <p:nvPr/>
        </p:nvSpPr>
        <p:spPr>
          <a:xfrm>
            <a:off x="457200" y="3931920"/>
            <a:ext cx="1828800" cy="411480"/>
          </a:xfrm>
          <a:prstGeom prst="roundRect">
            <a:avLst>
              <a:gd name="adj" fmla="val 48889"/>
            </a:avLst>
          </a:prstGeom>
          <a:solidFill>
            <a:srgbClr val="2A2E36"/>
          </a:solidFill>
          <a:ln w="12700">
            <a:solidFill>
              <a:srgbClr val="2A2E36"/>
            </a:solidFill>
            <a:prstDash val="solid"/>
          </a:ln>
        </p:spPr>
      </p:sp>
      <p:pic>
        <p:nvPicPr>
          <p:cNvPr id="6" name="Image 0" descr="preencoded.png">    </p:cNvPr>
          <p:cNvPicPr>
            <a:picLocks noChangeAspect="1"/>
          </p:cNvPicPr>
          <p:nvPr/>
        </p:nvPicPr>
        <p:blipFill>
          <a:blip r:embed="rId1"/>
          <a:stretch>
            <a:fillRect/>
          </a:stretch>
        </p:blipFill>
        <p:spPr>
          <a:xfrm>
            <a:off x="594360" y="4032504"/>
            <a:ext cx="210312" cy="210312"/>
          </a:xfrm>
          <a:prstGeom prst="rect">
            <a:avLst/>
          </a:prstGeom>
        </p:spPr>
      </p:pic>
      <p:sp>
        <p:nvSpPr>
          <p:cNvPr id="7" name="Text 4"/>
          <p:cNvSpPr txBox="1"/>
          <p:nvPr/>
        </p:nvSpPr>
        <p:spPr>
          <a:xfrm>
            <a:off x="868680" y="3931920"/>
            <a:ext cx="1371600" cy="4114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2 hours</a:t>
            </a:r>
            <a:endParaRPr lang="en-US" sz="1200" dirty="0"/>
          </a:p>
        </p:txBody>
      </p:sp>
      <p:sp>
        <p:nvSpPr>
          <p:cNvPr id="8" name="Shape 5"/>
          <p:cNvSpPr/>
          <p:nvPr/>
        </p:nvSpPr>
        <p:spPr>
          <a:xfrm>
            <a:off x="2468880" y="3931920"/>
            <a:ext cx="1828800" cy="411480"/>
          </a:xfrm>
          <a:prstGeom prst="roundRect">
            <a:avLst>
              <a:gd name="adj" fmla="val 48889"/>
            </a:avLst>
          </a:prstGeom>
          <a:solidFill>
            <a:srgbClr val="2A2E36"/>
          </a:solidFill>
          <a:ln w="12700">
            <a:solidFill>
              <a:srgbClr val="2A2E36"/>
            </a:solidFill>
            <a:prstDash val="solid"/>
          </a:ln>
        </p:spPr>
      </p:sp>
      <p:pic>
        <p:nvPicPr>
          <p:cNvPr id="9" name="Image 1" descr="preencoded.png">    </p:cNvPr>
          <p:cNvPicPr>
            <a:picLocks noChangeAspect="1"/>
          </p:cNvPicPr>
          <p:nvPr/>
        </p:nvPicPr>
        <p:blipFill>
          <a:blip r:embed="rId2"/>
          <a:stretch>
            <a:fillRect/>
          </a:stretch>
        </p:blipFill>
        <p:spPr>
          <a:xfrm>
            <a:off x="2606040" y="4032504"/>
            <a:ext cx="210312" cy="210312"/>
          </a:xfrm>
          <a:prstGeom prst="rect">
            <a:avLst/>
          </a:prstGeom>
        </p:spPr>
      </p:pic>
      <p:sp>
        <p:nvSpPr>
          <p:cNvPr id="10" name="Text 6"/>
          <p:cNvSpPr txBox="1"/>
          <p:nvPr/>
        </p:nvSpPr>
        <p:spPr>
          <a:xfrm>
            <a:off x="2880360" y="3931920"/>
            <a:ext cx="1371600" cy="4114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Windows + WSL2</a:t>
            </a:r>
            <a:endParaRPr lang="en-US" sz="1200" dirty="0"/>
          </a:p>
        </p:txBody>
      </p:sp>
      <p:sp>
        <p:nvSpPr>
          <p:cNvPr id="11" name="Shape 7"/>
          <p:cNvSpPr/>
          <p:nvPr/>
        </p:nvSpPr>
        <p:spPr>
          <a:xfrm>
            <a:off x="4480560" y="3931920"/>
            <a:ext cx="1828800" cy="411480"/>
          </a:xfrm>
          <a:prstGeom prst="roundRect">
            <a:avLst>
              <a:gd name="adj" fmla="val 48889"/>
            </a:avLst>
          </a:prstGeom>
          <a:solidFill>
            <a:srgbClr val="2A2E36"/>
          </a:solidFill>
          <a:ln w="12700">
            <a:solidFill>
              <a:srgbClr val="2A2E36"/>
            </a:solidFill>
            <a:prstDash val="solid"/>
          </a:ln>
        </p:spPr>
      </p:sp>
      <p:pic>
        <p:nvPicPr>
          <p:cNvPr id="12" name="Image 2" descr="preencoded.png">    </p:cNvPr>
          <p:cNvPicPr>
            <a:picLocks noChangeAspect="1"/>
          </p:cNvPicPr>
          <p:nvPr/>
        </p:nvPicPr>
        <p:blipFill>
          <a:blip r:embed="rId3"/>
          <a:stretch>
            <a:fillRect/>
          </a:stretch>
        </p:blipFill>
        <p:spPr>
          <a:xfrm>
            <a:off x="4617720" y="4032504"/>
            <a:ext cx="210312" cy="210312"/>
          </a:xfrm>
          <a:prstGeom prst="rect">
            <a:avLst/>
          </a:prstGeom>
        </p:spPr>
      </p:pic>
      <p:sp>
        <p:nvSpPr>
          <p:cNvPr id="13" name="Text 8"/>
          <p:cNvSpPr txBox="1"/>
          <p:nvPr/>
        </p:nvSpPr>
        <p:spPr>
          <a:xfrm>
            <a:off x="4892040" y="3931920"/>
            <a:ext cx="1371600" cy="4114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Live demos</a:t>
            </a:r>
            <a:endParaRPr lang="en-US" sz="1200" dirty="0"/>
          </a:p>
        </p:txBody>
      </p:sp>
      <p:sp>
        <p:nvSpPr>
          <p:cNvPr id="14" name="Shape 9"/>
          <p:cNvSpPr/>
          <p:nvPr/>
        </p:nvSpPr>
        <p:spPr>
          <a:xfrm>
            <a:off x="7315200" y="1325880"/>
            <a:ext cx="274320" cy="274320"/>
          </a:xfrm>
          <a:prstGeom prst="ellipse">
            <a:avLst/>
          </a:prstGeom>
          <a:solidFill>
            <a:srgbClr val="2E8B57"/>
          </a:solidFill>
          <a:ln w="12700">
            <a:solidFill>
              <a:srgbClr val="2E8B57"/>
            </a:solidFill>
            <a:prstDash val="solid"/>
          </a:ln>
        </p:spPr>
      </p:sp>
      <p:sp>
        <p:nvSpPr>
          <p:cNvPr id="15" name="Text 10"/>
          <p:cNvSpPr txBox="1"/>
          <p:nvPr/>
        </p:nvSpPr>
        <p:spPr>
          <a:xfrm>
            <a:off x="7680960" y="1325880"/>
            <a:ext cx="1097280" cy="274320"/>
          </a:xfrm>
          <a:prstGeom prst="rect">
            <a:avLst/>
          </a:prstGeom>
          <a:noFill/>
          <a:ln/>
        </p:spPr>
        <p:txBody>
          <a:bodyPr wrap="square" lIns="0" tIns="0" rIns="0" bIns="0" rtlCol="0" anchor="ctr"/>
          <a:lstStyle/>
          <a:p>
            <a:pPr indent="0" marL="0">
              <a:buNone/>
            </a:pPr>
            <a:r>
              <a:rPr lang="en-US" sz="1200" dirty="0">
                <a:solidFill>
                  <a:srgbClr val="C9CED6"/>
                </a:solidFill>
                <a:latin typeface="Courier New" pitchFamily="34" charset="0"/>
                <a:ea typeface="Courier New" pitchFamily="34" charset="-122"/>
                <a:cs typeface="Courier New" pitchFamily="34" charset="-120"/>
              </a:rPr>
              <a:t>ok</a:t>
            </a:r>
            <a:endParaRPr lang="en-US" sz="1200" dirty="0"/>
          </a:p>
        </p:txBody>
      </p:sp>
      <p:sp>
        <p:nvSpPr>
          <p:cNvPr id="16" name="Shape 11"/>
          <p:cNvSpPr/>
          <p:nvPr/>
        </p:nvSpPr>
        <p:spPr>
          <a:xfrm>
            <a:off x="7315200" y="1828800"/>
            <a:ext cx="274320" cy="274320"/>
          </a:xfrm>
          <a:prstGeom prst="ellipse">
            <a:avLst/>
          </a:prstGeom>
          <a:solidFill>
            <a:srgbClr val="C98A0B"/>
          </a:solidFill>
          <a:ln w="12700">
            <a:solidFill>
              <a:srgbClr val="C98A0B"/>
            </a:solidFill>
            <a:prstDash val="solid"/>
          </a:ln>
        </p:spPr>
      </p:sp>
      <p:sp>
        <p:nvSpPr>
          <p:cNvPr id="17" name="Text 12"/>
          <p:cNvSpPr txBox="1"/>
          <p:nvPr/>
        </p:nvSpPr>
        <p:spPr>
          <a:xfrm>
            <a:off x="7680960" y="1828800"/>
            <a:ext cx="1097280" cy="274320"/>
          </a:xfrm>
          <a:prstGeom prst="rect">
            <a:avLst/>
          </a:prstGeom>
          <a:noFill/>
          <a:ln/>
        </p:spPr>
        <p:txBody>
          <a:bodyPr wrap="square" lIns="0" tIns="0" rIns="0" bIns="0" rtlCol="0" anchor="ctr"/>
          <a:lstStyle/>
          <a:p>
            <a:pPr indent="0" marL="0">
              <a:buNone/>
            </a:pPr>
            <a:r>
              <a:rPr lang="en-US" sz="1200" dirty="0">
                <a:solidFill>
                  <a:srgbClr val="C9CED6"/>
                </a:solidFill>
                <a:latin typeface="Courier New" pitchFamily="34" charset="0"/>
                <a:ea typeface="Courier New" pitchFamily="34" charset="-122"/>
                <a:cs typeface="Courier New" pitchFamily="34" charset="-120"/>
              </a:rPr>
              <a:t>changed</a:t>
            </a:r>
            <a:endParaRPr lang="en-US" sz="1200" dirty="0"/>
          </a:p>
        </p:txBody>
      </p:sp>
      <p:sp>
        <p:nvSpPr>
          <p:cNvPr id="18" name="Shape 13"/>
          <p:cNvSpPr/>
          <p:nvPr/>
        </p:nvSpPr>
        <p:spPr>
          <a:xfrm>
            <a:off x="7315200" y="2331720"/>
            <a:ext cx="274320" cy="274320"/>
          </a:xfrm>
          <a:prstGeom prst="ellipse">
            <a:avLst/>
          </a:prstGeom>
          <a:solidFill>
            <a:srgbClr val="D92D27"/>
          </a:solidFill>
          <a:ln w="12700">
            <a:solidFill>
              <a:srgbClr val="D92D27"/>
            </a:solidFill>
            <a:prstDash val="solid"/>
          </a:ln>
        </p:spPr>
      </p:sp>
      <p:sp>
        <p:nvSpPr>
          <p:cNvPr id="19" name="Text 14"/>
          <p:cNvSpPr txBox="1"/>
          <p:nvPr/>
        </p:nvSpPr>
        <p:spPr>
          <a:xfrm>
            <a:off x="7680960" y="2331720"/>
            <a:ext cx="1097280" cy="274320"/>
          </a:xfrm>
          <a:prstGeom prst="rect">
            <a:avLst/>
          </a:prstGeom>
          <a:noFill/>
          <a:ln/>
        </p:spPr>
        <p:txBody>
          <a:bodyPr wrap="square" lIns="0" tIns="0" rIns="0" bIns="0" rtlCol="0" anchor="ctr"/>
          <a:lstStyle/>
          <a:p>
            <a:pPr indent="0" marL="0">
              <a:buNone/>
            </a:pPr>
            <a:r>
              <a:rPr lang="en-US" sz="1200" dirty="0">
                <a:solidFill>
                  <a:srgbClr val="C9CED6"/>
                </a:solidFill>
                <a:latin typeface="Courier New" pitchFamily="34" charset="0"/>
                <a:ea typeface="Courier New" pitchFamily="34" charset="-122"/>
                <a:cs typeface="Courier New" pitchFamily="34" charset="-120"/>
              </a:rPr>
              <a:t>failed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9AA1AA"/>
                </a:solidFill>
                <a:latin typeface="Calibri" pitchFamily="34" charset="0"/>
                <a:ea typeface="Calibri" pitchFamily="34" charset="-122"/>
                <a:cs typeface="Calibri" pitchFamily="34" charset="-120"/>
              </a:rPr>
              <a:t>2</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Agenda</a:t>
            </a:r>
            <a:endParaRPr lang="en-US" sz="28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B6470"/>
                </a:solidFill>
                <a:latin typeface="Calibri" pitchFamily="34" charset="0"/>
                <a:ea typeface="Calibri" pitchFamily="34" charset="-122"/>
                <a:cs typeface="Calibri" pitchFamily="34" charset="-120"/>
              </a:rPr>
              <a:t>120 minutes · concepts first, then hands-on</a:t>
            </a:r>
            <a:endParaRPr lang="en-US" sz="1300" dirty="0"/>
          </a:p>
        </p:txBody>
      </p:sp>
      <p:sp>
        <p:nvSpPr>
          <p:cNvPr id="5" name="Shape 3"/>
          <p:cNvSpPr/>
          <p:nvPr/>
        </p:nvSpPr>
        <p:spPr>
          <a:xfrm>
            <a:off x="457200" y="1362456"/>
            <a:ext cx="274320" cy="274320"/>
          </a:xfrm>
          <a:prstGeom prst="ellipse">
            <a:avLst/>
          </a:prstGeom>
          <a:solidFill>
            <a:srgbClr val="D92D27"/>
          </a:solidFill>
          <a:ln w="12700">
            <a:solidFill>
              <a:srgbClr val="D92D27"/>
            </a:solidFill>
            <a:prstDash val="solid"/>
          </a:ln>
        </p:spPr>
      </p:sp>
      <p:sp>
        <p:nvSpPr>
          <p:cNvPr id="6" name="Text 4"/>
          <p:cNvSpPr txBox="1"/>
          <p:nvPr/>
        </p:nvSpPr>
        <p:spPr>
          <a:xfrm>
            <a:off x="841248" y="1325880"/>
            <a:ext cx="548640" cy="347472"/>
          </a:xfrm>
          <a:prstGeom prst="rect">
            <a:avLst/>
          </a:prstGeom>
          <a:noFill/>
          <a:ln/>
        </p:spPr>
        <p:txBody>
          <a:bodyPr wrap="square" lIns="0" tIns="0" rIns="0" bIns="0" rtlCol="0" anchor="ctr"/>
          <a:lstStyle/>
          <a:p>
            <a:pPr indent="0" marL="0">
              <a:buNone/>
            </a:pPr>
            <a:r>
              <a:rPr lang="en-US" sz="1200" dirty="0">
                <a:solidFill>
                  <a:srgbClr val="5B6470"/>
                </a:solidFill>
                <a:latin typeface="Courier New" pitchFamily="34" charset="0"/>
                <a:ea typeface="Courier New" pitchFamily="34" charset="-122"/>
                <a:cs typeface="Courier New" pitchFamily="34" charset="-120"/>
              </a:rPr>
              <a:t>0:00</a:t>
            </a:r>
            <a:endParaRPr lang="en-US" sz="1200" dirty="0"/>
          </a:p>
        </p:txBody>
      </p:sp>
      <p:sp>
        <p:nvSpPr>
          <p:cNvPr id="7" name="Text 5"/>
          <p:cNvSpPr txBox="1"/>
          <p:nvPr/>
        </p:nvSpPr>
        <p:spPr>
          <a:xfrm>
            <a:off x="1417320" y="1325880"/>
            <a:ext cx="2651760" cy="347472"/>
          </a:xfrm>
          <a:prstGeom prst="rect">
            <a:avLst/>
          </a:prstGeom>
          <a:noFill/>
          <a:ln/>
        </p:spPr>
        <p:txBody>
          <a:bodyPr wrap="square" lIns="0" tIns="0" rIns="0" bIns="0" rtlCol="0" anchor="ctr"/>
          <a:lstStyle/>
          <a:p>
            <a:pPr indent="0" marL="0">
              <a:buNone/>
            </a:pPr>
            <a:r>
              <a:rPr lang="en-US" sz="1350" b="1" dirty="0">
                <a:solidFill>
                  <a:srgbClr val="1F2328"/>
                </a:solidFill>
                <a:latin typeface="Calibri" pitchFamily="34" charset="0"/>
                <a:ea typeface="Calibri" pitchFamily="34" charset="-122"/>
                <a:cs typeface="Calibri" pitchFamily="34" charset="-120"/>
              </a:rPr>
              <a:t>Welcome &amp; lab check</a:t>
            </a:r>
            <a:endParaRPr lang="en-US" sz="1350" dirty="0"/>
          </a:p>
        </p:txBody>
      </p:sp>
      <p:sp>
        <p:nvSpPr>
          <p:cNvPr id="8" name="Text 6"/>
          <p:cNvSpPr txBox="1"/>
          <p:nvPr/>
        </p:nvSpPr>
        <p:spPr>
          <a:xfrm>
            <a:off x="3886200" y="1325880"/>
            <a:ext cx="548640" cy="347472"/>
          </a:xfrm>
          <a:prstGeom prst="rect">
            <a:avLst/>
          </a:prstGeom>
          <a:noFill/>
          <a:ln/>
        </p:spPr>
        <p:txBody>
          <a:bodyPr wrap="square" lIns="0" tIns="0" rIns="0" bIns="0" rtlCol="0" anchor="ctr"/>
          <a:lstStyle/>
          <a:p>
            <a:pPr algn="r" indent="0" marL="0">
              <a:buNone/>
            </a:pPr>
            <a:r>
              <a:rPr lang="en-US" sz="1100" dirty="0">
                <a:solidFill>
                  <a:srgbClr val="5B6470"/>
                </a:solidFill>
                <a:latin typeface="Calibri" pitchFamily="34" charset="0"/>
                <a:ea typeface="Calibri" pitchFamily="34" charset="-122"/>
                <a:cs typeface="Calibri" pitchFamily="34" charset="-120"/>
              </a:rPr>
              <a:t>5 min</a:t>
            </a:r>
            <a:endParaRPr lang="en-US" sz="1100" dirty="0"/>
          </a:p>
        </p:txBody>
      </p:sp>
      <p:sp>
        <p:nvSpPr>
          <p:cNvPr id="9" name="Shape 7"/>
          <p:cNvSpPr/>
          <p:nvPr/>
        </p:nvSpPr>
        <p:spPr>
          <a:xfrm>
            <a:off x="457200" y="1837944"/>
            <a:ext cx="274320" cy="274320"/>
          </a:xfrm>
          <a:prstGeom prst="ellipse">
            <a:avLst/>
          </a:prstGeom>
          <a:solidFill>
            <a:srgbClr val="D92D27"/>
          </a:solidFill>
          <a:ln w="12700">
            <a:solidFill>
              <a:srgbClr val="D92D27"/>
            </a:solidFill>
            <a:prstDash val="solid"/>
          </a:ln>
        </p:spPr>
      </p:sp>
      <p:sp>
        <p:nvSpPr>
          <p:cNvPr id="10" name="Text 8"/>
          <p:cNvSpPr txBox="1"/>
          <p:nvPr/>
        </p:nvSpPr>
        <p:spPr>
          <a:xfrm>
            <a:off x="841248" y="1801368"/>
            <a:ext cx="548640" cy="347472"/>
          </a:xfrm>
          <a:prstGeom prst="rect">
            <a:avLst/>
          </a:prstGeom>
          <a:noFill/>
          <a:ln/>
        </p:spPr>
        <p:txBody>
          <a:bodyPr wrap="square" lIns="0" tIns="0" rIns="0" bIns="0" rtlCol="0" anchor="ctr"/>
          <a:lstStyle/>
          <a:p>
            <a:pPr indent="0" marL="0">
              <a:buNone/>
            </a:pPr>
            <a:r>
              <a:rPr lang="en-US" sz="1200" dirty="0">
                <a:solidFill>
                  <a:srgbClr val="5B6470"/>
                </a:solidFill>
                <a:latin typeface="Courier New" pitchFamily="34" charset="0"/>
                <a:ea typeface="Courier New" pitchFamily="34" charset="-122"/>
                <a:cs typeface="Courier New" pitchFamily="34" charset="-120"/>
              </a:rPr>
              <a:t>0:05</a:t>
            </a:r>
            <a:endParaRPr lang="en-US" sz="1200" dirty="0"/>
          </a:p>
        </p:txBody>
      </p:sp>
      <p:sp>
        <p:nvSpPr>
          <p:cNvPr id="11" name="Text 9"/>
          <p:cNvSpPr txBox="1"/>
          <p:nvPr/>
        </p:nvSpPr>
        <p:spPr>
          <a:xfrm>
            <a:off x="1417320" y="1801368"/>
            <a:ext cx="2651760" cy="347472"/>
          </a:xfrm>
          <a:prstGeom prst="rect">
            <a:avLst/>
          </a:prstGeom>
          <a:noFill/>
          <a:ln/>
        </p:spPr>
        <p:txBody>
          <a:bodyPr wrap="square" lIns="0" tIns="0" rIns="0" bIns="0" rtlCol="0" anchor="ctr"/>
          <a:lstStyle/>
          <a:p>
            <a:pPr indent="0" marL="0">
              <a:buNone/>
            </a:pPr>
            <a:r>
              <a:rPr lang="en-US" sz="1350" b="1" dirty="0">
                <a:solidFill>
                  <a:srgbClr val="1F2328"/>
                </a:solidFill>
                <a:latin typeface="Calibri" pitchFamily="34" charset="0"/>
                <a:ea typeface="Calibri" pitchFamily="34" charset="-122"/>
                <a:cs typeface="Calibri" pitchFamily="34" charset="-120"/>
              </a:rPr>
              <a:t>What is Ansible?</a:t>
            </a:r>
            <a:endParaRPr lang="en-US" sz="1350" dirty="0"/>
          </a:p>
        </p:txBody>
      </p:sp>
      <p:sp>
        <p:nvSpPr>
          <p:cNvPr id="12" name="Text 10"/>
          <p:cNvSpPr txBox="1"/>
          <p:nvPr/>
        </p:nvSpPr>
        <p:spPr>
          <a:xfrm>
            <a:off x="3886200" y="1801368"/>
            <a:ext cx="548640" cy="347472"/>
          </a:xfrm>
          <a:prstGeom prst="rect">
            <a:avLst/>
          </a:prstGeom>
          <a:noFill/>
          <a:ln/>
        </p:spPr>
        <p:txBody>
          <a:bodyPr wrap="square" lIns="0" tIns="0" rIns="0" bIns="0" rtlCol="0" anchor="ctr"/>
          <a:lstStyle/>
          <a:p>
            <a:pPr algn="r" indent="0" marL="0">
              <a:buNone/>
            </a:pPr>
            <a:r>
              <a:rPr lang="en-US" sz="1100" dirty="0">
                <a:solidFill>
                  <a:srgbClr val="5B6470"/>
                </a:solidFill>
                <a:latin typeface="Calibri" pitchFamily="34" charset="0"/>
                <a:ea typeface="Calibri" pitchFamily="34" charset="-122"/>
                <a:cs typeface="Calibri" pitchFamily="34" charset="-120"/>
              </a:rPr>
              <a:t>12 min</a:t>
            </a:r>
            <a:endParaRPr lang="en-US" sz="1100" dirty="0"/>
          </a:p>
        </p:txBody>
      </p:sp>
      <p:sp>
        <p:nvSpPr>
          <p:cNvPr id="13" name="Shape 11"/>
          <p:cNvSpPr/>
          <p:nvPr/>
        </p:nvSpPr>
        <p:spPr>
          <a:xfrm>
            <a:off x="457200" y="2313432"/>
            <a:ext cx="274320" cy="274320"/>
          </a:xfrm>
          <a:prstGeom prst="ellipse">
            <a:avLst/>
          </a:prstGeom>
          <a:solidFill>
            <a:srgbClr val="D92D27"/>
          </a:solidFill>
          <a:ln w="12700">
            <a:solidFill>
              <a:srgbClr val="D92D27"/>
            </a:solidFill>
            <a:prstDash val="solid"/>
          </a:ln>
        </p:spPr>
      </p:sp>
      <p:sp>
        <p:nvSpPr>
          <p:cNvPr id="14" name="Text 12"/>
          <p:cNvSpPr txBox="1"/>
          <p:nvPr/>
        </p:nvSpPr>
        <p:spPr>
          <a:xfrm>
            <a:off x="841248" y="2276856"/>
            <a:ext cx="548640" cy="347472"/>
          </a:xfrm>
          <a:prstGeom prst="rect">
            <a:avLst/>
          </a:prstGeom>
          <a:noFill/>
          <a:ln/>
        </p:spPr>
        <p:txBody>
          <a:bodyPr wrap="square" lIns="0" tIns="0" rIns="0" bIns="0" rtlCol="0" anchor="ctr"/>
          <a:lstStyle/>
          <a:p>
            <a:pPr indent="0" marL="0">
              <a:buNone/>
            </a:pPr>
            <a:r>
              <a:rPr lang="en-US" sz="1200" dirty="0">
                <a:solidFill>
                  <a:srgbClr val="5B6470"/>
                </a:solidFill>
                <a:latin typeface="Courier New" pitchFamily="34" charset="0"/>
                <a:ea typeface="Courier New" pitchFamily="34" charset="-122"/>
                <a:cs typeface="Courier New" pitchFamily="34" charset="-120"/>
              </a:rPr>
              <a:t>0:17</a:t>
            </a:r>
            <a:endParaRPr lang="en-US" sz="1200" dirty="0"/>
          </a:p>
        </p:txBody>
      </p:sp>
      <p:sp>
        <p:nvSpPr>
          <p:cNvPr id="15" name="Text 13"/>
          <p:cNvSpPr txBox="1"/>
          <p:nvPr/>
        </p:nvSpPr>
        <p:spPr>
          <a:xfrm>
            <a:off x="1417320" y="2276856"/>
            <a:ext cx="2651760" cy="347472"/>
          </a:xfrm>
          <a:prstGeom prst="rect">
            <a:avLst/>
          </a:prstGeom>
          <a:noFill/>
          <a:ln/>
        </p:spPr>
        <p:txBody>
          <a:bodyPr wrap="square" lIns="0" tIns="0" rIns="0" bIns="0" rtlCol="0" anchor="ctr"/>
          <a:lstStyle/>
          <a:p>
            <a:pPr indent="0" marL="0">
              <a:buNone/>
            </a:pPr>
            <a:r>
              <a:rPr lang="en-US" sz="1350" b="1" dirty="0">
                <a:solidFill>
                  <a:srgbClr val="1F2328"/>
                </a:solidFill>
                <a:latin typeface="Calibri" pitchFamily="34" charset="0"/>
                <a:ea typeface="Calibri" pitchFamily="34" charset="-122"/>
                <a:cs typeface="Calibri" pitchFamily="34" charset="-120"/>
              </a:rPr>
              <a:t>Ansible vs Chef vs Puppet vs SaltStack</a:t>
            </a:r>
            <a:endParaRPr lang="en-US" sz="1350" dirty="0"/>
          </a:p>
        </p:txBody>
      </p:sp>
      <p:sp>
        <p:nvSpPr>
          <p:cNvPr id="16" name="Text 14"/>
          <p:cNvSpPr txBox="1"/>
          <p:nvPr/>
        </p:nvSpPr>
        <p:spPr>
          <a:xfrm>
            <a:off x="3886200" y="2276856"/>
            <a:ext cx="548640" cy="347472"/>
          </a:xfrm>
          <a:prstGeom prst="rect">
            <a:avLst/>
          </a:prstGeom>
          <a:noFill/>
          <a:ln/>
        </p:spPr>
        <p:txBody>
          <a:bodyPr wrap="square" lIns="0" tIns="0" rIns="0" bIns="0" rtlCol="0" anchor="ctr"/>
          <a:lstStyle/>
          <a:p>
            <a:pPr algn="r" indent="0" marL="0">
              <a:buNone/>
            </a:pPr>
            <a:r>
              <a:rPr lang="en-US" sz="1100" dirty="0">
                <a:solidFill>
                  <a:srgbClr val="5B6470"/>
                </a:solidFill>
                <a:latin typeface="Calibri" pitchFamily="34" charset="0"/>
                <a:ea typeface="Calibri" pitchFamily="34" charset="-122"/>
                <a:cs typeface="Calibri" pitchFamily="34" charset="-120"/>
              </a:rPr>
              <a:t>10 min</a:t>
            </a:r>
            <a:endParaRPr lang="en-US" sz="1100" dirty="0"/>
          </a:p>
        </p:txBody>
      </p:sp>
      <p:sp>
        <p:nvSpPr>
          <p:cNvPr id="17" name="Shape 15"/>
          <p:cNvSpPr/>
          <p:nvPr/>
        </p:nvSpPr>
        <p:spPr>
          <a:xfrm>
            <a:off x="457200" y="2788920"/>
            <a:ext cx="274320" cy="274320"/>
          </a:xfrm>
          <a:prstGeom prst="ellipse">
            <a:avLst/>
          </a:prstGeom>
          <a:solidFill>
            <a:srgbClr val="D92D27"/>
          </a:solidFill>
          <a:ln w="12700">
            <a:solidFill>
              <a:srgbClr val="D92D27"/>
            </a:solidFill>
            <a:prstDash val="solid"/>
          </a:ln>
        </p:spPr>
      </p:sp>
      <p:sp>
        <p:nvSpPr>
          <p:cNvPr id="18" name="Text 16"/>
          <p:cNvSpPr txBox="1"/>
          <p:nvPr/>
        </p:nvSpPr>
        <p:spPr>
          <a:xfrm>
            <a:off x="841248" y="2752344"/>
            <a:ext cx="548640" cy="347472"/>
          </a:xfrm>
          <a:prstGeom prst="rect">
            <a:avLst/>
          </a:prstGeom>
          <a:noFill/>
          <a:ln/>
        </p:spPr>
        <p:txBody>
          <a:bodyPr wrap="square" lIns="0" tIns="0" rIns="0" bIns="0" rtlCol="0" anchor="ctr"/>
          <a:lstStyle/>
          <a:p>
            <a:pPr indent="0" marL="0">
              <a:buNone/>
            </a:pPr>
            <a:r>
              <a:rPr lang="en-US" sz="1200" dirty="0">
                <a:solidFill>
                  <a:srgbClr val="5B6470"/>
                </a:solidFill>
                <a:latin typeface="Courier New" pitchFamily="34" charset="0"/>
                <a:ea typeface="Courier New" pitchFamily="34" charset="-122"/>
                <a:cs typeface="Courier New" pitchFamily="34" charset="-120"/>
              </a:rPr>
              <a:t>0:27</a:t>
            </a:r>
            <a:endParaRPr lang="en-US" sz="1200" dirty="0"/>
          </a:p>
        </p:txBody>
      </p:sp>
      <p:sp>
        <p:nvSpPr>
          <p:cNvPr id="19" name="Text 17"/>
          <p:cNvSpPr txBox="1"/>
          <p:nvPr/>
        </p:nvSpPr>
        <p:spPr>
          <a:xfrm>
            <a:off x="1417320" y="2752344"/>
            <a:ext cx="2651760" cy="347472"/>
          </a:xfrm>
          <a:prstGeom prst="rect">
            <a:avLst/>
          </a:prstGeom>
          <a:noFill/>
          <a:ln/>
        </p:spPr>
        <p:txBody>
          <a:bodyPr wrap="square" lIns="0" tIns="0" rIns="0" bIns="0" rtlCol="0" anchor="ctr"/>
          <a:lstStyle/>
          <a:p>
            <a:pPr indent="0" marL="0">
              <a:buNone/>
            </a:pPr>
            <a:r>
              <a:rPr lang="en-US" sz="1350" b="1" dirty="0">
                <a:solidFill>
                  <a:srgbClr val="1F2328"/>
                </a:solidFill>
                <a:latin typeface="Calibri" pitchFamily="34" charset="0"/>
                <a:ea typeface="Calibri" pitchFamily="34" charset="-122"/>
                <a:cs typeface="Calibri" pitchFamily="34" charset="-120"/>
              </a:rPr>
              <a:t>Why Ansible?</a:t>
            </a:r>
            <a:endParaRPr lang="en-US" sz="1350" dirty="0"/>
          </a:p>
        </p:txBody>
      </p:sp>
      <p:sp>
        <p:nvSpPr>
          <p:cNvPr id="20" name="Text 18"/>
          <p:cNvSpPr txBox="1"/>
          <p:nvPr/>
        </p:nvSpPr>
        <p:spPr>
          <a:xfrm>
            <a:off x="3886200" y="2752344"/>
            <a:ext cx="548640" cy="347472"/>
          </a:xfrm>
          <a:prstGeom prst="rect">
            <a:avLst/>
          </a:prstGeom>
          <a:noFill/>
          <a:ln/>
        </p:spPr>
        <p:txBody>
          <a:bodyPr wrap="square" lIns="0" tIns="0" rIns="0" bIns="0" rtlCol="0" anchor="ctr"/>
          <a:lstStyle/>
          <a:p>
            <a:pPr algn="r" indent="0" marL="0">
              <a:buNone/>
            </a:pPr>
            <a:r>
              <a:rPr lang="en-US" sz="1100" dirty="0">
                <a:solidFill>
                  <a:srgbClr val="5B6470"/>
                </a:solidFill>
                <a:latin typeface="Calibri" pitchFamily="34" charset="0"/>
                <a:ea typeface="Calibri" pitchFamily="34" charset="-122"/>
                <a:cs typeface="Calibri" pitchFamily="34" charset="-120"/>
              </a:rPr>
              <a:t>5 min</a:t>
            </a:r>
            <a:endParaRPr lang="en-US" sz="1100" dirty="0"/>
          </a:p>
        </p:txBody>
      </p:sp>
      <p:sp>
        <p:nvSpPr>
          <p:cNvPr id="21" name="Shape 19"/>
          <p:cNvSpPr/>
          <p:nvPr/>
        </p:nvSpPr>
        <p:spPr>
          <a:xfrm>
            <a:off x="457200" y="3264408"/>
            <a:ext cx="274320" cy="274320"/>
          </a:xfrm>
          <a:prstGeom prst="ellipse">
            <a:avLst/>
          </a:prstGeom>
          <a:solidFill>
            <a:srgbClr val="D92D27"/>
          </a:solidFill>
          <a:ln w="12700">
            <a:solidFill>
              <a:srgbClr val="D92D27"/>
            </a:solidFill>
            <a:prstDash val="solid"/>
          </a:ln>
        </p:spPr>
      </p:sp>
      <p:sp>
        <p:nvSpPr>
          <p:cNvPr id="22" name="Text 20"/>
          <p:cNvSpPr txBox="1"/>
          <p:nvPr/>
        </p:nvSpPr>
        <p:spPr>
          <a:xfrm>
            <a:off x="841248" y="3227832"/>
            <a:ext cx="548640" cy="347472"/>
          </a:xfrm>
          <a:prstGeom prst="rect">
            <a:avLst/>
          </a:prstGeom>
          <a:noFill/>
          <a:ln/>
        </p:spPr>
        <p:txBody>
          <a:bodyPr wrap="square" lIns="0" tIns="0" rIns="0" bIns="0" rtlCol="0" anchor="ctr"/>
          <a:lstStyle/>
          <a:p>
            <a:pPr indent="0" marL="0">
              <a:buNone/>
            </a:pPr>
            <a:r>
              <a:rPr lang="en-US" sz="1200" dirty="0">
                <a:solidFill>
                  <a:srgbClr val="5B6470"/>
                </a:solidFill>
                <a:latin typeface="Courier New" pitchFamily="34" charset="0"/>
                <a:ea typeface="Courier New" pitchFamily="34" charset="-122"/>
                <a:cs typeface="Courier New" pitchFamily="34" charset="-120"/>
              </a:rPr>
              <a:t>0:32</a:t>
            </a:r>
            <a:endParaRPr lang="en-US" sz="1200" dirty="0"/>
          </a:p>
        </p:txBody>
      </p:sp>
      <p:sp>
        <p:nvSpPr>
          <p:cNvPr id="23" name="Text 21"/>
          <p:cNvSpPr txBox="1"/>
          <p:nvPr/>
        </p:nvSpPr>
        <p:spPr>
          <a:xfrm>
            <a:off x="1417320" y="3227832"/>
            <a:ext cx="2651760" cy="347472"/>
          </a:xfrm>
          <a:prstGeom prst="rect">
            <a:avLst/>
          </a:prstGeom>
          <a:noFill/>
          <a:ln/>
        </p:spPr>
        <p:txBody>
          <a:bodyPr wrap="square" lIns="0" tIns="0" rIns="0" bIns="0" rtlCol="0" anchor="ctr"/>
          <a:lstStyle/>
          <a:p>
            <a:pPr indent="0" marL="0">
              <a:buNone/>
            </a:pPr>
            <a:r>
              <a:rPr lang="en-US" sz="1350" b="1" dirty="0">
                <a:solidFill>
                  <a:srgbClr val="1F2328"/>
                </a:solidFill>
                <a:latin typeface="Calibri" pitchFamily="34" charset="0"/>
                <a:ea typeface="Calibri" pitchFamily="34" charset="-122"/>
                <a:cs typeface="Calibri" pitchFamily="34" charset="-120"/>
              </a:rPr>
              <a:t>Architecture</a:t>
            </a:r>
            <a:endParaRPr lang="en-US" sz="1350" dirty="0"/>
          </a:p>
        </p:txBody>
      </p:sp>
      <p:sp>
        <p:nvSpPr>
          <p:cNvPr id="24" name="Text 22"/>
          <p:cNvSpPr txBox="1"/>
          <p:nvPr/>
        </p:nvSpPr>
        <p:spPr>
          <a:xfrm>
            <a:off x="3886200" y="3227832"/>
            <a:ext cx="548640" cy="347472"/>
          </a:xfrm>
          <a:prstGeom prst="rect">
            <a:avLst/>
          </a:prstGeom>
          <a:noFill/>
          <a:ln/>
        </p:spPr>
        <p:txBody>
          <a:bodyPr wrap="square" lIns="0" tIns="0" rIns="0" bIns="0" rtlCol="0" anchor="ctr"/>
          <a:lstStyle/>
          <a:p>
            <a:pPr algn="r" indent="0" marL="0">
              <a:buNone/>
            </a:pPr>
            <a:r>
              <a:rPr lang="en-US" sz="1100" dirty="0">
                <a:solidFill>
                  <a:srgbClr val="5B6470"/>
                </a:solidFill>
                <a:latin typeface="Calibri" pitchFamily="34" charset="0"/>
                <a:ea typeface="Calibri" pitchFamily="34" charset="-122"/>
                <a:cs typeface="Calibri" pitchFamily="34" charset="-120"/>
              </a:rPr>
              <a:t>12 min</a:t>
            </a:r>
            <a:endParaRPr lang="en-US" sz="1100" dirty="0"/>
          </a:p>
        </p:txBody>
      </p:sp>
      <p:sp>
        <p:nvSpPr>
          <p:cNvPr id="25" name="Shape 23"/>
          <p:cNvSpPr/>
          <p:nvPr/>
        </p:nvSpPr>
        <p:spPr>
          <a:xfrm>
            <a:off x="457200" y="3739896"/>
            <a:ext cx="274320" cy="274320"/>
          </a:xfrm>
          <a:prstGeom prst="ellipse">
            <a:avLst/>
          </a:prstGeom>
          <a:solidFill>
            <a:srgbClr val="D92D27"/>
          </a:solidFill>
          <a:ln w="12700">
            <a:solidFill>
              <a:srgbClr val="D92D27"/>
            </a:solidFill>
            <a:prstDash val="solid"/>
          </a:ln>
        </p:spPr>
      </p:sp>
      <p:sp>
        <p:nvSpPr>
          <p:cNvPr id="26" name="Text 24"/>
          <p:cNvSpPr txBox="1"/>
          <p:nvPr/>
        </p:nvSpPr>
        <p:spPr>
          <a:xfrm>
            <a:off x="841248" y="3703320"/>
            <a:ext cx="548640" cy="347472"/>
          </a:xfrm>
          <a:prstGeom prst="rect">
            <a:avLst/>
          </a:prstGeom>
          <a:noFill/>
          <a:ln/>
        </p:spPr>
        <p:txBody>
          <a:bodyPr wrap="square" lIns="0" tIns="0" rIns="0" bIns="0" rtlCol="0" anchor="ctr"/>
          <a:lstStyle/>
          <a:p>
            <a:pPr indent="0" marL="0">
              <a:buNone/>
            </a:pPr>
            <a:r>
              <a:rPr lang="en-US" sz="1200" dirty="0">
                <a:solidFill>
                  <a:srgbClr val="5B6470"/>
                </a:solidFill>
                <a:latin typeface="Courier New" pitchFamily="34" charset="0"/>
                <a:ea typeface="Courier New" pitchFamily="34" charset="-122"/>
                <a:cs typeface="Courier New" pitchFamily="34" charset="-120"/>
              </a:rPr>
              <a:t>0:44</a:t>
            </a:r>
            <a:endParaRPr lang="en-US" sz="1200" dirty="0"/>
          </a:p>
        </p:txBody>
      </p:sp>
      <p:sp>
        <p:nvSpPr>
          <p:cNvPr id="27" name="Text 25"/>
          <p:cNvSpPr txBox="1"/>
          <p:nvPr/>
        </p:nvSpPr>
        <p:spPr>
          <a:xfrm>
            <a:off x="1417320" y="3703320"/>
            <a:ext cx="2651760" cy="347472"/>
          </a:xfrm>
          <a:prstGeom prst="rect">
            <a:avLst/>
          </a:prstGeom>
          <a:noFill/>
          <a:ln/>
        </p:spPr>
        <p:txBody>
          <a:bodyPr wrap="square" lIns="0" tIns="0" rIns="0" bIns="0" rtlCol="0" anchor="ctr"/>
          <a:lstStyle/>
          <a:p>
            <a:pPr indent="0" marL="0">
              <a:buNone/>
            </a:pPr>
            <a:r>
              <a:rPr lang="en-US" sz="1350" b="1" dirty="0">
                <a:solidFill>
                  <a:srgbClr val="1F2328"/>
                </a:solidFill>
                <a:latin typeface="Calibri" pitchFamily="34" charset="0"/>
                <a:ea typeface="Calibri" pitchFamily="34" charset="-122"/>
                <a:cs typeface="Calibri" pitchFamily="34" charset="-120"/>
              </a:rPr>
              <a:t>Terminologies</a:t>
            </a:r>
            <a:endParaRPr lang="en-US" sz="1350" dirty="0"/>
          </a:p>
        </p:txBody>
      </p:sp>
      <p:sp>
        <p:nvSpPr>
          <p:cNvPr id="28" name="Text 26"/>
          <p:cNvSpPr txBox="1"/>
          <p:nvPr/>
        </p:nvSpPr>
        <p:spPr>
          <a:xfrm>
            <a:off x="3886200" y="3703320"/>
            <a:ext cx="548640" cy="347472"/>
          </a:xfrm>
          <a:prstGeom prst="rect">
            <a:avLst/>
          </a:prstGeom>
          <a:noFill/>
          <a:ln/>
        </p:spPr>
        <p:txBody>
          <a:bodyPr wrap="square" lIns="0" tIns="0" rIns="0" bIns="0" rtlCol="0" anchor="ctr"/>
          <a:lstStyle/>
          <a:p>
            <a:pPr algn="r" indent="0" marL="0">
              <a:buNone/>
            </a:pPr>
            <a:r>
              <a:rPr lang="en-US" sz="1100" dirty="0">
                <a:solidFill>
                  <a:srgbClr val="5B6470"/>
                </a:solidFill>
                <a:latin typeface="Calibri" pitchFamily="34" charset="0"/>
                <a:ea typeface="Calibri" pitchFamily="34" charset="-122"/>
                <a:cs typeface="Calibri" pitchFamily="34" charset="-120"/>
              </a:rPr>
              <a:t>10 min</a:t>
            </a:r>
            <a:endParaRPr lang="en-US" sz="1100" dirty="0"/>
          </a:p>
        </p:txBody>
      </p:sp>
      <p:sp>
        <p:nvSpPr>
          <p:cNvPr id="29" name="Shape 27"/>
          <p:cNvSpPr/>
          <p:nvPr/>
        </p:nvSpPr>
        <p:spPr>
          <a:xfrm>
            <a:off x="457200" y="4215384"/>
            <a:ext cx="274320" cy="274320"/>
          </a:xfrm>
          <a:prstGeom prst="ellipse">
            <a:avLst/>
          </a:prstGeom>
          <a:solidFill>
            <a:srgbClr val="9AA1AA"/>
          </a:solidFill>
          <a:ln w="12700">
            <a:solidFill>
              <a:srgbClr val="9AA1AA"/>
            </a:solidFill>
            <a:prstDash val="solid"/>
          </a:ln>
        </p:spPr>
      </p:sp>
      <p:sp>
        <p:nvSpPr>
          <p:cNvPr id="30" name="Text 28"/>
          <p:cNvSpPr txBox="1"/>
          <p:nvPr/>
        </p:nvSpPr>
        <p:spPr>
          <a:xfrm>
            <a:off x="841248" y="4178808"/>
            <a:ext cx="548640" cy="347472"/>
          </a:xfrm>
          <a:prstGeom prst="rect">
            <a:avLst/>
          </a:prstGeom>
          <a:noFill/>
          <a:ln/>
        </p:spPr>
        <p:txBody>
          <a:bodyPr wrap="square" lIns="0" tIns="0" rIns="0" bIns="0" rtlCol="0" anchor="ctr"/>
          <a:lstStyle/>
          <a:p>
            <a:pPr indent="0" marL="0">
              <a:buNone/>
            </a:pPr>
            <a:r>
              <a:rPr lang="en-US" sz="1200" dirty="0">
                <a:solidFill>
                  <a:srgbClr val="5B6470"/>
                </a:solidFill>
                <a:latin typeface="Courier New" pitchFamily="34" charset="0"/>
                <a:ea typeface="Courier New" pitchFamily="34" charset="-122"/>
                <a:cs typeface="Courier New" pitchFamily="34" charset="-120"/>
              </a:rPr>
              <a:t>0:54</a:t>
            </a:r>
            <a:endParaRPr lang="en-US" sz="1200" dirty="0"/>
          </a:p>
        </p:txBody>
      </p:sp>
      <p:sp>
        <p:nvSpPr>
          <p:cNvPr id="31" name="Text 29"/>
          <p:cNvSpPr txBox="1"/>
          <p:nvPr/>
        </p:nvSpPr>
        <p:spPr>
          <a:xfrm>
            <a:off x="1417320" y="4178808"/>
            <a:ext cx="2651760" cy="347472"/>
          </a:xfrm>
          <a:prstGeom prst="rect">
            <a:avLst/>
          </a:prstGeom>
          <a:noFill/>
          <a:ln/>
        </p:spPr>
        <p:txBody>
          <a:bodyPr wrap="square" lIns="0" tIns="0" rIns="0" bIns="0" rtlCol="0" anchor="ctr"/>
          <a:lstStyle/>
          <a:p>
            <a:pPr indent="0" marL="0">
              <a:buNone/>
            </a:pPr>
            <a:r>
              <a:rPr lang="en-US" sz="1350" i="1" dirty="0">
                <a:solidFill>
                  <a:srgbClr val="5B6470"/>
                </a:solidFill>
                <a:latin typeface="Calibri" pitchFamily="34" charset="0"/>
                <a:ea typeface="Calibri" pitchFamily="34" charset="-122"/>
                <a:cs typeface="Calibri" pitchFamily="34" charset="-120"/>
              </a:rPr>
              <a:t>Break</a:t>
            </a:r>
            <a:endParaRPr lang="en-US" sz="1350" dirty="0"/>
          </a:p>
        </p:txBody>
      </p:sp>
      <p:sp>
        <p:nvSpPr>
          <p:cNvPr id="32" name="Text 30"/>
          <p:cNvSpPr txBox="1"/>
          <p:nvPr/>
        </p:nvSpPr>
        <p:spPr>
          <a:xfrm>
            <a:off x="3886200" y="4178808"/>
            <a:ext cx="548640" cy="347472"/>
          </a:xfrm>
          <a:prstGeom prst="rect">
            <a:avLst/>
          </a:prstGeom>
          <a:noFill/>
          <a:ln/>
        </p:spPr>
        <p:txBody>
          <a:bodyPr wrap="square" lIns="0" tIns="0" rIns="0" bIns="0" rtlCol="0" anchor="ctr"/>
          <a:lstStyle/>
          <a:p>
            <a:pPr algn="r" indent="0" marL="0">
              <a:buNone/>
            </a:pPr>
            <a:r>
              <a:rPr lang="en-US" sz="1100" dirty="0">
                <a:solidFill>
                  <a:srgbClr val="5B6470"/>
                </a:solidFill>
                <a:latin typeface="Calibri" pitchFamily="34" charset="0"/>
                <a:ea typeface="Calibri" pitchFamily="34" charset="-122"/>
                <a:cs typeface="Calibri" pitchFamily="34" charset="-120"/>
              </a:rPr>
              <a:t>5 min</a:t>
            </a:r>
            <a:endParaRPr lang="en-US" sz="1100" dirty="0"/>
          </a:p>
        </p:txBody>
      </p:sp>
      <p:sp>
        <p:nvSpPr>
          <p:cNvPr id="33" name="Shape 31"/>
          <p:cNvSpPr/>
          <p:nvPr/>
        </p:nvSpPr>
        <p:spPr>
          <a:xfrm>
            <a:off x="4754880" y="1362456"/>
            <a:ext cx="274320" cy="274320"/>
          </a:xfrm>
          <a:prstGeom prst="ellipse">
            <a:avLst/>
          </a:prstGeom>
          <a:solidFill>
            <a:srgbClr val="D92D27"/>
          </a:solidFill>
          <a:ln w="12700">
            <a:solidFill>
              <a:srgbClr val="D92D27"/>
            </a:solidFill>
            <a:prstDash val="solid"/>
          </a:ln>
        </p:spPr>
      </p:sp>
      <p:sp>
        <p:nvSpPr>
          <p:cNvPr id="34" name="Text 32"/>
          <p:cNvSpPr txBox="1"/>
          <p:nvPr/>
        </p:nvSpPr>
        <p:spPr>
          <a:xfrm>
            <a:off x="5138928" y="1325880"/>
            <a:ext cx="548640" cy="347472"/>
          </a:xfrm>
          <a:prstGeom prst="rect">
            <a:avLst/>
          </a:prstGeom>
          <a:noFill/>
          <a:ln/>
        </p:spPr>
        <p:txBody>
          <a:bodyPr wrap="square" lIns="0" tIns="0" rIns="0" bIns="0" rtlCol="0" anchor="ctr"/>
          <a:lstStyle/>
          <a:p>
            <a:pPr indent="0" marL="0">
              <a:buNone/>
            </a:pPr>
            <a:r>
              <a:rPr lang="en-US" sz="1200" dirty="0">
                <a:solidFill>
                  <a:srgbClr val="5B6470"/>
                </a:solidFill>
                <a:latin typeface="Courier New" pitchFamily="34" charset="0"/>
                <a:ea typeface="Courier New" pitchFamily="34" charset="-122"/>
                <a:cs typeface="Courier New" pitchFamily="34" charset="-120"/>
              </a:rPr>
              <a:t>0:59</a:t>
            </a:r>
            <a:endParaRPr lang="en-US" sz="1200" dirty="0"/>
          </a:p>
        </p:txBody>
      </p:sp>
      <p:sp>
        <p:nvSpPr>
          <p:cNvPr id="35" name="Text 33"/>
          <p:cNvSpPr txBox="1"/>
          <p:nvPr/>
        </p:nvSpPr>
        <p:spPr>
          <a:xfrm>
            <a:off x="5715000" y="1325880"/>
            <a:ext cx="2651760" cy="347472"/>
          </a:xfrm>
          <a:prstGeom prst="rect">
            <a:avLst/>
          </a:prstGeom>
          <a:noFill/>
          <a:ln/>
        </p:spPr>
        <p:txBody>
          <a:bodyPr wrap="square" lIns="0" tIns="0" rIns="0" bIns="0" rtlCol="0" anchor="ctr"/>
          <a:lstStyle/>
          <a:p>
            <a:pPr indent="0" marL="0">
              <a:buNone/>
            </a:pPr>
            <a:r>
              <a:rPr lang="en-US" sz="1350" b="1" dirty="0">
                <a:solidFill>
                  <a:srgbClr val="1F2328"/>
                </a:solidFill>
                <a:latin typeface="Calibri" pitchFamily="34" charset="0"/>
                <a:ea typeface="Calibri" pitchFamily="34" charset="-122"/>
                <a:cs typeface="Calibri" pitchFamily="34" charset="-120"/>
              </a:rPr>
              <a:t>Playbook structure  + demo</a:t>
            </a:r>
            <a:endParaRPr lang="en-US" sz="1350" dirty="0"/>
          </a:p>
        </p:txBody>
      </p:sp>
      <p:sp>
        <p:nvSpPr>
          <p:cNvPr id="36" name="Text 34"/>
          <p:cNvSpPr txBox="1"/>
          <p:nvPr/>
        </p:nvSpPr>
        <p:spPr>
          <a:xfrm>
            <a:off x="8183880" y="1325880"/>
            <a:ext cx="548640" cy="347472"/>
          </a:xfrm>
          <a:prstGeom prst="rect">
            <a:avLst/>
          </a:prstGeom>
          <a:noFill/>
          <a:ln/>
        </p:spPr>
        <p:txBody>
          <a:bodyPr wrap="square" lIns="0" tIns="0" rIns="0" bIns="0" rtlCol="0" anchor="ctr"/>
          <a:lstStyle/>
          <a:p>
            <a:pPr algn="r" indent="0" marL="0">
              <a:buNone/>
            </a:pPr>
            <a:r>
              <a:rPr lang="en-US" sz="1100" dirty="0">
                <a:solidFill>
                  <a:srgbClr val="5B6470"/>
                </a:solidFill>
                <a:latin typeface="Calibri" pitchFamily="34" charset="0"/>
                <a:ea typeface="Calibri" pitchFamily="34" charset="-122"/>
                <a:cs typeface="Calibri" pitchFamily="34" charset="-120"/>
              </a:rPr>
              <a:t>20 min</a:t>
            </a:r>
            <a:endParaRPr lang="en-US" sz="1100" dirty="0"/>
          </a:p>
        </p:txBody>
      </p:sp>
      <p:sp>
        <p:nvSpPr>
          <p:cNvPr id="37" name="Shape 35"/>
          <p:cNvSpPr/>
          <p:nvPr/>
        </p:nvSpPr>
        <p:spPr>
          <a:xfrm>
            <a:off x="4754880" y="1837944"/>
            <a:ext cx="274320" cy="274320"/>
          </a:xfrm>
          <a:prstGeom prst="ellipse">
            <a:avLst/>
          </a:prstGeom>
          <a:solidFill>
            <a:srgbClr val="D92D27"/>
          </a:solidFill>
          <a:ln w="12700">
            <a:solidFill>
              <a:srgbClr val="D92D27"/>
            </a:solidFill>
            <a:prstDash val="solid"/>
          </a:ln>
        </p:spPr>
      </p:sp>
      <p:sp>
        <p:nvSpPr>
          <p:cNvPr id="38" name="Text 36"/>
          <p:cNvSpPr txBox="1"/>
          <p:nvPr/>
        </p:nvSpPr>
        <p:spPr>
          <a:xfrm>
            <a:off x="5138928" y="1801368"/>
            <a:ext cx="548640" cy="347472"/>
          </a:xfrm>
          <a:prstGeom prst="rect">
            <a:avLst/>
          </a:prstGeom>
          <a:noFill/>
          <a:ln/>
        </p:spPr>
        <p:txBody>
          <a:bodyPr wrap="square" lIns="0" tIns="0" rIns="0" bIns="0" rtlCol="0" anchor="ctr"/>
          <a:lstStyle/>
          <a:p>
            <a:pPr indent="0" marL="0">
              <a:buNone/>
            </a:pPr>
            <a:r>
              <a:rPr lang="en-US" sz="1200" dirty="0">
                <a:solidFill>
                  <a:srgbClr val="5B6470"/>
                </a:solidFill>
                <a:latin typeface="Courier New" pitchFamily="34" charset="0"/>
                <a:ea typeface="Courier New" pitchFamily="34" charset="-122"/>
                <a:cs typeface="Courier New" pitchFamily="34" charset="-120"/>
              </a:rPr>
              <a:t>1:19</a:t>
            </a:r>
            <a:endParaRPr lang="en-US" sz="1200" dirty="0"/>
          </a:p>
        </p:txBody>
      </p:sp>
      <p:sp>
        <p:nvSpPr>
          <p:cNvPr id="39" name="Text 37"/>
          <p:cNvSpPr txBox="1"/>
          <p:nvPr/>
        </p:nvSpPr>
        <p:spPr>
          <a:xfrm>
            <a:off x="5715000" y="1801368"/>
            <a:ext cx="2651760" cy="347472"/>
          </a:xfrm>
          <a:prstGeom prst="rect">
            <a:avLst/>
          </a:prstGeom>
          <a:noFill/>
          <a:ln/>
        </p:spPr>
        <p:txBody>
          <a:bodyPr wrap="square" lIns="0" tIns="0" rIns="0" bIns="0" rtlCol="0" anchor="ctr"/>
          <a:lstStyle/>
          <a:p>
            <a:pPr indent="0" marL="0">
              <a:buNone/>
            </a:pPr>
            <a:r>
              <a:rPr lang="en-US" sz="1350" b="1" dirty="0">
                <a:solidFill>
                  <a:srgbClr val="1F2328"/>
                </a:solidFill>
                <a:latin typeface="Calibri" pitchFamily="34" charset="0"/>
                <a:ea typeface="Calibri" pitchFamily="34" charset="-122"/>
                <a:cs typeface="Calibri" pitchFamily="34" charset="-120"/>
              </a:rPr>
              <a:t>Authentication mechanism  + demo</a:t>
            </a:r>
            <a:endParaRPr lang="en-US" sz="1350" dirty="0"/>
          </a:p>
        </p:txBody>
      </p:sp>
      <p:sp>
        <p:nvSpPr>
          <p:cNvPr id="40" name="Text 38"/>
          <p:cNvSpPr txBox="1"/>
          <p:nvPr/>
        </p:nvSpPr>
        <p:spPr>
          <a:xfrm>
            <a:off x="8183880" y="1801368"/>
            <a:ext cx="548640" cy="347472"/>
          </a:xfrm>
          <a:prstGeom prst="rect">
            <a:avLst/>
          </a:prstGeom>
          <a:noFill/>
          <a:ln/>
        </p:spPr>
        <p:txBody>
          <a:bodyPr wrap="square" lIns="0" tIns="0" rIns="0" bIns="0" rtlCol="0" anchor="ctr"/>
          <a:lstStyle/>
          <a:p>
            <a:pPr algn="r" indent="0" marL="0">
              <a:buNone/>
            </a:pPr>
            <a:r>
              <a:rPr lang="en-US" sz="1100" dirty="0">
                <a:solidFill>
                  <a:srgbClr val="5B6470"/>
                </a:solidFill>
                <a:latin typeface="Calibri" pitchFamily="34" charset="0"/>
                <a:ea typeface="Calibri" pitchFamily="34" charset="-122"/>
                <a:cs typeface="Calibri" pitchFamily="34" charset="-120"/>
              </a:rPr>
              <a:t>10 min</a:t>
            </a:r>
            <a:endParaRPr lang="en-US" sz="1100" dirty="0"/>
          </a:p>
        </p:txBody>
      </p:sp>
      <p:sp>
        <p:nvSpPr>
          <p:cNvPr id="41" name="Shape 39"/>
          <p:cNvSpPr/>
          <p:nvPr/>
        </p:nvSpPr>
        <p:spPr>
          <a:xfrm>
            <a:off x="4754880" y="2313432"/>
            <a:ext cx="274320" cy="274320"/>
          </a:xfrm>
          <a:prstGeom prst="ellipse">
            <a:avLst/>
          </a:prstGeom>
          <a:solidFill>
            <a:srgbClr val="D92D27"/>
          </a:solidFill>
          <a:ln w="12700">
            <a:solidFill>
              <a:srgbClr val="D92D27"/>
            </a:solidFill>
            <a:prstDash val="solid"/>
          </a:ln>
        </p:spPr>
      </p:sp>
      <p:sp>
        <p:nvSpPr>
          <p:cNvPr id="42" name="Text 40"/>
          <p:cNvSpPr txBox="1"/>
          <p:nvPr/>
        </p:nvSpPr>
        <p:spPr>
          <a:xfrm>
            <a:off x="5138928" y="2276856"/>
            <a:ext cx="548640" cy="347472"/>
          </a:xfrm>
          <a:prstGeom prst="rect">
            <a:avLst/>
          </a:prstGeom>
          <a:noFill/>
          <a:ln/>
        </p:spPr>
        <p:txBody>
          <a:bodyPr wrap="square" lIns="0" tIns="0" rIns="0" bIns="0" rtlCol="0" anchor="ctr"/>
          <a:lstStyle/>
          <a:p>
            <a:pPr indent="0" marL="0">
              <a:buNone/>
            </a:pPr>
            <a:r>
              <a:rPr lang="en-US" sz="1200" dirty="0">
                <a:solidFill>
                  <a:srgbClr val="5B6470"/>
                </a:solidFill>
                <a:latin typeface="Courier New" pitchFamily="34" charset="0"/>
                <a:ea typeface="Courier New" pitchFamily="34" charset="-122"/>
                <a:cs typeface="Courier New" pitchFamily="34" charset="-120"/>
              </a:rPr>
              <a:t>1:29</a:t>
            </a:r>
            <a:endParaRPr lang="en-US" sz="1200" dirty="0"/>
          </a:p>
        </p:txBody>
      </p:sp>
      <p:sp>
        <p:nvSpPr>
          <p:cNvPr id="43" name="Text 41"/>
          <p:cNvSpPr txBox="1"/>
          <p:nvPr/>
        </p:nvSpPr>
        <p:spPr>
          <a:xfrm>
            <a:off x="5715000" y="2276856"/>
            <a:ext cx="2651760" cy="347472"/>
          </a:xfrm>
          <a:prstGeom prst="rect">
            <a:avLst/>
          </a:prstGeom>
          <a:noFill/>
          <a:ln/>
        </p:spPr>
        <p:txBody>
          <a:bodyPr wrap="square" lIns="0" tIns="0" rIns="0" bIns="0" rtlCol="0" anchor="ctr"/>
          <a:lstStyle/>
          <a:p>
            <a:pPr indent="0" marL="0">
              <a:buNone/>
            </a:pPr>
            <a:r>
              <a:rPr lang="en-US" sz="1350" b="1" dirty="0">
                <a:solidFill>
                  <a:srgbClr val="1F2328"/>
                </a:solidFill>
                <a:latin typeface="Calibri" pitchFamily="34" charset="0"/>
                <a:ea typeface="Calibri" pitchFamily="34" charset="-122"/>
                <a:cs typeface="Calibri" pitchFamily="34" charset="-120"/>
              </a:rPr>
              <a:t>Executing Ansible modules (ad-hoc)</a:t>
            </a:r>
            <a:endParaRPr lang="en-US" sz="1350" dirty="0"/>
          </a:p>
        </p:txBody>
      </p:sp>
      <p:sp>
        <p:nvSpPr>
          <p:cNvPr id="44" name="Text 42"/>
          <p:cNvSpPr txBox="1"/>
          <p:nvPr/>
        </p:nvSpPr>
        <p:spPr>
          <a:xfrm>
            <a:off x="8183880" y="2276856"/>
            <a:ext cx="548640" cy="347472"/>
          </a:xfrm>
          <a:prstGeom prst="rect">
            <a:avLst/>
          </a:prstGeom>
          <a:noFill/>
          <a:ln/>
        </p:spPr>
        <p:txBody>
          <a:bodyPr wrap="square" lIns="0" tIns="0" rIns="0" bIns="0" rtlCol="0" anchor="ctr"/>
          <a:lstStyle/>
          <a:p>
            <a:pPr algn="r" indent="0" marL="0">
              <a:buNone/>
            </a:pPr>
            <a:r>
              <a:rPr lang="en-US" sz="1100" dirty="0">
                <a:solidFill>
                  <a:srgbClr val="5B6470"/>
                </a:solidFill>
                <a:latin typeface="Calibri" pitchFamily="34" charset="0"/>
                <a:ea typeface="Calibri" pitchFamily="34" charset="-122"/>
                <a:cs typeface="Calibri" pitchFamily="34" charset="-120"/>
              </a:rPr>
              <a:t>10 min</a:t>
            </a:r>
            <a:endParaRPr lang="en-US" sz="1100" dirty="0"/>
          </a:p>
        </p:txBody>
      </p:sp>
      <p:sp>
        <p:nvSpPr>
          <p:cNvPr id="45" name="Shape 43"/>
          <p:cNvSpPr/>
          <p:nvPr/>
        </p:nvSpPr>
        <p:spPr>
          <a:xfrm>
            <a:off x="4754880" y="2788920"/>
            <a:ext cx="274320" cy="274320"/>
          </a:xfrm>
          <a:prstGeom prst="ellipse">
            <a:avLst/>
          </a:prstGeom>
          <a:solidFill>
            <a:srgbClr val="D92D27"/>
          </a:solidFill>
          <a:ln w="12700">
            <a:solidFill>
              <a:srgbClr val="D92D27"/>
            </a:solidFill>
            <a:prstDash val="solid"/>
          </a:ln>
        </p:spPr>
      </p:sp>
      <p:sp>
        <p:nvSpPr>
          <p:cNvPr id="46" name="Text 44"/>
          <p:cNvSpPr txBox="1"/>
          <p:nvPr/>
        </p:nvSpPr>
        <p:spPr>
          <a:xfrm>
            <a:off x="5138928" y="2752344"/>
            <a:ext cx="548640" cy="347472"/>
          </a:xfrm>
          <a:prstGeom prst="rect">
            <a:avLst/>
          </a:prstGeom>
          <a:noFill/>
          <a:ln/>
        </p:spPr>
        <p:txBody>
          <a:bodyPr wrap="square" lIns="0" tIns="0" rIns="0" bIns="0" rtlCol="0" anchor="ctr"/>
          <a:lstStyle/>
          <a:p>
            <a:pPr indent="0" marL="0">
              <a:buNone/>
            </a:pPr>
            <a:r>
              <a:rPr lang="en-US" sz="1200" dirty="0">
                <a:solidFill>
                  <a:srgbClr val="5B6470"/>
                </a:solidFill>
                <a:latin typeface="Courier New" pitchFamily="34" charset="0"/>
                <a:ea typeface="Courier New" pitchFamily="34" charset="-122"/>
                <a:cs typeface="Courier New" pitchFamily="34" charset="-120"/>
              </a:rPr>
              <a:t>1:39</a:t>
            </a:r>
            <a:endParaRPr lang="en-US" sz="1200" dirty="0"/>
          </a:p>
        </p:txBody>
      </p:sp>
      <p:sp>
        <p:nvSpPr>
          <p:cNvPr id="47" name="Text 45"/>
          <p:cNvSpPr txBox="1"/>
          <p:nvPr/>
        </p:nvSpPr>
        <p:spPr>
          <a:xfrm>
            <a:off x="5715000" y="2752344"/>
            <a:ext cx="2651760" cy="347472"/>
          </a:xfrm>
          <a:prstGeom prst="rect">
            <a:avLst/>
          </a:prstGeom>
          <a:noFill/>
          <a:ln/>
        </p:spPr>
        <p:txBody>
          <a:bodyPr wrap="square" lIns="0" tIns="0" rIns="0" bIns="0" rtlCol="0" anchor="ctr"/>
          <a:lstStyle/>
          <a:p>
            <a:pPr indent="0" marL="0">
              <a:buNone/>
            </a:pPr>
            <a:r>
              <a:rPr lang="en-US" sz="1350" b="1" dirty="0">
                <a:solidFill>
                  <a:srgbClr val="1F2328"/>
                </a:solidFill>
                <a:latin typeface="Calibri" pitchFamily="34" charset="0"/>
                <a:ea typeface="Calibri" pitchFamily="34" charset="-122"/>
                <a:cs typeface="Calibri" pitchFamily="34" charset="-120"/>
              </a:rPr>
              <a:t>Modules</a:t>
            </a:r>
            <a:endParaRPr lang="en-US" sz="1350" dirty="0"/>
          </a:p>
        </p:txBody>
      </p:sp>
      <p:sp>
        <p:nvSpPr>
          <p:cNvPr id="48" name="Text 46"/>
          <p:cNvSpPr txBox="1"/>
          <p:nvPr/>
        </p:nvSpPr>
        <p:spPr>
          <a:xfrm>
            <a:off x="8183880" y="2752344"/>
            <a:ext cx="548640" cy="347472"/>
          </a:xfrm>
          <a:prstGeom prst="rect">
            <a:avLst/>
          </a:prstGeom>
          <a:noFill/>
          <a:ln/>
        </p:spPr>
        <p:txBody>
          <a:bodyPr wrap="square" lIns="0" tIns="0" rIns="0" bIns="0" rtlCol="0" anchor="ctr"/>
          <a:lstStyle/>
          <a:p>
            <a:pPr algn="r" indent="0" marL="0">
              <a:buNone/>
            </a:pPr>
            <a:r>
              <a:rPr lang="en-US" sz="1100" dirty="0">
                <a:solidFill>
                  <a:srgbClr val="5B6470"/>
                </a:solidFill>
                <a:latin typeface="Calibri" pitchFamily="34" charset="0"/>
                <a:ea typeface="Calibri" pitchFamily="34" charset="-122"/>
                <a:cs typeface="Calibri" pitchFamily="34" charset="-120"/>
              </a:rPr>
              <a:t>8 min</a:t>
            </a:r>
            <a:endParaRPr lang="en-US" sz="1100" dirty="0"/>
          </a:p>
        </p:txBody>
      </p:sp>
      <p:sp>
        <p:nvSpPr>
          <p:cNvPr id="49" name="Shape 47"/>
          <p:cNvSpPr/>
          <p:nvPr/>
        </p:nvSpPr>
        <p:spPr>
          <a:xfrm>
            <a:off x="4754880" y="3264408"/>
            <a:ext cx="274320" cy="274320"/>
          </a:xfrm>
          <a:prstGeom prst="ellipse">
            <a:avLst/>
          </a:prstGeom>
          <a:solidFill>
            <a:srgbClr val="D92D27"/>
          </a:solidFill>
          <a:ln w="12700">
            <a:solidFill>
              <a:srgbClr val="D92D27"/>
            </a:solidFill>
            <a:prstDash val="solid"/>
          </a:ln>
        </p:spPr>
      </p:sp>
      <p:sp>
        <p:nvSpPr>
          <p:cNvPr id="50" name="Text 48"/>
          <p:cNvSpPr txBox="1"/>
          <p:nvPr/>
        </p:nvSpPr>
        <p:spPr>
          <a:xfrm>
            <a:off x="5138928" y="3227832"/>
            <a:ext cx="548640" cy="347472"/>
          </a:xfrm>
          <a:prstGeom prst="rect">
            <a:avLst/>
          </a:prstGeom>
          <a:noFill/>
          <a:ln/>
        </p:spPr>
        <p:txBody>
          <a:bodyPr wrap="square" lIns="0" tIns="0" rIns="0" bIns="0" rtlCol="0" anchor="ctr"/>
          <a:lstStyle/>
          <a:p>
            <a:pPr indent="0" marL="0">
              <a:buNone/>
            </a:pPr>
            <a:r>
              <a:rPr lang="en-US" sz="1200" dirty="0">
                <a:solidFill>
                  <a:srgbClr val="5B6470"/>
                </a:solidFill>
                <a:latin typeface="Courier New" pitchFamily="34" charset="0"/>
                <a:ea typeface="Courier New" pitchFamily="34" charset="-122"/>
                <a:cs typeface="Courier New" pitchFamily="34" charset="-120"/>
              </a:rPr>
              <a:t>1:47</a:t>
            </a:r>
            <a:endParaRPr lang="en-US" sz="1200" dirty="0"/>
          </a:p>
        </p:txBody>
      </p:sp>
      <p:sp>
        <p:nvSpPr>
          <p:cNvPr id="51" name="Text 49"/>
          <p:cNvSpPr txBox="1"/>
          <p:nvPr/>
        </p:nvSpPr>
        <p:spPr>
          <a:xfrm>
            <a:off x="5715000" y="3227832"/>
            <a:ext cx="2651760" cy="347472"/>
          </a:xfrm>
          <a:prstGeom prst="rect">
            <a:avLst/>
          </a:prstGeom>
          <a:noFill/>
          <a:ln/>
        </p:spPr>
        <p:txBody>
          <a:bodyPr wrap="square" lIns="0" tIns="0" rIns="0" bIns="0" rtlCol="0" anchor="ctr"/>
          <a:lstStyle/>
          <a:p>
            <a:pPr indent="0" marL="0">
              <a:buNone/>
            </a:pPr>
            <a:r>
              <a:rPr lang="en-US" sz="1350" b="1" dirty="0">
                <a:solidFill>
                  <a:srgbClr val="1F2328"/>
                </a:solidFill>
                <a:latin typeface="Calibri" pitchFamily="34" charset="0"/>
                <a:ea typeface="Calibri" pitchFamily="34" charset="-122"/>
                <a:cs typeface="Calibri" pitchFamily="34" charset="-120"/>
              </a:rPr>
              <a:t>Best practices</a:t>
            </a:r>
            <a:endParaRPr lang="en-US" sz="1350" dirty="0"/>
          </a:p>
        </p:txBody>
      </p:sp>
      <p:sp>
        <p:nvSpPr>
          <p:cNvPr id="52" name="Text 50"/>
          <p:cNvSpPr txBox="1"/>
          <p:nvPr/>
        </p:nvSpPr>
        <p:spPr>
          <a:xfrm>
            <a:off x="8183880" y="3227832"/>
            <a:ext cx="548640" cy="347472"/>
          </a:xfrm>
          <a:prstGeom prst="rect">
            <a:avLst/>
          </a:prstGeom>
          <a:noFill/>
          <a:ln/>
        </p:spPr>
        <p:txBody>
          <a:bodyPr wrap="square" lIns="0" tIns="0" rIns="0" bIns="0" rtlCol="0" anchor="ctr"/>
          <a:lstStyle/>
          <a:p>
            <a:pPr algn="r" indent="0" marL="0">
              <a:buNone/>
            </a:pPr>
            <a:r>
              <a:rPr lang="en-US" sz="1100" dirty="0">
                <a:solidFill>
                  <a:srgbClr val="5B6470"/>
                </a:solidFill>
                <a:latin typeface="Calibri" pitchFamily="34" charset="0"/>
                <a:ea typeface="Calibri" pitchFamily="34" charset="-122"/>
                <a:cs typeface="Calibri" pitchFamily="34" charset="-120"/>
              </a:rPr>
              <a:t>8 min</a:t>
            </a:r>
            <a:endParaRPr lang="en-US" sz="1100" dirty="0"/>
          </a:p>
        </p:txBody>
      </p:sp>
      <p:sp>
        <p:nvSpPr>
          <p:cNvPr id="53" name="Shape 51"/>
          <p:cNvSpPr/>
          <p:nvPr/>
        </p:nvSpPr>
        <p:spPr>
          <a:xfrm>
            <a:off x="4754880" y="3739896"/>
            <a:ext cx="274320" cy="274320"/>
          </a:xfrm>
          <a:prstGeom prst="ellipse">
            <a:avLst/>
          </a:prstGeom>
          <a:solidFill>
            <a:srgbClr val="D92D27"/>
          </a:solidFill>
          <a:ln w="12700">
            <a:solidFill>
              <a:srgbClr val="D92D27"/>
            </a:solidFill>
            <a:prstDash val="solid"/>
          </a:ln>
        </p:spPr>
      </p:sp>
      <p:sp>
        <p:nvSpPr>
          <p:cNvPr id="54" name="Text 52"/>
          <p:cNvSpPr txBox="1"/>
          <p:nvPr/>
        </p:nvSpPr>
        <p:spPr>
          <a:xfrm>
            <a:off x="5138928" y="3703320"/>
            <a:ext cx="548640" cy="347472"/>
          </a:xfrm>
          <a:prstGeom prst="rect">
            <a:avLst/>
          </a:prstGeom>
          <a:noFill/>
          <a:ln/>
        </p:spPr>
        <p:txBody>
          <a:bodyPr wrap="square" lIns="0" tIns="0" rIns="0" bIns="0" rtlCol="0" anchor="ctr"/>
          <a:lstStyle/>
          <a:p>
            <a:pPr indent="0" marL="0">
              <a:buNone/>
            </a:pPr>
            <a:r>
              <a:rPr lang="en-US" sz="1200" dirty="0">
                <a:solidFill>
                  <a:srgbClr val="5B6470"/>
                </a:solidFill>
                <a:latin typeface="Courier New" pitchFamily="34" charset="0"/>
                <a:ea typeface="Courier New" pitchFamily="34" charset="-122"/>
                <a:cs typeface="Courier New" pitchFamily="34" charset="-120"/>
              </a:rPr>
              <a:t>1:55</a:t>
            </a:r>
            <a:endParaRPr lang="en-US" sz="1200" dirty="0"/>
          </a:p>
        </p:txBody>
      </p:sp>
      <p:sp>
        <p:nvSpPr>
          <p:cNvPr id="55" name="Text 53"/>
          <p:cNvSpPr txBox="1"/>
          <p:nvPr/>
        </p:nvSpPr>
        <p:spPr>
          <a:xfrm>
            <a:off x="5715000" y="3703320"/>
            <a:ext cx="2651760" cy="347472"/>
          </a:xfrm>
          <a:prstGeom prst="rect">
            <a:avLst/>
          </a:prstGeom>
          <a:noFill/>
          <a:ln/>
        </p:spPr>
        <p:txBody>
          <a:bodyPr wrap="square" lIns="0" tIns="0" rIns="0" bIns="0" rtlCol="0" anchor="ctr"/>
          <a:lstStyle/>
          <a:p>
            <a:pPr indent="0" marL="0">
              <a:buNone/>
            </a:pPr>
            <a:r>
              <a:rPr lang="en-US" sz="1350" b="1" dirty="0">
                <a:solidFill>
                  <a:srgbClr val="1F2328"/>
                </a:solidFill>
                <a:latin typeface="Calibri" pitchFamily="34" charset="0"/>
                <a:ea typeface="Calibri" pitchFamily="34" charset="-122"/>
                <a:cs typeface="Calibri" pitchFamily="34" charset="-120"/>
              </a:rPr>
              <a:t>Recap &amp; Q&amp;A</a:t>
            </a:r>
            <a:endParaRPr lang="en-US" sz="1350" dirty="0"/>
          </a:p>
        </p:txBody>
      </p:sp>
      <p:sp>
        <p:nvSpPr>
          <p:cNvPr id="56" name="Text 54"/>
          <p:cNvSpPr txBox="1"/>
          <p:nvPr/>
        </p:nvSpPr>
        <p:spPr>
          <a:xfrm>
            <a:off x="8183880" y="3703320"/>
            <a:ext cx="548640" cy="347472"/>
          </a:xfrm>
          <a:prstGeom prst="rect">
            <a:avLst/>
          </a:prstGeom>
          <a:noFill/>
          <a:ln/>
        </p:spPr>
        <p:txBody>
          <a:bodyPr wrap="square" lIns="0" tIns="0" rIns="0" bIns="0" rtlCol="0" anchor="ctr"/>
          <a:lstStyle/>
          <a:p>
            <a:pPr algn="r" indent="0" marL="0">
              <a:buNone/>
            </a:pPr>
            <a:r>
              <a:rPr lang="en-US" sz="1100" dirty="0">
                <a:solidFill>
                  <a:srgbClr val="5B6470"/>
                </a:solidFill>
                <a:latin typeface="Calibri" pitchFamily="34" charset="0"/>
                <a:ea typeface="Calibri" pitchFamily="34" charset="-122"/>
                <a:cs typeface="Calibri" pitchFamily="34" charset="-120"/>
              </a:rPr>
              <a:t>5 min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9AA1AA"/>
                </a:solidFill>
                <a:latin typeface="Calibri" pitchFamily="34" charset="0"/>
                <a:ea typeface="Calibri" pitchFamily="34" charset="-122"/>
                <a:cs typeface="Calibri" pitchFamily="34" charset="-120"/>
              </a:rPr>
              <a:t>3</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Your lab today</a:t>
            </a:r>
            <a:endParaRPr lang="en-US" sz="28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B6470"/>
                </a:solidFill>
                <a:latin typeface="Calibri" pitchFamily="34" charset="0"/>
                <a:ea typeface="Calibri" pitchFamily="34" charset="-122"/>
                <a:cs typeface="Calibri" pitchFamily="34" charset="-120"/>
              </a:rPr>
              <a:t>Everything runs locally — no cloud account, no VMs to build</a:t>
            </a:r>
            <a:endParaRPr lang="en-US" sz="1300" dirty="0"/>
          </a:p>
        </p:txBody>
      </p:sp>
      <p:sp>
        <p:nvSpPr>
          <p:cNvPr id="5" name="Shape 3"/>
          <p:cNvSpPr/>
          <p:nvPr/>
        </p:nvSpPr>
        <p:spPr>
          <a:xfrm>
            <a:off x="457200" y="1325880"/>
            <a:ext cx="8229600" cy="3246120"/>
          </a:xfrm>
          <a:prstGeom prst="roundRect">
            <a:avLst>
              <a:gd name="adj" fmla="val 2254"/>
            </a:avLst>
          </a:prstGeom>
          <a:solidFill>
            <a:srgbClr val="F2F3F5"/>
          </a:solidFill>
          <a:ln w="12700">
            <a:solidFill>
              <a:srgbClr val="F2F3F5"/>
            </a:solidFill>
            <a:prstDash val="solid"/>
          </a:ln>
        </p:spPr>
      </p:sp>
      <p:pic>
        <p:nvPicPr>
          <p:cNvPr id="6" name="Image 0" descr="preencoded.png">    </p:cNvPr>
          <p:cNvPicPr>
            <a:picLocks noChangeAspect="1"/>
          </p:cNvPicPr>
          <p:nvPr/>
        </p:nvPicPr>
        <p:blipFill>
          <a:blip r:embed="rId1"/>
          <a:stretch>
            <a:fillRect/>
          </a:stretch>
        </p:blipFill>
        <p:spPr>
          <a:xfrm>
            <a:off x="640080" y="1463040"/>
            <a:ext cx="274320" cy="274320"/>
          </a:xfrm>
          <a:prstGeom prst="rect">
            <a:avLst/>
          </a:prstGeom>
        </p:spPr>
      </p:pic>
      <p:sp>
        <p:nvSpPr>
          <p:cNvPr id="7" name="Text 4"/>
          <p:cNvSpPr txBox="1"/>
          <p:nvPr/>
        </p:nvSpPr>
        <p:spPr>
          <a:xfrm>
            <a:off x="1005840" y="1463040"/>
            <a:ext cx="2743200" cy="274320"/>
          </a:xfrm>
          <a:prstGeom prst="rect">
            <a:avLst/>
          </a:prstGeom>
          <a:noFill/>
          <a:ln/>
        </p:spPr>
        <p:txBody>
          <a:bodyPr wrap="square" lIns="0" tIns="0" rIns="0" bIns="0" rtlCol="0" anchor="ctr"/>
          <a:lstStyle/>
          <a:p>
            <a:pPr indent="0" marL="0">
              <a:buNone/>
            </a:pPr>
            <a:r>
              <a:rPr lang="en-US" sz="1300" b="1" dirty="0">
                <a:solidFill>
                  <a:srgbClr val="1F2328"/>
                </a:solidFill>
                <a:latin typeface="Calibri" pitchFamily="34" charset="0"/>
                <a:ea typeface="Calibri" pitchFamily="34" charset="-122"/>
                <a:cs typeface="Calibri" pitchFamily="34" charset="-120"/>
              </a:rPr>
              <a:t>Windows laptop</a:t>
            </a:r>
            <a:endParaRPr lang="en-US" sz="1300" dirty="0"/>
          </a:p>
        </p:txBody>
      </p:sp>
      <p:sp>
        <p:nvSpPr>
          <p:cNvPr id="8" name="Shape 5"/>
          <p:cNvSpPr/>
          <p:nvPr/>
        </p:nvSpPr>
        <p:spPr>
          <a:xfrm>
            <a:off x="731520" y="2011680"/>
            <a:ext cx="2743200" cy="2286000"/>
          </a:xfrm>
          <a:prstGeom prst="roundRect">
            <a:avLst>
              <a:gd name="adj" fmla="val 3200"/>
            </a:avLst>
          </a:prstGeom>
          <a:solidFill>
            <a:srgbClr val="FFFFFF"/>
          </a:solidFill>
          <a:ln w="12700">
            <a:solidFill>
              <a:srgbClr val="D0D4DA"/>
            </a:solidFill>
            <a:prstDash val="solid"/>
          </a:ln>
        </p:spPr>
      </p:sp>
      <p:sp>
        <p:nvSpPr>
          <p:cNvPr id="9" name="Shape 6"/>
          <p:cNvSpPr/>
          <p:nvPr/>
        </p:nvSpPr>
        <p:spPr>
          <a:xfrm>
            <a:off x="914400" y="2194560"/>
            <a:ext cx="548640" cy="548640"/>
          </a:xfrm>
          <a:prstGeom prst="ellipse">
            <a:avLst/>
          </a:prstGeom>
          <a:solidFill>
            <a:srgbClr val="D92D27"/>
          </a:solidFill>
          <a:ln w="12700">
            <a:solidFill>
              <a:srgbClr val="D92D27"/>
            </a:solidFill>
            <a:prstDash val="solid"/>
          </a:ln>
        </p:spPr>
      </p:sp>
      <p:pic>
        <p:nvPicPr>
          <p:cNvPr id="10" name="Image 1" descr="preencoded.png">    </p:cNvPr>
          <p:cNvPicPr>
            <a:picLocks noChangeAspect="1"/>
          </p:cNvPicPr>
          <p:nvPr/>
        </p:nvPicPr>
        <p:blipFill>
          <a:blip r:embed="rId2"/>
          <a:stretch>
            <a:fillRect/>
          </a:stretch>
        </p:blipFill>
        <p:spPr>
          <a:xfrm>
            <a:off x="1057046" y="2337206"/>
            <a:ext cx="263347" cy="263347"/>
          </a:xfrm>
          <a:prstGeom prst="rect">
            <a:avLst/>
          </a:prstGeom>
        </p:spPr>
      </p:pic>
      <p:sp>
        <p:nvSpPr>
          <p:cNvPr id="11" name="Text 7"/>
          <p:cNvSpPr txBox="1"/>
          <p:nvPr/>
        </p:nvSpPr>
        <p:spPr>
          <a:xfrm>
            <a:off x="1600200" y="2194560"/>
            <a:ext cx="1828800" cy="274320"/>
          </a:xfrm>
          <a:prstGeom prst="rect">
            <a:avLst/>
          </a:prstGeom>
          <a:noFill/>
          <a:ln/>
        </p:spPr>
        <p:txBody>
          <a:bodyPr wrap="square" lIns="0" tIns="0" rIns="0" bIns="0" rtlCol="0" anchor="t"/>
          <a:lstStyle/>
          <a:p>
            <a:pPr indent="0" marL="0">
              <a:buNone/>
            </a:pPr>
            <a:r>
              <a:rPr lang="en-US" sz="1300" b="1" dirty="0">
                <a:solidFill>
                  <a:srgbClr val="1F2328"/>
                </a:solidFill>
                <a:latin typeface="Calibri" pitchFamily="34" charset="0"/>
                <a:ea typeface="Calibri" pitchFamily="34" charset="-122"/>
                <a:cs typeface="Calibri" pitchFamily="34" charset="-120"/>
              </a:rPr>
              <a:t>WSL2 · Ubuntu 24.04</a:t>
            </a:r>
            <a:endParaRPr lang="en-US" sz="1300" dirty="0"/>
          </a:p>
        </p:txBody>
      </p:sp>
      <p:sp>
        <p:nvSpPr>
          <p:cNvPr id="12" name="Text 8"/>
          <p:cNvSpPr txBox="1"/>
          <p:nvPr/>
        </p:nvSpPr>
        <p:spPr>
          <a:xfrm>
            <a:off x="1600200" y="2468880"/>
            <a:ext cx="1828800" cy="274320"/>
          </a:xfrm>
          <a:prstGeom prst="rect">
            <a:avLst/>
          </a:prstGeom>
          <a:noFill/>
          <a:ln/>
        </p:spPr>
        <p:txBody>
          <a:bodyPr wrap="square" lIns="0" tIns="0" rIns="0" bIns="0" rtlCol="0" anchor="t"/>
          <a:lstStyle/>
          <a:p>
            <a:pPr indent="0" marL="0">
              <a:buNone/>
            </a:pPr>
            <a:r>
              <a:rPr lang="en-US" sz="1100" b="1" dirty="0">
                <a:solidFill>
                  <a:srgbClr val="D92D27"/>
                </a:solidFill>
                <a:latin typeface="Calibri" pitchFamily="34" charset="0"/>
                <a:ea typeface="Calibri" pitchFamily="34" charset="-122"/>
                <a:cs typeface="Calibri" pitchFamily="34" charset="-120"/>
              </a:rPr>
              <a:t>CONTROL NODE</a:t>
            </a:r>
            <a:endParaRPr lang="en-US" sz="1100" dirty="0"/>
          </a:p>
        </p:txBody>
      </p:sp>
      <p:sp>
        <p:nvSpPr>
          <p:cNvPr id="13" name="Text 9"/>
          <p:cNvSpPr txBox="1"/>
          <p:nvPr/>
        </p:nvSpPr>
        <p:spPr>
          <a:xfrm>
            <a:off x="914400" y="2926080"/>
            <a:ext cx="2468880" cy="11887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328"/>
                </a:solidFill>
                <a:latin typeface="Calibri" pitchFamily="34" charset="0"/>
                <a:ea typeface="Calibri" pitchFamily="34" charset="-122"/>
                <a:cs typeface="Calibri" pitchFamily="34" charset="-120"/>
              </a:rPr>
              <a:t>Ansible + ansible-lint</a:t>
            </a:r>
            <a:endParaRPr lang="en-US" sz="1200" dirty="0"/>
          </a:p>
          <a:p>
            <a:pPr marL="342900" indent="-342900">
              <a:spcAft>
                <a:spcPts val="600"/>
              </a:spcAft>
              <a:buSzPct val="100000"/>
              <a:buChar char="•"/>
            </a:pPr>
            <a:r>
              <a:rPr lang="en-US" sz="1200" dirty="0">
                <a:solidFill>
                  <a:srgbClr val="1F2328"/>
                </a:solidFill>
                <a:latin typeface="Calibri" pitchFamily="34" charset="0"/>
                <a:ea typeface="Calibri" pitchFamily="34" charset="-122"/>
                <a:cs typeface="Calibri" pitchFamily="34" charset="-120"/>
              </a:rPr>
              <a:t>Your SSH key</a:t>
            </a:r>
            <a:endParaRPr lang="en-US" sz="1200" dirty="0"/>
          </a:p>
          <a:p>
            <a:pPr marL="342900" indent="-342900">
              <a:spcAft>
                <a:spcPts val="600"/>
              </a:spcAft>
              <a:buSzPct val="100000"/>
              <a:buChar char="•"/>
            </a:pPr>
            <a:r>
              <a:rPr lang="en-US" sz="1200" dirty="0">
                <a:solidFill>
                  <a:srgbClr val="1F2328"/>
                </a:solidFill>
                <a:latin typeface="Calibri" pitchFamily="34" charset="0"/>
                <a:ea typeface="Calibri" pitchFamily="34" charset="-122"/>
                <a:cs typeface="Calibri" pitchFamily="34" charset="-120"/>
              </a:rPr>
              <a:t>~/ansible-lab project</a:t>
            </a:r>
            <a:endParaRPr lang="en-US" sz="1200" dirty="0"/>
          </a:p>
        </p:txBody>
      </p:sp>
      <p:sp>
        <p:nvSpPr>
          <p:cNvPr id="14" name="Shape 10"/>
          <p:cNvSpPr/>
          <p:nvPr/>
        </p:nvSpPr>
        <p:spPr>
          <a:xfrm>
            <a:off x="4572000" y="2011680"/>
            <a:ext cx="3840480" cy="2286000"/>
          </a:xfrm>
          <a:prstGeom prst="roundRect">
            <a:avLst>
              <a:gd name="adj" fmla="val 3200"/>
            </a:avLst>
          </a:prstGeom>
          <a:solidFill>
            <a:srgbClr val="FFFFFF"/>
          </a:solidFill>
          <a:ln w="12700">
            <a:solidFill>
              <a:srgbClr val="D0D4DA"/>
            </a:solidFill>
            <a:prstDash val="solid"/>
          </a:ln>
        </p:spPr>
      </p:sp>
      <p:pic>
        <p:nvPicPr>
          <p:cNvPr id="15" name="Image 2" descr="preencoded.png">    </p:cNvPr>
          <p:cNvPicPr>
            <a:picLocks noChangeAspect="1"/>
          </p:cNvPicPr>
          <p:nvPr/>
        </p:nvPicPr>
        <p:blipFill>
          <a:blip r:embed="rId3"/>
          <a:stretch>
            <a:fillRect/>
          </a:stretch>
        </p:blipFill>
        <p:spPr>
          <a:xfrm>
            <a:off x="4754880" y="2148840"/>
            <a:ext cx="320040" cy="320040"/>
          </a:xfrm>
          <a:prstGeom prst="rect">
            <a:avLst/>
          </a:prstGeom>
        </p:spPr>
      </p:pic>
      <p:sp>
        <p:nvSpPr>
          <p:cNvPr id="16" name="Text 11"/>
          <p:cNvSpPr txBox="1"/>
          <p:nvPr/>
        </p:nvSpPr>
        <p:spPr>
          <a:xfrm>
            <a:off x="5166360" y="2148840"/>
            <a:ext cx="3200400" cy="320040"/>
          </a:xfrm>
          <a:prstGeom prst="rect">
            <a:avLst/>
          </a:prstGeom>
          <a:noFill/>
          <a:ln/>
        </p:spPr>
        <p:txBody>
          <a:bodyPr wrap="square" lIns="0" tIns="0" rIns="0" bIns="0" rtlCol="0" anchor="ctr"/>
          <a:lstStyle/>
          <a:p>
            <a:pPr indent="0" marL="0">
              <a:buNone/>
            </a:pPr>
            <a:r>
              <a:rPr lang="en-US" sz="1200" b="1" dirty="0">
                <a:solidFill>
                  <a:srgbClr val="1F2328"/>
                </a:solidFill>
                <a:latin typeface="Calibri" pitchFamily="34" charset="0"/>
                <a:ea typeface="Calibri" pitchFamily="34" charset="-122"/>
                <a:cs typeface="Calibri" pitchFamily="34" charset="-120"/>
              </a:rPr>
              <a:t>Docker Desktop · MANAGED NODES</a:t>
            </a:r>
            <a:endParaRPr lang="en-US" sz="1200" dirty="0"/>
          </a:p>
        </p:txBody>
      </p:sp>
      <p:sp>
        <p:nvSpPr>
          <p:cNvPr id="17" name="Shape 12"/>
          <p:cNvSpPr/>
          <p:nvPr/>
        </p:nvSpPr>
        <p:spPr>
          <a:xfrm>
            <a:off x="4754880" y="2651760"/>
            <a:ext cx="3474720" cy="438912"/>
          </a:xfrm>
          <a:prstGeom prst="roundRect">
            <a:avLst>
              <a:gd name="adj" fmla="val 16667"/>
            </a:avLst>
          </a:prstGeom>
          <a:solidFill>
            <a:srgbClr val="F2F3F5"/>
          </a:solidFill>
          <a:ln w="12700">
            <a:solidFill>
              <a:srgbClr val="F2F3F5"/>
            </a:solidFill>
            <a:prstDash val="solid"/>
          </a:ln>
        </p:spPr>
      </p:sp>
      <p:pic>
        <p:nvPicPr>
          <p:cNvPr id="18" name="Image 3" descr="preencoded.png">    </p:cNvPr>
          <p:cNvPicPr>
            <a:picLocks noChangeAspect="1"/>
          </p:cNvPicPr>
          <p:nvPr/>
        </p:nvPicPr>
        <p:blipFill>
          <a:blip r:embed="rId4"/>
          <a:stretch>
            <a:fillRect/>
          </a:stretch>
        </p:blipFill>
        <p:spPr>
          <a:xfrm>
            <a:off x="4892040" y="2752344"/>
            <a:ext cx="237744" cy="237744"/>
          </a:xfrm>
          <a:prstGeom prst="rect">
            <a:avLst/>
          </a:prstGeom>
        </p:spPr>
      </p:pic>
      <p:sp>
        <p:nvSpPr>
          <p:cNvPr id="19" name="Text 13"/>
          <p:cNvSpPr txBox="1"/>
          <p:nvPr/>
        </p:nvSpPr>
        <p:spPr>
          <a:xfrm>
            <a:off x="5257800" y="2651760"/>
            <a:ext cx="731520" cy="438912"/>
          </a:xfrm>
          <a:prstGeom prst="rect">
            <a:avLst/>
          </a:prstGeom>
          <a:noFill/>
          <a:ln/>
        </p:spPr>
        <p:txBody>
          <a:bodyPr wrap="square" lIns="0" tIns="0" rIns="0" bIns="0" rtlCol="0" anchor="ctr"/>
          <a:lstStyle/>
          <a:p>
            <a:pPr indent="0" marL="0">
              <a:buNone/>
            </a:pPr>
            <a:r>
              <a:rPr lang="en-US" sz="1300" b="1" dirty="0">
                <a:solidFill>
                  <a:srgbClr val="1F2328"/>
                </a:solidFill>
                <a:latin typeface="Courier New" pitchFamily="34" charset="0"/>
                <a:ea typeface="Courier New" pitchFamily="34" charset="-122"/>
                <a:cs typeface="Courier New" pitchFamily="34" charset="-120"/>
              </a:rPr>
              <a:t>web1</a:t>
            </a:r>
            <a:endParaRPr lang="en-US" sz="1300" dirty="0"/>
          </a:p>
        </p:txBody>
      </p:sp>
      <p:sp>
        <p:nvSpPr>
          <p:cNvPr id="20" name="Text 14"/>
          <p:cNvSpPr txBox="1"/>
          <p:nvPr/>
        </p:nvSpPr>
        <p:spPr>
          <a:xfrm>
            <a:off x="6035040" y="2651760"/>
            <a:ext cx="2103120" cy="438912"/>
          </a:xfrm>
          <a:prstGeom prst="rect">
            <a:avLst/>
          </a:prstGeom>
          <a:noFill/>
          <a:ln/>
        </p:spPr>
        <p:txBody>
          <a:bodyPr wrap="square" lIns="0" tIns="0" rIns="0" bIns="0" rtlCol="0" anchor="ctr"/>
          <a:lstStyle/>
          <a:p>
            <a:pPr indent="0" marL="0">
              <a:buNone/>
            </a:pPr>
            <a:r>
              <a:rPr lang="en-US" sz="1100" dirty="0">
                <a:solidFill>
                  <a:srgbClr val="5B6470"/>
                </a:solidFill>
                <a:latin typeface="Calibri" pitchFamily="34" charset="0"/>
                <a:ea typeface="Calibri" pitchFamily="34" charset="-122"/>
                <a:cs typeface="Calibri" pitchFamily="34" charset="-120"/>
              </a:rPr>
              <a:t>SSH :2221 · HTTP :8081</a:t>
            </a:r>
            <a:endParaRPr lang="en-US" sz="1100" dirty="0"/>
          </a:p>
        </p:txBody>
      </p:sp>
      <p:sp>
        <p:nvSpPr>
          <p:cNvPr id="21" name="Shape 15"/>
          <p:cNvSpPr/>
          <p:nvPr/>
        </p:nvSpPr>
        <p:spPr>
          <a:xfrm>
            <a:off x="4754880" y="3182112"/>
            <a:ext cx="3474720" cy="438912"/>
          </a:xfrm>
          <a:prstGeom prst="roundRect">
            <a:avLst>
              <a:gd name="adj" fmla="val 16667"/>
            </a:avLst>
          </a:prstGeom>
          <a:solidFill>
            <a:srgbClr val="F2F3F5"/>
          </a:solidFill>
          <a:ln w="12700">
            <a:solidFill>
              <a:srgbClr val="F2F3F5"/>
            </a:solidFill>
            <a:prstDash val="solid"/>
          </a:ln>
        </p:spPr>
      </p:sp>
      <p:pic>
        <p:nvPicPr>
          <p:cNvPr id="22" name="Image 4" descr="preencoded.png">    </p:cNvPr>
          <p:cNvPicPr>
            <a:picLocks noChangeAspect="1"/>
          </p:cNvPicPr>
          <p:nvPr/>
        </p:nvPicPr>
        <p:blipFill>
          <a:blip r:embed="rId5"/>
          <a:stretch>
            <a:fillRect/>
          </a:stretch>
        </p:blipFill>
        <p:spPr>
          <a:xfrm>
            <a:off x="4892040" y="3282696"/>
            <a:ext cx="237744" cy="237744"/>
          </a:xfrm>
          <a:prstGeom prst="rect">
            <a:avLst/>
          </a:prstGeom>
        </p:spPr>
      </p:pic>
      <p:sp>
        <p:nvSpPr>
          <p:cNvPr id="23" name="Text 16"/>
          <p:cNvSpPr txBox="1"/>
          <p:nvPr/>
        </p:nvSpPr>
        <p:spPr>
          <a:xfrm>
            <a:off x="5257800" y="3182112"/>
            <a:ext cx="731520" cy="438912"/>
          </a:xfrm>
          <a:prstGeom prst="rect">
            <a:avLst/>
          </a:prstGeom>
          <a:noFill/>
          <a:ln/>
        </p:spPr>
        <p:txBody>
          <a:bodyPr wrap="square" lIns="0" tIns="0" rIns="0" bIns="0" rtlCol="0" anchor="ctr"/>
          <a:lstStyle/>
          <a:p>
            <a:pPr indent="0" marL="0">
              <a:buNone/>
            </a:pPr>
            <a:r>
              <a:rPr lang="en-US" sz="1300" b="1" dirty="0">
                <a:solidFill>
                  <a:srgbClr val="1F2328"/>
                </a:solidFill>
                <a:latin typeface="Courier New" pitchFamily="34" charset="0"/>
                <a:ea typeface="Courier New" pitchFamily="34" charset="-122"/>
                <a:cs typeface="Courier New" pitchFamily="34" charset="-120"/>
              </a:rPr>
              <a:t>web2</a:t>
            </a:r>
            <a:endParaRPr lang="en-US" sz="1300" dirty="0"/>
          </a:p>
        </p:txBody>
      </p:sp>
      <p:sp>
        <p:nvSpPr>
          <p:cNvPr id="24" name="Text 17"/>
          <p:cNvSpPr txBox="1"/>
          <p:nvPr/>
        </p:nvSpPr>
        <p:spPr>
          <a:xfrm>
            <a:off x="6035040" y="3182112"/>
            <a:ext cx="2103120" cy="438912"/>
          </a:xfrm>
          <a:prstGeom prst="rect">
            <a:avLst/>
          </a:prstGeom>
          <a:noFill/>
          <a:ln/>
        </p:spPr>
        <p:txBody>
          <a:bodyPr wrap="square" lIns="0" tIns="0" rIns="0" bIns="0" rtlCol="0" anchor="ctr"/>
          <a:lstStyle/>
          <a:p>
            <a:pPr indent="0" marL="0">
              <a:buNone/>
            </a:pPr>
            <a:r>
              <a:rPr lang="en-US" sz="1100" dirty="0">
                <a:solidFill>
                  <a:srgbClr val="5B6470"/>
                </a:solidFill>
                <a:latin typeface="Calibri" pitchFamily="34" charset="0"/>
                <a:ea typeface="Calibri" pitchFamily="34" charset="-122"/>
                <a:cs typeface="Calibri" pitchFamily="34" charset="-120"/>
              </a:rPr>
              <a:t>SSH :2222 · HTTP :8082</a:t>
            </a:r>
            <a:endParaRPr lang="en-US" sz="1100" dirty="0"/>
          </a:p>
        </p:txBody>
      </p:sp>
      <p:sp>
        <p:nvSpPr>
          <p:cNvPr id="25" name="Shape 18"/>
          <p:cNvSpPr/>
          <p:nvPr/>
        </p:nvSpPr>
        <p:spPr>
          <a:xfrm>
            <a:off x="4754880" y="3712464"/>
            <a:ext cx="3474720" cy="438912"/>
          </a:xfrm>
          <a:prstGeom prst="roundRect">
            <a:avLst>
              <a:gd name="adj" fmla="val 16667"/>
            </a:avLst>
          </a:prstGeom>
          <a:solidFill>
            <a:srgbClr val="F2F3F5"/>
          </a:solidFill>
          <a:ln w="12700">
            <a:solidFill>
              <a:srgbClr val="F2F3F5"/>
            </a:solidFill>
            <a:prstDash val="solid"/>
          </a:ln>
        </p:spPr>
      </p:sp>
      <p:pic>
        <p:nvPicPr>
          <p:cNvPr id="26" name="Image 5" descr="preencoded.png">    </p:cNvPr>
          <p:cNvPicPr>
            <a:picLocks noChangeAspect="1"/>
          </p:cNvPicPr>
          <p:nvPr/>
        </p:nvPicPr>
        <p:blipFill>
          <a:blip r:embed="rId6"/>
          <a:stretch>
            <a:fillRect/>
          </a:stretch>
        </p:blipFill>
        <p:spPr>
          <a:xfrm>
            <a:off x="4892040" y="3813048"/>
            <a:ext cx="237744" cy="237744"/>
          </a:xfrm>
          <a:prstGeom prst="rect">
            <a:avLst/>
          </a:prstGeom>
        </p:spPr>
      </p:pic>
      <p:sp>
        <p:nvSpPr>
          <p:cNvPr id="27" name="Text 19"/>
          <p:cNvSpPr txBox="1"/>
          <p:nvPr/>
        </p:nvSpPr>
        <p:spPr>
          <a:xfrm>
            <a:off x="5257800" y="3712464"/>
            <a:ext cx="731520" cy="438912"/>
          </a:xfrm>
          <a:prstGeom prst="rect">
            <a:avLst/>
          </a:prstGeom>
          <a:noFill/>
          <a:ln/>
        </p:spPr>
        <p:txBody>
          <a:bodyPr wrap="square" lIns="0" tIns="0" rIns="0" bIns="0" rtlCol="0" anchor="ctr"/>
          <a:lstStyle/>
          <a:p>
            <a:pPr indent="0" marL="0">
              <a:buNone/>
            </a:pPr>
            <a:r>
              <a:rPr lang="en-US" sz="1300" b="1" dirty="0">
                <a:solidFill>
                  <a:srgbClr val="1F2328"/>
                </a:solidFill>
                <a:latin typeface="Courier New" pitchFamily="34" charset="0"/>
                <a:ea typeface="Courier New" pitchFamily="34" charset="-122"/>
                <a:cs typeface="Courier New" pitchFamily="34" charset="-120"/>
              </a:rPr>
              <a:t>db1</a:t>
            </a:r>
            <a:endParaRPr lang="en-US" sz="1300" dirty="0"/>
          </a:p>
        </p:txBody>
      </p:sp>
      <p:sp>
        <p:nvSpPr>
          <p:cNvPr id="28" name="Text 20"/>
          <p:cNvSpPr txBox="1"/>
          <p:nvPr/>
        </p:nvSpPr>
        <p:spPr>
          <a:xfrm>
            <a:off x="6035040" y="3712464"/>
            <a:ext cx="2103120" cy="438912"/>
          </a:xfrm>
          <a:prstGeom prst="rect">
            <a:avLst/>
          </a:prstGeom>
          <a:noFill/>
          <a:ln/>
        </p:spPr>
        <p:txBody>
          <a:bodyPr wrap="square" lIns="0" tIns="0" rIns="0" bIns="0" rtlCol="0" anchor="ctr"/>
          <a:lstStyle/>
          <a:p>
            <a:pPr indent="0" marL="0">
              <a:buNone/>
            </a:pPr>
            <a:r>
              <a:rPr lang="en-US" sz="1100" dirty="0">
                <a:solidFill>
                  <a:srgbClr val="5B6470"/>
                </a:solidFill>
                <a:latin typeface="Calibri" pitchFamily="34" charset="0"/>
                <a:ea typeface="Calibri" pitchFamily="34" charset="-122"/>
                <a:cs typeface="Calibri" pitchFamily="34" charset="-120"/>
              </a:rPr>
              <a:t>SSH :2223</a:t>
            </a:r>
            <a:endParaRPr lang="en-US" sz="1100" dirty="0"/>
          </a:p>
        </p:txBody>
      </p:sp>
      <p:sp>
        <p:nvSpPr>
          <p:cNvPr id="29" name="Shape 21"/>
          <p:cNvSpPr/>
          <p:nvPr/>
        </p:nvSpPr>
        <p:spPr>
          <a:xfrm>
            <a:off x="3520440" y="3154680"/>
            <a:ext cx="1005840" cy="914"/>
          </a:xfrm>
          <a:prstGeom prst="line">
            <a:avLst/>
          </a:prstGeom>
          <a:noFill/>
          <a:ln w="19050">
            <a:solidFill>
              <a:srgbClr val="D92D27"/>
            </a:solidFill>
            <a:prstDash val="solid"/>
            <a:tailEnd type="triangle"/>
          </a:ln>
        </p:spPr>
      </p:sp>
      <p:sp>
        <p:nvSpPr>
          <p:cNvPr id="30" name="Text 22"/>
          <p:cNvSpPr txBox="1"/>
          <p:nvPr/>
        </p:nvSpPr>
        <p:spPr>
          <a:xfrm>
            <a:off x="3703320" y="2834640"/>
            <a:ext cx="640080" cy="274320"/>
          </a:xfrm>
          <a:prstGeom prst="rect">
            <a:avLst/>
          </a:prstGeom>
          <a:noFill/>
          <a:ln/>
        </p:spPr>
        <p:txBody>
          <a:bodyPr wrap="square" lIns="0" tIns="0" rIns="0" bIns="0" rtlCol="0" anchor="t"/>
          <a:lstStyle/>
          <a:p>
            <a:pPr algn="ctr" indent="0" marL="0">
              <a:buNone/>
            </a:pPr>
            <a:r>
              <a:rPr lang="en-US" sz="1100" b="1" dirty="0">
                <a:solidFill>
                  <a:srgbClr val="D92D27"/>
                </a:solidFill>
                <a:latin typeface="Calibri" pitchFamily="34" charset="0"/>
                <a:ea typeface="Calibri" pitchFamily="34" charset="-122"/>
                <a:cs typeface="Calibri" pitchFamily="34" charset="-120"/>
              </a:rPr>
              <a:t>SSH</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81D"/>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
        <p:nvSpPr>
          <p:cNvPr id="3" name="Text 1"/>
          <p:cNvSpPr txBox="1"/>
          <p:nvPr/>
        </p:nvSpPr>
        <p:spPr>
          <a:xfrm>
            <a:off x="457200" y="685800"/>
            <a:ext cx="2743200" cy="1280160"/>
          </a:xfrm>
          <a:prstGeom prst="rect">
            <a:avLst/>
          </a:prstGeom>
          <a:noFill/>
          <a:ln/>
        </p:spPr>
        <p:txBody>
          <a:bodyPr wrap="square" lIns="0" tIns="0" rIns="0" bIns="0" rtlCol="0" anchor="ctr"/>
          <a:lstStyle/>
          <a:p>
            <a:pPr indent="0" marL="0">
              <a:buNone/>
            </a:pPr>
            <a:r>
              <a:rPr lang="en-US" sz="9600" b="1" dirty="0">
                <a:solidFill>
                  <a:srgbClr val="D92D27"/>
                </a:solidFill>
                <a:latin typeface="Arial" pitchFamily="34" charset="0"/>
                <a:ea typeface="Arial" pitchFamily="34" charset="-122"/>
                <a:cs typeface="Arial" pitchFamily="34" charset="-120"/>
              </a:rPr>
              <a:t>01</a:t>
            </a:r>
            <a:endParaRPr lang="en-US" sz="9600" dirty="0"/>
          </a:p>
        </p:txBody>
      </p:sp>
      <p:sp>
        <p:nvSpPr>
          <p:cNvPr id="4" name="Text 2"/>
          <p:cNvSpPr txBox="1"/>
          <p:nvPr/>
        </p:nvSpPr>
        <p:spPr>
          <a:xfrm>
            <a:off x="457200" y="2011680"/>
            <a:ext cx="8046720" cy="1234440"/>
          </a:xfrm>
          <a:prstGeom prst="rect">
            <a:avLst/>
          </a:prstGeom>
          <a:noFill/>
          <a:ln/>
        </p:spPr>
        <p:txBody>
          <a:bodyPr wrap="square" lIns="0" tIns="0" rIns="0" bIns="0" rtlCol="0" anchor="b"/>
          <a:lstStyle/>
          <a:p>
            <a:pPr indent="0" marL="0">
              <a:buNone/>
            </a:pPr>
            <a:r>
              <a:rPr lang="en-US" sz="3600" b="1" dirty="0">
                <a:solidFill>
                  <a:srgbClr val="FFFFFF"/>
                </a:solidFill>
                <a:latin typeface="Arial" pitchFamily="34" charset="0"/>
                <a:ea typeface="Arial" pitchFamily="34" charset="-122"/>
                <a:cs typeface="Arial" pitchFamily="34" charset="-120"/>
              </a:rPr>
              <a:t>What is Ansible?</a:t>
            </a:r>
            <a:endParaRPr lang="en-US" sz="3600" dirty="0"/>
          </a:p>
        </p:txBody>
      </p:sp>
      <p:sp>
        <p:nvSpPr>
          <p:cNvPr id="5" name="Text 3"/>
          <p:cNvSpPr txBox="1"/>
          <p:nvPr/>
        </p:nvSpPr>
        <p:spPr>
          <a:xfrm>
            <a:off x="457200" y="3291840"/>
            <a:ext cx="7772400" cy="457200"/>
          </a:xfrm>
          <a:prstGeom prst="rect">
            <a:avLst/>
          </a:prstGeom>
          <a:noFill/>
          <a:ln/>
        </p:spPr>
        <p:txBody>
          <a:bodyPr wrap="square" lIns="0" tIns="0" rIns="0" bIns="0" rtlCol="0" anchor="ctr"/>
          <a:lstStyle/>
          <a:p>
            <a:pPr indent="0" marL="0">
              <a:buNone/>
            </a:pPr>
            <a:r>
              <a:rPr lang="en-US" sz="1600" dirty="0">
                <a:solidFill>
                  <a:srgbClr val="B8BEC7"/>
                </a:solidFill>
                <a:latin typeface="Calibri" pitchFamily="34" charset="0"/>
                <a:ea typeface="Calibri" pitchFamily="34" charset="-122"/>
                <a:cs typeface="Calibri" pitchFamily="34" charset="-120"/>
              </a:rPr>
              <a:t>The problem it solves and the core ideas behind it</a:t>
            </a:r>
            <a:endParaRPr lang="en-US" sz="1600" dirty="0"/>
          </a:p>
        </p:txBody>
      </p:sp>
      <p:sp>
        <p:nvSpPr>
          <p:cNvPr id="6" name="Shape 4"/>
          <p:cNvSpPr/>
          <p:nvPr/>
        </p:nvSpPr>
        <p:spPr>
          <a:xfrm>
            <a:off x="457200" y="4023360"/>
            <a:ext cx="1371600" cy="365760"/>
          </a:xfrm>
          <a:prstGeom prst="roundRect">
            <a:avLst>
              <a:gd name="adj" fmla="val 50000"/>
            </a:avLst>
          </a:prstGeom>
          <a:solidFill>
            <a:srgbClr val="2A2E36"/>
          </a:solidFill>
          <a:ln w="12700">
            <a:solidFill>
              <a:srgbClr val="2A2E36"/>
            </a:solidFill>
            <a:prstDash val="solid"/>
          </a:ln>
        </p:spPr>
      </p:sp>
      <p:sp>
        <p:nvSpPr>
          <p:cNvPr id="7" name="Text 5"/>
          <p:cNvSpPr txBox="1"/>
          <p:nvPr/>
        </p:nvSpPr>
        <p:spPr>
          <a:xfrm>
            <a:off x="457200" y="4023360"/>
            <a:ext cx="137160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 12 min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9AA1AA"/>
                </a:solidFill>
                <a:latin typeface="Calibri" pitchFamily="34" charset="0"/>
                <a:ea typeface="Calibri" pitchFamily="34" charset="-122"/>
                <a:cs typeface="Calibri" pitchFamily="34" charset="-120"/>
              </a:rPr>
              <a:t>5</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One server is easy. A hundred is not.</a:t>
            </a:r>
            <a:endParaRPr lang="en-US" sz="2800" dirty="0"/>
          </a:p>
        </p:txBody>
      </p:sp>
      <p:sp>
        <p:nvSpPr>
          <p:cNvPr id="4" name="Shape 2"/>
          <p:cNvSpPr/>
          <p:nvPr/>
        </p:nvSpPr>
        <p:spPr>
          <a:xfrm>
            <a:off x="457200" y="1097280"/>
            <a:ext cx="3931920" cy="3474720"/>
          </a:xfrm>
          <a:prstGeom prst="roundRect">
            <a:avLst>
              <a:gd name="adj" fmla="val 2105"/>
            </a:avLst>
          </a:prstGeom>
          <a:solidFill>
            <a:srgbClr val="FDF0EF"/>
          </a:solidFill>
          <a:ln w="12700">
            <a:solidFill>
              <a:srgbClr val="FDF0EF"/>
            </a:solidFill>
            <a:prstDash val="solid"/>
          </a:ln>
        </p:spPr>
      </p:sp>
      <p:sp>
        <p:nvSpPr>
          <p:cNvPr id="5" name="Shape 3"/>
          <p:cNvSpPr/>
          <p:nvPr/>
        </p:nvSpPr>
        <p:spPr>
          <a:xfrm>
            <a:off x="685800" y="1280160"/>
            <a:ext cx="502920" cy="502920"/>
          </a:xfrm>
          <a:prstGeom prst="ellipse">
            <a:avLst/>
          </a:prstGeom>
          <a:solidFill>
            <a:srgbClr val="D92D27"/>
          </a:solidFill>
          <a:ln w="12700">
            <a:solidFill>
              <a:srgbClr val="D92D27"/>
            </a:solidFill>
            <a:prstDash val="solid"/>
          </a:ln>
        </p:spPr>
      </p:sp>
      <p:pic>
        <p:nvPicPr>
          <p:cNvPr id="6" name="Image 0" descr="preencoded.png">    </p:cNvPr>
          <p:cNvPicPr>
            <a:picLocks noChangeAspect="1"/>
          </p:cNvPicPr>
          <p:nvPr/>
        </p:nvPicPr>
        <p:blipFill>
          <a:blip r:embed="rId1"/>
          <a:stretch>
            <a:fillRect/>
          </a:stretch>
        </p:blipFill>
        <p:spPr>
          <a:xfrm>
            <a:off x="816559" y="1410919"/>
            <a:ext cx="241402" cy="241402"/>
          </a:xfrm>
          <a:prstGeom prst="rect">
            <a:avLst/>
          </a:prstGeom>
        </p:spPr>
      </p:pic>
      <p:sp>
        <p:nvSpPr>
          <p:cNvPr id="7" name="Text 4"/>
          <p:cNvSpPr txBox="1"/>
          <p:nvPr/>
        </p:nvSpPr>
        <p:spPr>
          <a:xfrm>
            <a:off x="1325880" y="1280160"/>
            <a:ext cx="2743200" cy="502920"/>
          </a:xfrm>
          <a:prstGeom prst="rect">
            <a:avLst/>
          </a:prstGeom>
          <a:noFill/>
          <a:ln/>
        </p:spPr>
        <p:txBody>
          <a:bodyPr wrap="square" lIns="0" tIns="0" rIns="0" bIns="0" rtlCol="0" anchor="ctr"/>
          <a:lstStyle/>
          <a:p>
            <a:pPr indent="0" marL="0">
              <a:buNone/>
            </a:pPr>
            <a:r>
              <a:rPr lang="en-US" sz="1800" b="1" dirty="0">
                <a:solidFill>
                  <a:srgbClr val="1F2328"/>
                </a:solidFill>
                <a:latin typeface="Calibri" pitchFamily="34" charset="0"/>
                <a:ea typeface="Calibri" pitchFamily="34" charset="-122"/>
                <a:cs typeface="Calibri" pitchFamily="34" charset="-120"/>
              </a:rPr>
              <a:t>Manual way</a:t>
            </a:r>
            <a:endParaRPr lang="en-US" sz="1800" dirty="0"/>
          </a:p>
        </p:txBody>
      </p:sp>
      <p:sp>
        <p:nvSpPr>
          <p:cNvPr id="8" name="Shape 5"/>
          <p:cNvSpPr/>
          <p:nvPr/>
        </p:nvSpPr>
        <p:spPr>
          <a:xfrm>
            <a:off x="685800" y="1965960"/>
            <a:ext cx="3474720" cy="1371600"/>
          </a:xfrm>
          <a:prstGeom prst="roundRect">
            <a:avLst>
              <a:gd name="adj" fmla="val 4000"/>
            </a:avLst>
          </a:prstGeom>
          <a:solidFill>
            <a:srgbClr val="1E2229"/>
          </a:solidFill>
          <a:ln w="12700">
            <a:solidFill>
              <a:srgbClr val="1E2229"/>
            </a:solidFill>
            <a:prstDash val="solid"/>
          </a:ln>
        </p:spPr>
      </p:sp>
      <p:sp>
        <p:nvSpPr>
          <p:cNvPr id="9" name="Text 6"/>
          <p:cNvSpPr txBox="1"/>
          <p:nvPr/>
        </p:nvSpPr>
        <p:spPr>
          <a:xfrm>
            <a:off x="822960" y="2075688"/>
            <a:ext cx="3200400" cy="1152144"/>
          </a:xfrm>
          <a:prstGeom prst="rect">
            <a:avLst/>
          </a:prstGeom>
          <a:noFill/>
          <a:ln/>
        </p:spPr>
        <p:txBody>
          <a:bodyPr wrap="square" lIns="0" tIns="0" rIns="0" bIns="0" rtlCol="0" anchor="t"/>
          <a:lstStyle/>
          <a:p>
            <a:pPr indent="0" marL="0">
              <a:lnSpc>
                <a:spcPct val="100000"/>
              </a:lnSpc>
              <a:buNone/>
            </a:pPr>
            <a:r>
              <a:rPr lang="en-US" sz="950" dirty="0">
                <a:solidFill>
                  <a:srgbClr val="6EE7A8"/>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ssh server-01</a:t>
            </a:r>
            <a:endParaRPr lang="en-US" sz="950" dirty="0"/>
          </a:p>
          <a:p>
            <a:pPr indent="0" marL="0">
              <a:lnSpc>
                <a:spcPct val="100000"/>
              </a:lnSpc>
              <a:buNone/>
            </a:pPr>
            <a:r>
              <a:rPr lang="en-US" sz="950" dirty="0">
                <a:solidFill>
                  <a:srgbClr val="6EE7A8"/>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sudo apt install nginx</a:t>
            </a:r>
            <a:endParaRPr lang="en-US" sz="950" dirty="0"/>
          </a:p>
          <a:p>
            <a:pPr indent="0" marL="0">
              <a:lnSpc>
                <a:spcPct val="100000"/>
              </a:lnSpc>
              <a:buNone/>
            </a:pPr>
            <a:r>
              <a:rPr lang="en-US" sz="950" dirty="0">
                <a:solidFill>
                  <a:srgbClr val="6EE7A8"/>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sudo vi /etc/nginx/nginx.conf</a:t>
            </a:r>
            <a:endParaRPr lang="en-US" sz="950" dirty="0"/>
          </a:p>
          <a:p>
            <a:pPr indent="0" marL="0">
              <a:lnSpc>
                <a:spcPct val="100000"/>
              </a:lnSpc>
              <a:buNone/>
            </a:pPr>
            <a:r>
              <a:rPr lang="en-US" sz="950" dirty="0">
                <a:solidFill>
                  <a:srgbClr val="6EE7A8"/>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sudo systemctl restart nginx</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8B949E"/>
                </a:solidFill>
                <a:latin typeface="Courier New" pitchFamily="34" charset="0"/>
                <a:ea typeface="Courier New" pitchFamily="34" charset="-122"/>
                <a:cs typeface="Courier New" pitchFamily="34" charset="-120"/>
              </a:rPr>
              <a:t># ...repeat for server-02 ... server-100</a:t>
            </a:r>
            <a:endParaRPr lang="en-US" sz="950" dirty="0"/>
          </a:p>
        </p:txBody>
      </p:sp>
      <p:sp>
        <p:nvSpPr>
          <p:cNvPr id="10" name="Text 7"/>
          <p:cNvSpPr txBox="1"/>
          <p:nvPr/>
        </p:nvSpPr>
        <p:spPr>
          <a:xfrm>
            <a:off x="685800" y="3520440"/>
            <a:ext cx="3566160" cy="10058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F2328"/>
                </a:solidFill>
                <a:latin typeface="Calibri" pitchFamily="34" charset="0"/>
                <a:ea typeface="Calibri" pitchFamily="34" charset="-122"/>
                <a:cs typeface="Calibri" pitchFamily="34" charset="-120"/>
              </a:rPr>
              <a:t>Slow and boring — mistakes creep in</a:t>
            </a:r>
            <a:endParaRPr lang="en-US" sz="1250" dirty="0"/>
          </a:p>
          <a:p>
            <a:pPr marL="342900" indent="-342900">
              <a:spcAft>
                <a:spcPts val="600"/>
              </a:spcAft>
              <a:buSzPct val="100000"/>
              <a:buChar char="•"/>
            </a:pPr>
            <a:r>
              <a:rPr lang="en-US" sz="1250" dirty="0">
                <a:solidFill>
                  <a:srgbClr val="1F2328"/>
                </a:solidFill>
                <a:latin typeface="Calibri" pitchFamily="34" charset="0"/>
                <a:ea typeface="Calibri" pitchFamily="34" charset="-122"/>
                <a:cs typeface="Calibri" pitchFamily="34" charset="-120"/>
              </a:rPr>
              <a:t>Every server ends up slightly different</a:t>
            </a:r>
            <a:endParaRPr lang="en-US" sz="1250" dirty="0"/>
          </a:p>
          <a:p>
            <a:pPr marL="342900" indent="-342900">
              <a:spcAft>
                <a:spcPts val="600"/>
              </a:spcAft>
              <a:buSzPct val="100000"/>
              <a:buChar char="•"/>
            </a:pPr>
            <a:r>
              <a:rPr lang="en-US" sz="1250" dirty="0">
                <a:solidFill>
                  <a:srgbClr val="1F2328"/>
                </a:solidFill>
                <a:latin typeface="Calibri" pitchFamily="34" charset="0"/>
                <a:ea typeface="Calibri" pitchFamily="34" charset="-122"/>
                <a:cs typeface="Calibri" pitchFamily="34" charset="-120"/>
              </a:rPr>
              <a:t>No record of what was changed</a:t>
            </a:r>
            <a:endParaRPr lang="en-US" sz="1250" dirty="0"/>
          </a:p>
        </p:txBody>
      </p:sp>
      <p:sp>
        <p:nvSpPr>
          <p:cNvPr id="11" name="Shape 8"/>
          <p:cNvSpPr/>
          <p:nvPr/>
        </p:nvSpPr>
        <p:spPr>
          <a:xfrm>
            <a:off x="4754880" y="1097280"/>
            <a:ext cx="3931920" cy="3474720"/>
          </a:xfrm>
          <a:prstGeom prst="roundRect">
            <a:avLst>
              <a:gd name="adj" fmla="val 2105"/>
            </a:avLst>
          </a:prstGeom>
          <a:solidFill>
            <a:srgbClr val="EAF5EE"/>
          </a:solidFill>
          <a:ln w="12700">
            <a:solidFill>
              <a:srgbClr val="EAF5EE"/>
            </a:solidFill>
            <a:prstDash val="solid"/>
          </a:ln>
        </p:spPr>
      </p:sp>
      <p:sp>
        <p:nvSpPr>
          <p:cNvPr id="12" name="Shape 9"/>
          <p:cNvSpPr/>
          <p:nvPr/>
        </p:nvSpPr>
        <p:spPr>
          <a:xfrm>
            <a:off x="4983480" y="1280160"/>
            <a:ext cx="502920" cy="502920"/>
          </a:xfrm>
          <a:prstGeom prst="ellipse">
            <a:avLst/>
          </a:prstGeom>
          <a:solidFill>
            <a:srgbClr val="2E8B57"/>
          </a:solidFill>
          <a:ln w="12700">
            <a:solidFill>
              <a:srgbClr val="2E8B57"/>
            </a:solidFill>
            <a:prstDash val="solid"/>
          </a:ln>
        </p:spPr>
      </p:sp>
      <p:pic>
        <p:nvPicPr>
          <p:cNvPr id="13" name="Image 1" descr="preencoded.png">    </p:cNvPr>
          <p:cNvPicPr>
            <a:picLocks noChangeAspect="1"/>
          </p:cNvPicPr>
          <p:nvPr/>
        </p:nvPicPr>
        <p:blipFill>
          <a:blip r:embed="rId2"/>
          <a:stretch>
            <a:fillRect/>
          </a:stretch>
        </p:blipFill>
        <p:spPr>
          <a:xfrm>
            <a:off x="5114239" y="1410919"/>
            <a:ext cx="241402" cy="241402"/>
          </a:xfrm>
          <a:prstGeom prst="rect">
            <a:avLst/>
          </a:prstGeom>
        </p:spPr>
      </p:pic>
      <p:sp>
        <p:nvSpPr>
          <p:cNvPr id="14" name="Text 10"/>
          <p:cNvSpPr txBox="1"/>
          <p:nvPr/>
        </p:nvSpPr>
        <p:spPr>
          <a:xfrm>
            <a:off x="5623560" y="1280160"/>
            <a:ext cx="2743200" cy="502920"/>
          </a:xfrm>
          <a:prstGeom prst="rect">
            <a:avLst/>
          </a:prstGeom>
          <a:noFill/>
          <a:ln/>
        </p:spPr>
        <p:txBody>
          <a:bodyPr wrap="square" lIns="0" tIns="0" rIns="0" bIns="0" rtlCol="0" anchor="ctr"/>
          <a:lstStyle/>
          <a:p>
            <a:pPr indent="0" marL="0">
              <a:buNone/>
            </a:pPr>
            <a:r>
              <a:rPr lang="en-US" sz="1800" b="1" dirty="0">
                <a:solidFill>
                  <a:srgbClr val="1F2328"/>
                </a:solidFill>
                <a:latin typeface="Calibri" pitchFamily="34" charset="0"/>
                <a:ea typeface="Calibri" pitchFamily="34" charset="-122"/>
                <a:cs typeface="Calibri" pitchFamily="34" charset="-120"/>
              </a:rPr>
              <a:t>Ansible way</a:t>
            </a:r>
            <a:endParaRPr lang="en-US" sz="1800" dirty="0"/>
          </a:p>
        </p:txBody>
      </p:sp>
      <p:sp>
        <p:nvSpPr>
          <p:cNvPr id="15" name="Shape 11"/>
          <p:cNvSpPr/>
          <p:nvPr/>
        </p:nvSpPr>
        <p:spPr>
          <a:xfrm>
            <a:off x="4983480" y="1965960"/>
            <a:ext cx="3474720" cy="1371600"/>
          </a:xfrm>
          <a:prstGeom prst="roundRect">
            <a:avLst>
              <a:gd name="adj" fmla="val 4000"/>
            </a:avLst>
          </a:prstGeom>
          <a:solidFill>
            <a:srgbClr val="1E2229"/>
          </a:solidFill>
          <a:ln w="12700">
            <a:solidFill>
              <a:srgbClr val="1E2229"/>
            </a:solidFill>
            <a:prstDash val="solid"/>
          </a:ln>
        </p:spPr>
      </p:sp>
      <p:sp>
        <p:nvSpPr>
          <p:cNvPr id="16" name="Text 12"/>
          <p:cNvSpPr txBox="1"/>
          <p:nvPr/>
        </p:nvSpPr>
        <p:spPr>
          <a:xfrm>
            <a:off x="5120640" y="2075688"/>
            <a:ext cx="3200400" cy="1152144"/>
          </a:xfrm>
          <a:prstGeom prst="rect">
            <a:avLst/>
          </a:prstGeom>
          <a:noFill/>
          <a:ln/>
        </p:spPr>
        <p:txBody>
          <a:bodyPr wrap="square" lIns="0" tIns="0" rIns="0" bIns="0" rtlCol="0" anchor="t"/>
          <a:lstStyle/>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name:</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Web servers</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hosts:</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webservers   </a:t>
            </a:r>
            <a:pPr indent="0" marL="0">
              <a:lnSpc>
                <a:spcPct val="100000"/>
              </a:lnSpc>
              <a:buNone/>
            </a:pPr>
            <a:r>
              <a:rPr lang="en-US" sz="950" dirty="0">
                <a:solidFill>
                  <a:srgbClr val="8B949E"/>
                </a:solidFill>
                <a:latin typeface="Courier New" pitchFamily="34" charset="0"/>
                <a:ea typeface="Courier New" pitchFamily="34" charset="-122"/>
                <a:cs typeface="Courier New" pitchFamily="34" charset="-120"/>
              </a:rPr>
              <a:t># 1 or 1000</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become:</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true</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tasks:</a:t>
            </a:r>
            <a:pPr indent="0" marL="0">
              <a:lnSpc>
                <a:spcPct val="100000"/>
              </a:lnSpc>
              <a:buNone/>
            </a:pP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name:</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Install nginx</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ansible.builtin.apt:</a:t>
            </a:r>
            <a:pPr indent="0" marL="0">
              <a:lnSpc>
                <a:spcPct val="100000"/>
              </a:lnSpc>
              <a:buNone/>
            </a:pP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name:</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nginx</a:t>
            </a:r>
            <a:endParaRPr lang="en-US" sz="950" dirty="0"/>
          </a:p>
        </p:txBody>
      </p:sp>
      <p:sp>
        <p:nvSpPr>
          <p:cNvPr id="17" name="Text 13"/>
          <p:cNvSpPr txBox="1"/>
          <p:nvPr/>
        </p:nvSpPr>
        <p:spPr>
          <a:xfrm>
            <a:off x="4983480" y="3520440"/>
            <a:ext cx="3566160" cy="10058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F2328"/>
                </a:solidFill>
                <a:latin typeface="Calibri" pitchFamily="34" charset="0"/>
                <a:ea typeface="Calibri" pitchFamily="34" charset="-122"/>
                <a:cs typeface="Calibri" pitchFamily="34" charset="-120"/>
              </a:rPr>
              <a:t>Describe it once, apply everywhere</a:t>
            </a:r>
            <a:endParaRPr lang="en-US" sz="1250" dirty="0"/>
          </a:p>
          <a:p>
            <a:pPr marL="342900" indent="-342900">
              <a:spcAft>
                <a:spcPts val="600"/>
              </a:spcAft>
              <a:buSzPct val="100000"/>
              <a:buChar char="•"/>
            </a:pPr>
            <a:r>
              <a:rPr lang="en-US" sz="1250" dirty="0">
                <a:solidFill>
                  <a:srgbClr val="1F2328"/>
                </a:solidFill>
                <a:latin typeface="Calibri" pitchFamily="34" charset="0"/>
                <a:ea typeface="Calibri" pitchFamily="34" charset="-122"/>
                <a:cs typeface="Calibri" pitchFamily="34" charset="-120"/>
              </a:rPr>
              <a:t>Same result on every server, every time</a:t>
            </a:r>
            <a:endParaRPr lang="en-US" sz="1250" dirty="0"/>
          </a:p>
          <a:p>
            <a:pPr marL="342900" indent="-342900">
              <a:spcAft>
                <a:spcPts val="600"/>
              </a:spcAft>
              <a:buSzPct val="100000"/>
              <a:buChar char="•"/>
            </a:pPr>
            <a:r>
              <a:rPr lang="en-US" sz="1250" dirty="0">
                <a:solidFill>
                  <a:srgbClr val="1F2328"/>
                </a:solidFill>
                <a:latin typeface="Calibri" pitchFamily="34" charset="0"/>
                <a:ea typeface="Calibri" pitchFamily="34" charset="-122"/>
                <a:cs typeface="Calibri" pitchFamily="34" charset="-120"/>
              </a:rPr>
              <a:t>Stored in Git — reviewed and repeatable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9AA1AA"/>
                </a:solidFill>
                <a:latin typeface="Calibri" pitchFamily="34" charset="0"/>
                <a:ea typeface="Calibri" pitchFamily="34" charset="-122"/>
                <a:cs typeface="Calibri" pitchFamily="34" charset="-120"/>
              </a:rPr>
              <a:t>6</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What is Ansible?</a:t>
            </a:r>
            <a:endParaRPr lang="en-US" sz="2800" dirty="0"/>
          </a:p>
        </p:txBody>
      </p:sp>
      <p:sp>
        <p:nvSpPr>
          <p:cNvPr id="4" name="Shape 2"/>
          <p:cNvSpPr/>
          <p:nvPr/>
        </p:nvSpPr>
        <p:spPr>
          <a:xfrm>
            <a:off x="457200" y="1005840"/>
            <a:ext cx="8229600" cy="960120"/>
          </a:xfrm>
          <a:prstGeom prst="roundRect">
            <a:avLst>
              <a:gd name="adj" fmla="val 7619"/>
            </a:avLst>
          </a:prstGeom>
          <a:solidFill>
            <a:srgbClr val="FBE7E6"/>
          </a:solidFill>
          <a:ln w="12700">
            <a:solidFill>
              <a:srgbClr val="FBE7E6"/>
            </a:solidFill>
            <a:prstDash val="solid"/>
          </a:ln>
        </p:spPr>
      </p:sp>
      <p:sp>
        <p:nvSpPr>
          <p:cNvPr id="5" name="Text 3"/>
          <p:cNvSpPr txBox="1"/>
          <p:nvPr/>
        </p:nvSpPr>
        <p:spPr>
          <a:xfrm>
            <a:off x="685800" y="1097280"/>
            <a:ext cx="7772400" cy="777240"/>
          </a:xfrm>
          <a:prstGeom prst="rect">
            <a:avLst/>
          </a:prstGeom>
          <a:noFill/>
          <a:ln/>
        </p:spPr>
        <p:txBody>
          <a:bodyPr wrap="square" lIns="0" tIns="0" rIns="0" bIns="0" rtlCol="0" anchor="ctr"/>
          <a:lstStyle/>
          <a:p>
            <a:pPr indent="0" marL="0">
              <a:buNone/>
            </a:pPr>
            <a:r>
              <a:rPr lang="en-US" sz="1500" b="1" dirty="0">
                <a:solidFill>
                  <a:srgbClr val="D92D27"/>
                </a:solidFill>
                <a:latin typeface="Calibri" pitchFamily="34" charset="0"/>
                <a:ea typeface="Calibri" pitchFamily="34" charset="-122"/>
                <a:cs typeface="Calibri" pitchFamily="34" charset="-120"/>
              </a:rPr>
              <a:t>Ansible</a:t>
            </a:r>
            <a:pPr indent="0" marL="0">
              <a:buNone/>
            </a:pPr>
            <a:r>
              <a:rPr lang="en-US" sz="1500" dirty="0">
                <a:solidFill>
                  <a:srgbClr val="1F2328"/>
                </a:solidFill>
                <a:latin typeface="Calibri" pitchFamily="34" charset="0"/>
                <a:ea typeface="Calibri" pitchFamily="34" charset="-122"/>
                <a:cs typeface="Calibri" pitchFamily="34" charset="-120"/>
              </a:rPr>
              <a:t> is an open-source, agentless automation tool that configures systems, deploys software and orchestrates IT tasks using human-readable YAML files, connecting over SSH (Linux) or WinRM/SSH (Windows).</a:t>
            </a:r>
            <a:endParaRPr lang="en-US" sz="1500" dirty="0"/>
          </a:p>
        </p:txBody>
      </p:sp>
      <p:sp>
        <p:nvSpPr>
          <p:cNvPr id="6" name="Shape 4"/>
          <p:cNvSpPr/>
          <p:nvPr/>
        </p:nvSpPr>
        <p:spPr>
          <a:xfrm>
            <a:off x="457200" y="2240280"/>
            <a:ext cx="1920240" cy="1417320"/>
          </a:xfrm>
          <a:prstGeom prst="roundRect">
            <a:avLst>
              <a:gd name="adj" fmla="val 5161"/>
            </a:avLst>
          </a:prstGeom>
          <a:solidFill>
            <a:srgbClr val="F2F3F5"/>
          </a:solidFill>
          <a:ln w="12700">
            <a:solidFill>
              <a:srgbClr val="F2F3F5"/>
            </a:solidFill>
            <a:prstDash val="solid"/>
          </a:ln>
        </p:spPr>
      </p:sp>
      <p:sp>
        <p:nvSpPr>
          <p:cNvPr id="7" name="Text 5"/>
          <p:cNvSpPr txBox="1"/>
          <p:nvPr/>
        </p:nvSpPr>
        <p:spPr>
          <a:xfrm>
            <a:off x="457200" y="2331720"/>
            <a:ext cx="1920240" cy="685800"/>
          </a:xfrm>
          <a:prstGeom prst="rect">
            <a:avLst/>
          </a:prstGeom>
          <a:noFill/>
          <a:ln/>
        </p:spPr>
        <p:txBody>
          <a:bodyPr wrap="square" lIns="0" tIns="0" rIns="0" bIns="0" rtlCol="0" anchor="ctr"/>
          <a:lstStyle/>
          <a:p>
            <a:pPr algn="ctr" indent="0" marL="0">
              <a:buNone/>
            </a:pPr>
            <a:r>
              <a:rPr lang="en-US" sz="3400" b="1" dirty="0">
                <a:solidFill>
                  <a:srgbClr val="D92D27"/>
                </a:solidFill>
                <a:latin typeface="Arial" pitchFamily="34" charset="0"/>
                <a:ea typeface="Arial" pitchFamily="34" charset="-122"/>
                <a:cs typeface="Arial" pitchFamily="34" charset="-120"/>
              </a:rPr>
              <a:t>0</a:t>
            </a:r>
            <a:endParaRPr lang="en-US" sz="3400" dirty="0"/>
          </a:p>
        </p:txBody>
      </p:sp>
      <p:sp>
        <p:nvSpPr>
          <p:cNvPr id="8" name="Text 6"/>
          <p:cNvSpPr txBox="1"/>
          <p:nvPr/>
        </p:nvSpPr>
        <p:spPr>
          <a:xfrm>
            <a:off x="594360" y="3017520"/>
            <a:ext cx="1645920" cy="548640"/>
          </a:xfrm>
          <a:prstGeom prst="rect">
            <a:avLst/>
          </a:prstGeom>
          <a:noFill/>
          <a:ln/>
        </p:spPr>
        <p:txBody>
          <a:bodyPr wrap="square" lIns="0" tIns="0" rIns="0" bIns="0" rtlCol="0" anchor="t"/>
          <a:lstStyle/>
          <a:p>
            <a:pPr algn="ctr" indent="0" marL="0">
              <a:buNone/>
            </a:pPr>
            <a:r>
              <a:rPr lang="en-US" sz="1150" dirty="0">
                <a:solidFill>
                  <a:srgbClr val="5B6470"/>
                </a:solidFill>
                <a:latin typeface="Calibri" pitchFamily="34" charset="0"/>
                <a:ea typeface="Calibri" pitchFamily="34" charset="-122"/>
                <a:cs typeface="Calibri" pitchFamily="34" charset="-120"/>
              </a:rPr>
              <a:t>agents to install on managed nodes</a:t>
            </a:r>
            <a:endParaRPr lang="en-US" sz="1150" dirty="0"/>
          </a:p>
        </p:txBody>
      </p:sp>
      <p:sp>
        <p:nvSpPr>
          <p:cNvPr id="9" name="Shape 7"/>
          <p:cNvSpPr/>
          <p:nvPr/>
        </p:nvSpPr>
        <p:spPr>
          <a:xfrm>
            <a:off x="2560320" y="2240280"/>
            <a:ext cx="1920240" cy="1417320"/>
          </a:xfrm>
          <a:prstGeom prst="roundRect">
            <a:avLst>
              <a:gd name="adj" fmla="val 5161"/>
            </a:avLst>
          </a:prstGeom>
          <a:solidFill>
            <a:srgbClr val="F2F3F5"/>
          </a:solidFill>
          <a:ln w="12700">
            <a:solidFill>
              <a:srgbClr val="F2F3F5"/>
            </a:solidFill>
            <a:prstDash val="solid"/>
          </a:ln>
        </p:spPr>
      </p:sp>
      <p:sp>
        <p:nvSpPr>
          <p:cNvPr id="10" name="Text 8"/>
          <p:cNvSpPr txBox="1"/>
          <p:nvPr/>
        </p:nvSpPr>
        <p:spPr>
          <a:xfrm>
            <a:off x="2560320" y="2331720"/>
            <a:ext cx="1920240" cy="685800"/>
          </a:xfrm>
          <a:prstGeom prst="rect">
            <a:avLst/>
          </a:prstGeom>
          <a:noFill/>
          <a:ln/>
        </p:spPr>
        <p:txBody>
          <a:bodyPr wrap="square" lIns="0" tIns="0" rIns="0" bIns="0" rtlCol="0" anchor="ctr"/>
          <a:lstStyle/>
          <a:p>
            <a:pPr algn="ctr" indent="0" marL="0">
              <a:buNone/>
            </a:pPr>
            <a:r>
              <a:rPr lang="en-US" sz="3400" b="1" dirty="0">
                <a:solidFill>
                  <a:srgbClr val="D92D27"/>
                </a:solidFill>
                <a:latin typeface="Arial" pitchFamily="34" charset="0"/>
                <a:ea typeface="Arial" pitchFamily="34" charset="-122"/>
                <a:cs typeface="Arial" pitchFamily="34" charset="-120"/>
              </a:rPr>
              <a:t>YAML</a:t>
            </a:r>
            <a:endParaRPr lang="en-US" sz="3400" dirty="0"/>
          </a:p>
        </p:txBody>
      </p:sp>
      <p:sp>
        <p:nvSpPr>
          <p:cNvPr id="11" name="Text 9"/>
          <p:cNvSpPr txBox="1"/>
          <p:nvPr/>
        </p:nvSpPr>
        <p:spPr>
          <a:xfrm>
            <a:off x="2697480" y="3017520"/>
            <a:ext cx="1645920" cy="548640"/>
          </a:xfrm>
          <a:prstGeom prst="rect">
            <a:avLst/>
          </a:prstGeom>
          <a:noFill/>
          <a:ln/>
        </p:spPr>
        <p:txBody>
          <a:bodyPr wrap="square" lIns="0" tIns="0" rIns="0" bIns="0" rtlCol="0" anchor="t"/>
          <a:lstStyle/>
          <a:p>
            <a:pPr algn="ctr" indent="0" marL="0">
              <a:buNone/>
            </a:pPr>
            <a:r>
              <a:rPr lang="en-US" sz="1150" dirty="0">
                <a:solidFill>
                  <a:srgbClr val="5B6470"/>
                </a:solidFill>
                <a:latin typeface="Calibri" pitchFamily="34" charset="0"/>
                <a:ea typeface="Calibri" pitchFamily="34" charset="-122"/>
                <a:cs typeface="Calibri" pitchFamily="34" charset="-120"/>
              </a:rPr>
              <a:t>plain-text playbooks anyone can read</a:t>
            </a:r>
            <a:endParaRPr lang="en-US" sz="1150" dirty="0"/>
          </a:p>
        </p:txBody>
      </p:sp>
      <p:sp>
        <p:nvSpPr>
          <p:cNvPr id="12" name="Shape 10"/>
          <p:cNvSpPr/>
          <p:nvPr/>
        </p:nvSpPr>
        <p:spPr>
          <a:xfrm>
            <a:off x="4663440" y="2240280"/>
            <a:ext cx="1920240" cy="1417320"/>
          </a:xfrm>
          <a:prstGeom prst="roundRect">
            <a:avLst>
              <a:gd name="adj" fmla="val 5161"/>
            </a:avLst>
          </a:prstGeom>
          <a:solidFill>
            <a:srgbClr val="F2F3F5"/>
          </a:solidFill>
          <a:ln w="12700">
            <a:solidFill>
              <a:srgbClr val="F2F3F5"/>
            </a:solidFill>
            <a:prstDash val="solid"/>
          </a:ln>
        </p:spPr>
      </p:sp>
      <p:sp>
        <p:nvSpPr>
          <p:cNvPr id="13" name="Text 11"/>
          <p:cNvSpPr txBox="1"/>
          <p:nvPr/>
        </p:nvSpPr>
        <p:spPr>
          <a:xfrm>
            <a:off x="4663440" y="2331720"/>
            <a:ext cx="1920240" cy="685800"/>
          </a:xfrm>
          <a:prstGeom prst="rect">
            <a:avLst/>
          </a:prstGeom>
          <a:noFill/>
          <a:ln/>
        </p:spPr>
        <p:txBody>
          <a:bodyPr wrap="square" lIns="0" tIns="0" rIns="0" bIns="0" rtlCol="0" anchor="ctr"/>
          <a:lstStyle/>
          <a:p>
            <a:pPr algn="ctr" indent="0" marL="0">
              <a:buNone/>
            </a:pPr>
            <a:r>
              <a:rPr lang="en-US" sz="3400" b="1" dirty="0">
                <a:solidFill>
                  <a:srgbClr val="D92D27"/>
                </a:solidFill>
                <a:latin typeface="Arial" pitchFamily="34" charset="0"/>
                <a:ea typeface="Arial" pitchFamily="34" charset="-122"/>
                <a:cs typeface="Arial" pitchFamily="34" charset="-120"/>
              </a:rPr>
              <a:t>SSH</a:t>
            </a:r>
            <a:endParaRPr lang="en-US" sz="3400" dirty="0"/>
          </a:p>
        </p:txBody>
      </p:sp>
      <p:sp>
        <p:nvSpPr>
          <p:cNvPr id="14" name="Text 12"/>
          <p:cNvSpPr txBox="1"/>
          <p:nvPr/>
        </p:nvSpPr>
        <p:spPr>
          <a:xfrm>
            <a:off x="4800600" y="3017520"/>
            <a:ext cx="1645920" cy="548640"/>
          </a:xfrm>
          <a:prstGeom prst="rect">
            <a:avLst/>
          </a:prstGeom>
          <a:noFill/>
          <a:ln/>
        </p:spPr>
        <p:txBody>
          <a:bodyPr wrap="square" lIns="0" tIns="0" rIns="0" bIns="0" rtlCol="0" anchor="t"/>
          <a:lstStyle/>
          <a:p>
            <a:pPr algn="ctr" indent="0" marL="0">
              <a:buNone/>
            </a:pPr>
            <a:r>
              <a:rPr lang="en-US" sz="1150" dirty="0">
                <a:solidFill>
                  <a:srgbClr val="5B6470"/>
                </a:solidFill>
                <a:latin typeface="Calibri" pitchFamily="34" charset="0"/>
                <a:ea typeface="Calibri" pitchFamily="34" charset="-122"/>
                <a:cs typeface="Calibri" pitchFamily="34" charset="-120"/>
              </a:rPr>
              <a:t>uses the connection you already have</a:t>
            </a:r>
            <a:endParaRPr lang="en-US" sz="1150" dirty="0"/>
          </a:p>
        </p:txBody>
      </p:sp>
      <p:sp>
        <p:nvSpPr>
          <p:cNvPr id="15" name="Shape 13"/>
          <p:cNvSpPr/>
          <p:nvPr/>
        </p:nvSpPr>
        <p:spPr>
          <a:xfrm>
            <a:off x="6766560" y="2240280"/>
            <a:ext cx="1920240" cy="1417320"/>
          </a:xfrm>
          <a:prstGeom prst="roundRect">
            <a:avLst>
              <a:gd name="adj" fmla="val 5161"/>
            </a:avLst>
          </a:prstGeom>
          <a:solidFill>
            <a:srgbClr val="F2F3F5"/>
          </a:solidFill>
          <a:ln w="12700">
            <a:solidFill>
              <a:srgbClr val="F2F3F5"/>
            </a:solidFill>
            <a:prstDash val="solid"/>
          </a:ln>
        </p:spPr>
      </p:sp>
      <p:sp>
        <p:nvSpPr>
          <p:cNvPr id="16" name="Text 14"/>
          <p:cNvSpPr txBox="1"/>
          <p:nvPr/>
        </p:nvSpPr>
        <p:spPr>
          <a:xfrm>
            <a:off x="6766560" y="2331720"/>
            <a:ext cx="1920240" cy="685800"/>
          </a:xfrm>
          <a:prstGeom prst="rect">
            <a:avLst/>
          </a:prstGeom>
          <a:noFill/>
          <a:ln/>
        </p:spPr>
        <p:txBody>
          <a:bodyPr wrap="square" lIns="0" tIns="0" rIns="0" bIns="0" rtlCol="0" anchor="ctr"/>
          <a:lstStyle/>
          <a:p>
            <a:pPr algn="ctr" indent="0" marL="0">
              <a:buNone/>
            </a:pPr>
            <a:r>
              <a:rPr lang="en-US" sz="3400" b="1" dirty="0">
                <a:solidFill>
                  <a:srgbClr val="D92D27"/>
                </a:solidFill>
                <a:latin typeface="Arial" pitchFamily="34" charset="0"/>
                <a:ea typeface="Arial" pitchFamily="34" charset="-122"/>
                <a:cs typeface="Arial" pitchFamily="34" charset="-120"/>
              </a:rPr>
              <a:t>2012</a:t>
            </a:r>
            <a:endParaRPr lang="en-US" sz="3400" dirty="0"/>
          </a:p>
        </p:txBody>
      </p:sp>
      <p:sp>
        <p:nvSpPr>
          <p:cNvPr id="17" name="Text 15"/>
          <p:cNvSpPr txBox="1"/>
          <p:nvPr/>
        </p:nvSpPr>
        <p:spPr>
          <a:xfrm>
            <a:off x="6903720" y="3017520"/>
            <a:ext cx="1645920" cy="548640"/>
          </a:xfrm>
          <a:prstGeom prst="rect">
            <a:avLst/>
          </a:prstGeom>
          <a:noFill/>
          <a:ln/>
        </p:spPr>
        <p:txBody>
          <a:bodyPr wrap="square" lIns="0" tIns="0" rIns="0" bIns="0" rtlCol="0" anchor="t"/>
          <a:lstStyle/>
          <a:p>
            <a:pPr algn="ctr" indent="0" marL="0">
              <a:buNone/>
            </a:pPr>
            <a:r>
              <a:rPr lang="en-US" sz="1150" dirty="0">
                <a:solidFill>
                  <a:srgbClr val="5B6470"/>
                </a:solidFill>
                <a:latin typeface="Calibri" pitchFamily="34" charset="0"/>
                <a:ea typeface="Calibri" pitchFamily="34" charset="-122"/>
                <a:cs typeface="Calibri" pitchFamily="34" charset="-120"/>
              </a:rPr>
              <a:t>created by Michael DeHaan; Red Hat since 2015</a:t>
            </a:r>
            <a:endParaRPr lang="en-US" sz="1150" dirty="0"/>
          </a:p>
        </p:txBody>
      </p:sp>
      <p:sp>
        <p:nvSpPr>
          <p:cNvPr id="18" name="Text 16"/>
          <p:cNvSpPr txBox="1"/>
          <p:nvPr/>
        </p:nvSpPr>
        <p:spPr>
          <a:xfrm>
            <a:off x="457200" y="3886200"/>
            <a:ext cx="8229600" cy="731520"/>
          </a:xfrm>
          <a:prstGeom prst="rect">
            <a:avLst/>
          </a:prstGeom>
          <a:noFill/>
          <a:ln/>
        </p:spPr>
        <p:txBody>
          <a:bodyPr wrap="square" lIns="0" tIns="0" rIns="0" bIns="0" rtlCol="0" anchor="t"/>
          <a:lstStyle/>
          <a:p>
            <a:pPr indent="0" marL="0">
              <a:buNone/>
            </a:pPr>
            <a:r>
              <a:rPr lang="en-US" sz="1250" b="1" dirty="0">
                <a:solidFill>
                  <a:srgbClr val="1F2328"/>
                </a:solidFill>
                <a:latin typeface="Calibri" pitchFamily="34" charset="0"/>
                <a:ea typeface="Calibri" pitchFamily="34" charset="-122"/>
                <a:cs typeface="Calibri" pitchFamily="34" charset="-120"/>
              </a:rPr>
              <a:t>Two flavours you will hear about: </a:t>
            </a:r>
            <a:pPr indent="0" marL="0">
              <a:buNone/>
            </a:pPr>
            <a:r>
              <a:rPr lang="en-US" sz="1250" dirty="0">
                <a:solidFill>
                  <a:srgbClr val="1F2328"/>
                </a:solidFill>
                <a:latin typeface="Calibri" pitchFamily="34" charset="0"/>
                <a:ea typeface="Calibri" pitchFamily="34" charset="-122"/>
                <a:cs typeface="Calibri" pitchFamily="34" charset="-120"/>
              </a:rPr>
              <a:t>ansible-core (the engine + builtin modules) and the ansible package (core + curated community collections). Red Hat Ansible Automation Platform is the commercial, enterprise offering with a web UI.</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9AA1AA"/>
                </a:solidFill>
                <a:latin typeface="Calibri" pitchFamily="34" charset="0"/>
                <a:ea typeface="Calibri" pitchFamily="34" charset="-122"/>
                <a:cs typeface="Calibri" pitchFamily="34" charset="-120"/>
              </a:rPr>
              <a:t>7</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Four ideas behind Ansible</a:t>
            </a:r>
            <a:endParaRPr lang="en-US" sz="28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B6470"/>
                </a:solidFill>
                <a:latin typeface="Calibri" pitchFamily="34" charset="0"/>
                <a:ea typeface="Calibri" pitchFamily="34" charset="-122"/>
                <a:cs typeface="Calibri" pitchFamily="34" charset="-120"/>
              </a:rPr>
              <a:t>Learn these words — they come up in every interview</a:t>
            </a:r>
            <a:endParaRPr lang="en-US" sz="1300" dirty="0"/>
          </a:p>
        </p:txBody>
      </p:sp>
      <p:sp>
        <p:nvSpPr>
          <p:cNvPr id="5" name="Shape 3"/>
          <p:cNvSpPr/>
          <p:nvPr/>
        </p:nvSpPr>
        <p:spPr>
          <a:xfrm>
            <a:off x="457200" y="1325880"/>
            <a:ext cx="4023360" cy="1463040"/>
          </a:xfrm>
          <a:prstGeom prst="roundRect">
            <a:avLst>
              <a:gd name="adj" fmla="val 5000"/>
            </a:avLst>
          </a:prstGeom>
          <a:solidFill>
            <a:srgbClr val="F2F3F5"/>
          </a:solidFill>
          <a:ln w="12700">
            <a:solidFill>
              <a:srgbClr val="F2F3F5"/>
            </a:solidFill>
            <a:prstDash val="solid"/>
          </a:ln>
        </p:spPr>
      </p:sp>
      <p:sp>
        <p:nvSpPr>
          <p:cNvPr id="6" name="Shape 4"/>
          <p:cNvSpPr/>
          <p:nvPr/>
        </p:nvSpPr>
        <p:spPr>
          <a:xfrm>
            <a:off x="685800" y="1554480"/>
            <a:ext cx="548640" cy="548640"/>
          </a:xfrm>
          <a:prstGeom prst="ellipse">
            <a:avLst/>
          </a:prstGeom>
          <a:solidFill>
            <a:srgbClr val="D92D27"/>
          </a:solidFill>
          <a:ln w="12700">
            <a:solidFill>
              <a:srgbClr val="D92D27"/>
            </a:solidFill>
            <a:prstDash val="solid"/>
          </a:ln>
        </p:spPr>
      </p:sp>
      <p:pic>
        <p:nvPicPr>
          <p:cNvPr id="7" name="Image 0" descr="preencoded.png">    </p:cNvPr>
          <p:cNvPicPr>
            <a:picLocks noChangeAspect="1"/>
          </p:cNvPicPr>
          <p:nvPr/>
        </p:nvPicPr>
        <p:blipFill>
          <a:blip r:embed="rId1"/>
          <a:stretch>
            <a:fillRect/>
          </a:stretch>
        </p:blipFill>
        <p:spPr>
          <a:xfrm>
            <a:off x="828446" y="1697126"/>
            <a:ext cx="263347" cy="263347"/>
          </a:xfrm>
          <a:prstGeom prst="rect">
            <a:avLst/>
          </a:prstGeom>
        </p:spPr>
      </p:pic>
      <p:sp>
        <p:nvSpPr>
          <p:cNvPr id="8" name="Text 5"/>
          <p:cNvSpPr txBox="1"/>
          <p:nvPr/>
        </p:nvSpPr>
        <p:spPr>
          <a:xfrm>
            <a:off x="1417320" y="1527048"/>
            <a:ext cx="2926080" cy="365760"/>
          </a:xfrm>
          <a:prstGeom prst="rect">
            <a:avLst/>
          </a:prstGeom>
          <a:noFill/>
          <a:ln/>
        </p:spPr>
        <p:txBody>
          <a:bodyPr wrap="square" lIns="0" tIns="0" rIns="0" bIns="0" rtlCol="0" anchor="t"/>
          <a:lstStyle/>
          <a:p>
            <a:pPr indent="0" marL="0">
              <a:buNone/>
            </a:pPr>
            <a:r>
              <a:rPr lang="en-US" sz="1500" b="1" dirty="0">
                <a:solidFill>
                  <a:srgbClr val="1F2328"/>
                </a:solidFill>
                <a:latin typeface="Calibri" pitchFamily="34" charset="0"/>
                <a:ea typeface="Calibri" pitchFamily="34" charset="-122"/>
                <a:cs typeface="Calibri" pitchFamily="34" charset="-120"/>
              </a:rPr>
              <a:t>Infrastructure as Code (IaC)</a:t>
            </a:r>
            <a:endParaRPr lang="en-US" sz="1500" dirty="0"/>
          </a:p>
        </p:txBody>
      </p:sp>
      <p:sp>
        <p:nvSpPr>
          <p:cNvPr id="9" name="Text 6"/>
          <p:cNvSpPr txBox="1"/>
          <p:nvPr/>
        </p:nvSpPr>
        <p:spPr>
          <a:xfrm>
            <a:off x="1417320" y="1920240"/>
            <a:ext cx="2926080" cy="777240"/>
          </a:xfrm>
          <a:prstGeom prst="rect">
            <a:avLst/>
          </a:prstGeom>
          <a:noFill/>
          <a:ln/>
        </p:spPr>
        <p:txBody>
          <a:bodyPr wrap="square" lIns="0" tIns="0" rIns="0" bIns="0" rtlCol="0" anchor="t"/>
          <a:lstStyle/>
          <a:p>
            <a:pPr indent="0" marL="0">
              <a:buNone/>
            </a:pPr>
            <a:r>
              <a:rPr lang="en-US" sz="1200" dirty="0">
                <a:solidFill>
                  <a:srgbClr val="5B6470"/>
                </a:solidFill>
                <a:latin typeface="Calibri" pitchFamily="34" charset="0"/>
                <a:ea typeface="Calibri" pitchFamily="34" charset="-122"/>
                <a:cs typeface="Calibri" pitchFamily="34" charset="-120"/>
              </a:rPr>
              <a:t>Servers are described in text files kept in Git, so changes are reviewed, versioned and repeatable.</a:t>
            </a:r>
            <a:endParaRPr lang="en-US" sz="1200" dirty="0"/>
          </a:p>
        </p:txBody>
      </p:sp>
      <p:sp>
        <p:nvSpPr>
          <p:cNvPr id="10" name="Shape 7"/>
          <p:cNvSpPr/>
          <p:nvPr/>
        </p:nvSpPr>
        <p:spPr>
          <a:xfrm>
            <a:off x="4663440" y="1325880"/>
            <a:ext cx="4023360" cy="1463040"/>
          </a:xfrm>
          <a:prstGeom prst="roundRect">
            <a:avLst>
              <a:gd name="adj" fmla="val 5000"/>
            </a:avLst>
          </a:prstGeom>
          <a:solidFill>
            <a:srgbClr val="F2F3F5"/>
          </a:solidFill>
          <a:ln w="12700">
            <a:solidFill>
              <a:srgbClr val="F2F3F5"/>
            </a:solidFill>
            <a:prstDash val="solid"/>
          </a:ln>
        </p:spPr>
      </p:sp>
      <p:sp>
        <p:nvSpPr>
          <p:cNvPr id="11" name="Shape 8"/>
          <p:cNvSpPr/>
          <p:nvPr/>
        </p:nvSpPr>
        <p:spPr>
          <a:xfrm>
            <a:off x="4892040" y="1554480"/>
            <a:ext cx="548640" cy="548640"/>
          </a:xfrm>
          <a:prstGeom prst="ellipse">
            <a:avLst/>
          </a:prstGeom>
          <a:solidFill>
            <a:srgbClr val="D92D27"/>
          </a:solidFill>
          <a:ln w="12700">
            <a:solidFill>
              <a:srgbClr val="D92D27"/>
            </a:solidFill>
            <a:prstDash val="solid"/>
          </a:ln>
        </p:spPr>
      </p:sp>
      <p:pic>
        <p:nvPicPr>
          <p:cNvPr id="12" name="Image 1" descr="preencoded.png">    </p:cNvPr>
          <p:cNvPicPr>
            <a:picLocks noChangeAspect="1"/>
          </p:cNvPicPr>
          <p:nvPr/>
        </p:nvPicPr>
        <p:blipFill>
          <a:blip r:embed="rId2"/>
          <a:stretch>
            <a:fillRect/>
          </a:stretch>
        </p:blipFill>
        <p:spPr>
          <a:xfrm>
            <a:off x="5034686" y="1697126"/>
            <a:ext cx="263347" cy="263347"/>
          </a:xfrm>
          <a:prstGeom prst="rect">
            <a:avLst/>
          </a:prstGeom>
        </p:spPr>
      </p:pic>
      <p:sp>
        <p:nvSpPr>
          <p:cNvPr id="13" name="Text 9"/>
          <p:cNvSpPr txBox="1"/>
          <p:nvPr/>
        </p:nvSpPr>
        <p:spPr>
          <a:xfrm>
            <a:off x="5623560" y="1527048"/>
            <a:ext cx="2926080" cy="365760"/>
          </a:xfrm>
          <a:prstGeom prst="rect">
            <a:avLst/>
          </a:prstGeom>
          <a:noFill/>
          <a:ln/>
        </p:spPr>
        <p:txBody>
          <a:bodyPr wrap="square" lIns="0" tIns="0" rIns="0" bIns="0" rtlCol="0" anchor="t"/>
          <a:lstStyle/>
          <a:p>
            <a:pPr indent="0" marL="0">
              <a:buNone/>
            </a:pPr>
            <a:r>
              <a:rPr lang="en-US" sz="1500" b="1" dirty="0">
                <a:solidFill>
                  <a:srgbClr val="1F2328"/>
                </a:solidFill>
                <a:latin typeface="Calibri" pitchFamily="34" charset="0"/>
                <a:ea typeface="Calibri" pitchFamily="34" charset="-122"/>
                <a:cs typeface="Calibri" pitchFamily="34" charset="-120"/>
              </a:rPr>
              <a:t>Configuration management</a:t>
            </a:r>
            <a:endParaRPr lang="en-US" sz="1500" dirty="0"/>
          </a:p>
        </p:txBody>
      </p:sp>
      <p:sp>
        <p:nvSpPr>
          <p:cNvPr id="14" name="Text 10"/>
          <p:cNvSpPr txBox="1"/>
          <p:nvPr/>
        </p:nvSpPr>
        <p:spPr>
          <a:xfrm>
            <a:off x="5623560" y="1920240"/>
            <a:ext cx="2926080" cy="777240"/>
          </a:xfrm>
          <a:prstGeom prst="rect">
            <a:avLst/>
          </a:prstGeom>
          <a:noFill/>
          <a:ln/>
        </p:spPr>
        <p:txBody>
          <a:bodyPr wrap="square" lIns="0" tIns="0" rIns="0" bIns="0" rtlCol="0" anchor="t"/>
          <a:lstStyle/>
          <a:p>
            <a:pPr indent="0" marL="0">
              <a:buNone/>
            </a:pPr>
            <a:r>
              <a:rPr lang="en-US" sz="1200" dirty="0">
                <a:solidFill>
                  <a:srgbClr val="5B6470"/>
                </a:solidFill>
                <a:latin typeface="Calibri" pitchFamily="34" charset="0"/>
                <a:ea typeface="Calibri" pitchFamily="34" charset="-122"/>
                <a:cs typeface="Calibri" pitchFamily="34" charset="-120"/>
              </a:rPr>
              <a:t>Keep many machines in a known, consistent state — packages, files, users, services.</a:t>
            </a:r>
            <a:endParaRPr lang="en-US" sz="1200" dirty="0"/>
          </a:p>
        </p:txBody>
      </p:sp>
      <p:sp>
        <p:nvSpPr>
          <p:cNvPr id="15" name="Shape 11"/>
          <p:cNvSpPr/>
          <p:nvPr/>
        </p:nvSpPr>
        <p:spPr>
          <a:xfrm>
            <a:off x="457200" y="2971800"/>
            <a:ext cx="4023360" cy="1463040"/>
          </a:xfrm>
          <a:prstGeom prst="roundRect">
            <a:avLst>
              <a:gd name="adj" fmla="val 5000"/>
            </a:avLst>
          </a:prstGeom>
          <a:solidFill>
            <a:srgbClr val="F2F3F5"/>
          </a:solidFill>
          <a:ln w="12700">
            <a:solidFill>
              <a:srgbClr val="F2F3F5"/>
            </a:solidFill>
            <a:prstDash val="solid"/>
          </a:ln>
        </p:spPr>
      </p:sp>
      <p:sp>
        <p:nvSpPr>
          <p:cNvPr id="16" name="Shape 12"/>
          <p:cNvSpPr/>
          <p:nvPr/>
        </p:nvSpPr>
        <p:spPr>
          <a:xfrm>
            <a:off x="685800" y="3200400"/>
            <a:ext cx="548640" cy="548640"/>
          </a:xfrm>
          <a:prstGeom prst="ellipse">
            <a:avLst/>
          </a:prstGeom>
          <a:solidFill>
            <a:srgbClr val="D92D27"/>
          </a:solidFill>
          <a:ln w="12700">
            <a:solidFill>
              <a:srgbClr val="D92D27"/>
            </a:solidFill>
            <a:prstDash val="solid"/>
          </a:ln>
        </p:spPr>
      </p:sp>
      <p:pic>
        <p:nvPicPr>
          <p:cNvPr id="17" name="Image 2" descr="preencoded.png">    </p:cNvPr>
          <p:cNvPicPr>
            <a:picLocks noChangeAspect="1"/>
          </p:cNvPicPr>
          <p:nvPr/>
        </p:nvPicPr>
        <p:blipFill>
          <a:blip r:embed="rId3"/>
          <a:stretch>
            <a:fillRect/>
          </a:stretch>
        </p:blipFill>
        <p:spPr>
          <a:xfrm>
            <a:off x="828446" y="3343046"/>
            <a:ext cx="263347" cy="263347"/>
          </a:xfrm>
          <a:prstGeom prst="rect">
            <a:avLst/>
          </a:prstGeom>
        </p:spPr>
      </p:pic>
      <p:sp>
        <p:nvSpPr>
          <p:cNvPr id="18" name="Text 13"/>
          <p:cNvSpPr txBox="1"/>
          <p:nvPr/>
        </p:nvSpPr>
        <p:spPr>
          <a:xfrm>
            <a:off x="1417320" y="3172968"/>
            <a:ext cx="2926080" cy="365760"/>
          </a:xfrm>
          <a:prstGeom prst="rect">
            <a:avLst/>
          </a:prstGeom>
          <a:noFill/>
          <a:ln/>
        </p:spPr>
        <p:txBody>
          <a:bodyPr wrap="square" lIns="0" tIns="0" rIns="0" bIns="0" rtlCol="0" anchor="t"/>
          <a:lstStyle/>
          <a:p>
            <a:pPr indent="0" marL="0">
              <a:buNone/>
            </a:pPr>
            <a:r>
              <a:rPr lang="en-US" sz="1500" b="1" dirty="0">
                <a:solidFill>
                  <a:srgbClr val="1F2328"/>
                </a:solidFill>
                <a:latin typeface="Calibri" pitchFamily="34" charset="0"/>
                <a:ea typeface="Calibri" pitchFamily="34" charset="-122"/>
                <a:cs typeface="Calibri" pitchFamily="34" charset="-120"/>
              </a:rPr>
              <a:t>Idempotency</a:t>
            </a:r>
            <a:endParaRPr lang="en-US" sz="1500" dirty="0"/>
          </a:p>
        </p:txBody>
      </p:sp>
      <p:sp>
        <p:nvSpPr>
          <p:cNvPr id="19" name="Text 14"/>
          <p:cNvSpPr txBox="1"/>
          <p:nvPr/>
        </p:nvSpPr>
        <p:spPr>
          <a:xfrm>
            <a:off x="1417320" y="3566160"/>
            <a:ext cx="2926080" cy="777240"/>
          </a:xfrm>
          <a:prstGeom prst="rect">
            <a:avLst/>
          </a:prstGeom>
          <a:noFill/>
          <a:ln/>
        </p:spPr>
        <p:txBody>
          <a:bodyPr wrap="square" lIns="0" tIns="0" rIns="0" bIns="0" rtlCol="0" anchor="t"/>
          <a:lstStyle/>
          <a:p>
            <a:pPr indent="0" marL="0">
              <a:buNone/>
            </a:pPr>
            <a:r>
              <a:rPr lang="en-US" sz="1200" dirty="0">
                <a:solidFill>
                  <a:srgbClr val="5B6470"/>
                </a:solidFill>
                <a:latin typeface="Calibri" pitchFamily="34" charset="0"/>
                <a:ea typeface="Calibri" pitchFamily="34" charset="-122"/>
                <a:cs typeface="Calibri" pitchFamily="34" charset="-120"/>
              </a:rPr>
              <a:t>Running the same playbook twice gives the same result. The second run changes nothing if nothing drifted.</a:t>
            </a:r>
            <a:endParaRPr lang="en-US" sz="1200" dirty="0"/>
          </a:p>
        </p:txBody>
      </p:sp>
      <p:sp>
        <p:nvSpPr>
          <p:cNvPr id="20" name="Shape 15"/>
          <p:cNvSpPr/>
          <p:nvPr/>
        </p:nvSpPr>
        <p:spPr>
          <a:xfrm>
            <a:off x="4663440" y="2971800"/>
            <a:ext cx="4023360" cy="1463040"/>
          </a:xfrm>
          <a:prstGeom prst="roundRect">
            <a:avLst>
              <a:gd name="adj" fmla="val 5000"/>
            </a:avLst>
          </a:prstGeom>
          <a:solidFill>
            <a:srgbClr val="F2F3F5"/>
          </a:solidFill>
          <a:ln w="12700">
            <a:solidFill>
              <a:srgbClr val="F2F3F5"/>
            </a:solidFill>
            <a:prstDash val="solid"/>
          </a:ln>
        </p:spPr>
      </p:sp>
      <p:sp>
        <p:nvSpPr>
          <p:cNvPr id="21" name="Shape 16"/>
          <p:cNvSpPr/>
          <p:nvPr/>
        </p:nvSpPr>
        <p:spPr>
          <a:xfrm>
            <a:off x="4892040" y="3200400"/>
            <a:ext cx="548640" cy="548640"/>
          </a:xfrm>
          <a:prstGeom prst="ellipse">
            <a:avLst/>
          </a:prstGeom>
          <a:solidFill>
            <a:srgbClr val="D92D27"/>
          </a:solidFill>
          <a:ln w="12700">
            <a:solidFill>
              <a:srgbClr val="D92D27"/>
            </a:solidFill>
            <a:prstDash val="solid"/>
          </a:ln>
        </p:spPr>
      </p:sp>
      <p:pic>
        <p:nvPicPr>
          <p:cNvPr id="22" name="Image 3" descr="preencoded.png">    </p:cNvPr>
          <p:cNvPicPr>
            <a:picLocks noChangeAspect="1"/>
          </p:cNvPicPr>
          <p:nvPr/>
        </p:nvPicPr>
        <p:blipFill>
          <a:blip r:embed="rId4"/>
          <a:stretch>
            <a:fillRect/>
          </a:stretch>
        </p:blipFill>
        <p:spPr>
          <a:xfrm>
            <a:off x="5034686" y="3343046"/>
            <a:ext cx="263347" cy="263347"/>
          </a:xfrm>
          <a:prstGeom prst="rect">
            <a:avLst/>
          </a:prstGeom>
        </p:spPr>
      </p:pic>
      <p:sp>
        <p:nvSpPr>
          <p:cNvPr id="23" name="Text 17"/>
          <p:cNvSpPr txBox="1"/>
          <p:nvPr/>
        </p:nvSpPr>
        <p:spPr>
          <a:xfrm>
            <a:off x="5623560" y="3172968"/>
            <a:ext cx="2926080" cy="365760"/>
          </a:xfrm>
          <a:prstGeom prst="rect">
            <a:avLst/>
          </a:prstGeom>
          <a:noFill/>
          <a:ln/>
        </p:spPr>
        <p:txBody>
          <a:bodyPr wrap="square" lIns="0" tIns="0" rIns="0" bIns="0" rtlCol="0" anchor="t"/>
          <a:lstStyle/>
          <a:p>
            <a:pPr indent="0" marL="0">
              <a:buNone/>
            </a:pPr>
            <a:r>
              <a:rPr lang="en-US" sz="1500" b="1" dirty="0">
                <a:solidFill>
                  <a:srgbClr val="1F2328"/>
                </a:solidFill>
                <a:latin typeface="Calibri" pitchFamily="34" charset="0"/>
                <a:ea typeface="Calibri" pitchFamily="34" charset="-122"/>
                <a:cs typeface="Calibri" pitchFamily="34" charset="-120"/>
              </a:rPr>
              <a:t>Declarative (desired state)</a:t>
            </a:r>
            <a:endParaRPr lang="en-US" sz="1500" dirty="0"/>
          </a:p>
        </p:txBody>
      </p:sp>
      <p:sp>
        <p:nvSpPr>
          <p:cNvPr id="24" name="Text 18"/>
          <p:cNvSpPr txBox="1"/>
          <p:nvPr/>
        </p:nvSpPr>
        <p:spPr>
          <a:xfrm>
            <a:off x="5623560" y="3566160"/>
            <a:ext cx="2926080" cy="777240"/>
          </a:xfrm>
          <a:prstGeom prst="rect">
            <a:avLst/>
          </a:prstGeom>
          <a:noFill/>
          <a:ln/>
        </p:spPr>
        <p:txBody>
          <a:bodyPr wrap="square" lIns="0" tIns="0" rIns="0" bIns="0" rtlCol="0" anchor="t"/>
          <a:lstStyle/>
          <a:p>
            <a:pPr indent="0" marL="0">
              <a:buNone/>
            </a:pPr>
            <a:r>
              <a:rPr lang="en-US" sz="1200" dirty="0">
                <a:solidFill>
                  <a:srgbClr val="5B6470"/>
                </a:solidFill>
                <a:latin typeface="Calibri" pitchFamily="34" charset="0"/>
                <a:ea typeface="Calibri" pitchFamily="34" charset="-122"/>
                <a:cs typeface="Calibri" pitchFamily="34" charset="-120"/>
              </a:rPr>
              <a:t>You say WHAT you want ("nginx present, running"), modules work out HOW to get there.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9AA1AA"/>
                </a:solidFill>
                <a:latin typeface="Calibri" pitchFamily="34" charset="0"/>
                <a:ea typeface="Calibri" pitchFamily="34" charset="-122"/>
                <a:cs typeface="Calibri" pitchFamily="34" charset="-120"/>
              </a:rPr>
              <a:t>8</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What can you automate with Ansible?</a:t>
            </a:r>
            <a:endParaRPr lang="en-US" sz="2800" dirty="0"/>
          </a:p>
        </p:txBody>
      </p:sp>
      <p:sp>
        <p:nvSpPr>
          <p:cNvPr id="4" name="Shape 2"/>
          <p:cNvSpPr/>
          <p:nvPr/>
        </p:nvSpPr>
        <p:spPr>
          <a:xfrm>
            <a:off x="457200" y="1143000"/>
            <a:ext cx="2606040" cy="1600200"/>
          </a:xfrm>
          <a:prstGeom prst="roundRect">
            <a:avLst>
              <a:gd name="adj" fmla="val 4571"/>
            </a:avLst>
          </a:prstGeom>
          <a:solidFill>
            <a:srgbClr val="F2F3F5"/>
          </a:solidFill>
          <a:ln w="12700">
            <a:solidFill>
              <a:srgbClr val="F2F3F5"/>
            </a:solidFill>
            <a:prstDash val="solid"/>
          </a:ln>
        </p:spPr>
      </p:sp>
      <p:sp>
        <p:nvSpPr>
          <p:cNvPr id="5" name="Shape 3"/>
          <p:cNvSpPr/>
          <p:nvPr/>
        </p:nvSpPr>
        <p:spPr>
          <a:xfrm>
            <a:off x="640080" y="1325880"/>
            <a:ext cx="502920" cy="502920"/>
          </a:xfrm>
          <a:prstGeom prst="ellipse">
            <a:avLst/>
          </a:prstGeom>
          <a:solidFill>
            <a:srgbClr val="D92D27"/>
          </a:solidFill>
          <a:ln w="12700">
            <a:solidFill>
              <a:srgbClr val="D92D27"/>
            </a:solidFill>
            <a:prstDash val="solid"/>
          </a:ln>
        </p:spPr>
      </p:sp>
      <p:pic>
        <p:nvPicPr>
          <p:cNvPr id="6" name="Image 0" descr="preencoded.png">    </p:cNvPr>
          <p:cNvPicPr>
            <a:picLocks noChangeAspect="1"/>
          </p:cNvPicPr>
          <p:nvPr/>
        </p:nvPicPr>
        <p:blipFill>
          <a:blip r:embed="rId1"/>
          <a:stretch>
            <a:fillRect/>
          </a:stretch>
        </p:blipFill>
        <p:spPr>
          <a:xfrm>
            <a:off x="770839" y="1456639"/>
            <a:ext cx="241402" cy="241402"/>
          </a:xfrm>
          <a:prstGeom prst="rect">
            <a:avLst/>
          </a:prstGeom>
        </p:spPr>
      </p:pic>
      <p:sp>
        <p:nvSpPr>
          <p:cNvPr id="7" name="Text 4"/>
          <p:cNvSpPr txBox="1"/>
          <p:nvPr/>
        </p:nvSpPr>
        <p:spPr>
          <a:xfrm>
            <a:off x="640080" y="1920240"/>
            <a:ext cx="2286000" cy="320040"/>
          </a:xfrm>
          <a:prstGeom prst="rect">
            <a:avLst/>
          </a:prstGeom>
          <a:noFill/>
          <a:ln/>
        </p:spPr>
        <p:txBody>
          <a:bodyPr wrap="square" lIns="0" tIns="0" rIns="0" bIns="0" rtlCol="0" anchor="t"/>
          <a:lstStyle/>
          <a:p>
            <a:pPr indent="0" marL="0">
              <a:buNone/>
            </a:pPr>
            <a:r>
              <a:rPr lang="en-US" sz="1350" b="1" dirty="0">
                <a:solidFill>
                  <a:srgbClr val="1F2328"/>
                </a:solidFill>
                <a:latin typeface="Calibri" pitchFamily="34" charset="0"/>
                <a:ea typeface="Calibri" pitchFamily="34" charset="-122"/>
                <a:cs typeface="Calibri" pitchFamily="34" charset="-120"/>
              </a:rPr>
              <a:t>Configuration management</a:t>
            </a:r>
            <a:endParaRPr lang="en-US" sz="1350" dirty="0"/>
          </a:p>
        </p:txBody>
      </p:sp>
      <p:sp>
        <p:nvSpPr>
          <p:cNvPr id="8" name="Text 5"/>
          <p:cNvSpPr txBox="1"/>
          <p:nvPr/>
        </p:nvSpPr>
        <p:spPr>
          <a:xfrm>
            <a:off x="640080" y="2240280"/>
            <a:ext cx="2286000" cy="457200"/>
          </a:xfrm>
          <a:prstGeom prst="rect">
            <a:avLst/>
          </a:prstGeom>
          <a:noFill/>
          <a:ln/>
        </p:spPr>
        <p:txBody>
          <a:bodyPr wrap="square" lIns="0" tIns="0" rIns="0" bIns="0" rtlCol="0" anchor="t"/>
          <a:lstStyle/>
          <a:p>
            <a:pPr indent="0" marL="0">
              <a:buNone/>
            </a:pPr>
            <a:r>
              <a:rPr lang="en-US" sz="1150" dirty="0">
                <a:solidFill>
                  <a:srgbClr val="5B6470"/>
                </a:solidFill>
                <a:latin typeface="Calibri" pitchFamily="34" charset="0"/>
                <a:ea typeface="Calibri" pitchFamily="34" charset="-122"/>
                <a:cs typeface="Calibri" pitchFamily="34" charset="-120"/>
              </a:rPr>
              <a:t>Packages, config files, users, services</a:t>
            </a:r>
            <a:endParaRPr lang="en-US" sz="1150" dirty="0"/>
          </a:p>
        </p:txBody>
      </p:sp>
      <p:sp>
        <p:nvSpPr>
          <p:cNvPr id="9" name="Shape 6"/>
          <p:cNvSpPr/>
          <p:nvPr/>
        </p:nvSpPr>
        <p:spPr>
          <a:xfrm>
            <a:off x="3246120" y="1143000"/>
            <a:ext cx="2606040" cy="1600200"/>
          </a:xfrm>
          <a:prstGeom prst="roundRect">
            <a:avLst>
              <a:gd name="adj" fmla="val 4571"/>
            </a:avLst>
          </a:prstGeom>
          <a:solidFill>
            <a:srgbClr val="F2F3F5"/>
          </a:solidFill>
          <a:ln w="12700">
            <a:solidFill>
              <a:srgbClr val="F2F3F5"/>
            </a:solidFill>
            <a:prstDash val="solid"/>
          </a:ln>
        </p:spPr>
      </p:sp>
      <p:sp>
        <p:nvSpPr>
          <p:cNvPr id="10" name="Shape 7"/>
          <p:cNvSpPr/>
          <p:nvPr/>
        </p:nvSpPr>
        <p:spPr>
          <a:xfrm>
            <a:off x="3429000" y="1325880"/>
            <a:ext cx="502920" cy="502920"/>
          </a:xfrm>
          <a:prstGeom prst="ellipse">
            <a:avLst/>
          </a:prstGeom>
          <a:solidFill>
            <a:srgbClr val="D92D27"/>
          </a:solidFill>
          <a:ln w="12700">
            <a:solidFill>
              <a:srgbClr val="D92D27"/>
            </a:solidFill>
            <a:prstDash val="solid"/>
          </a:ln>
        </p:spPr>
      </p:sp>
      <p:pic>
        <p:nvPicPr>
          <p:cNvPr id="11" name="Image 1" descr="preencoded.png">    </p:cNvPr>
          <p:cNvPicPr>
            <a:picLocks noChangeAspect="1"/>
          </p:cNvPicPr>
          <p:nvPr/>
        </p:nvPicPr>
        <p:blipFill>
          <a:blip r:embed="rId2"/>
          <a:stretch>
            <a:fillRect/>
          </a:stretch>
        </p:blipFill>
        <p:spPr>
          <a:xfrm>
            <a:off x="3559759" y="1456639"/>
            <a:ext cx="241402" cy="241402"/>
          </a:xfrm>
          <a:prstGeom prst="rect">
            <a:avLst/>
          </a:prstGeom>
        </p:spPr>
      </p:pic>
      <p:sp>
        <p:nvSpPr>
          <p:cNvPr id="12" name="Text 8"/>
          <p:cNvSpPr txBox="1"/>
          <p:nvPr/>
        </p:nvSpPr>
        <p:spPr>
          <a:xfrm>
            <a:off x="3429000" y="1920240"/>
            <a:ext cx="2286000" cy="320040"/>
          </a:xfrm>
          <a:prstGeom prst="rect">
            <a:avLst/>
          </a:prstGeom>
          <a:noFill/>
          <a:ln/>
        </p:spPr>
        <p:txBody>
          <a:bodyPr wrap="square" lIns="0" tIns="0" rIns="0" bIns="0" rtlCol="0" anchor="t"/>
          <a:lstStyle/>
          <a:p>
            <a:pPr indent="0" marL="0">
              <a:buNone/>
            </a:pPr>
            <a:r>
              <a:rPr lang="en-US" sz="1350" b="1" dirty="0">
                <a:solidFill>
                  <a:srgbClr val="1F2328"/>
                </a:solidFill>
                <a:latin typeface="Calibri" pitchFamily="34" charset="0"/>
                <a:ea typeface="Calibri" pitchFamily="34" charset="-122"/>
                <a:cs typeface="Calibri" pitchFamily="34" charset="-120"/>
              </a:rPr>
              <a:t>Application deployment</a:t>
            </a:r>
            <a:endParaRPr lang="en-US" sz="1350" dirty="0"/>
          </a:p>
        </p:txBody>
      </p:sp>
      <p:sp>
        <p:nvSpPr>
          <p:cNvPr id="13" name="Text 9"/>
          <p:cNvSpPr txBox="1"/>
          <p:nvPr/>
        </p:nvSpPr>
        <p:spPr>
          <a:xfrm>
            <a:off x="3429000" y="2240280"/>
            <a:ext cx="2286000" cy="457200"/>
          </a:xfrm>
          <a:prstGeom prst="rect">
            <a:avLst/>
          </a:prstGeom>
          <a:noFill/>
          <a:ln/>
        </p:spPr>
        <p:txBody>
          <a:bodyPr wrap="square" lIns="0" tIns="0" rIns="0" bIns="0" rtlCol="0" anchor="t"/>
          <a:lstStyle/>
          <a:p>
            <a:pPr indent="0" marL="0">
              <a:buNone/>
            </a:pPr>
            <a:r>
              <a:rPr lang="en-US" sz="1150" dirty="0">
                <a:solidFill>
                  <a:srgbClr val="5B6470"/>
                </a:solidFill>
                <a:latin typeface="Calibri" pitchFamily="34" charset="0"/>
                <a:ea typeface="Calibri" pitchFamily="34" charset="-122"/>
                <a:cs typeface="Calibri" pitchFamily="34" charset="-120"/>
              </a:rPr>
              <a:t>Ship code, restart apps, rolling updates</a:t>
            </a:r>
            <a:endParaRPr lang="en-US" sz="1150" dirty="0"/>
          </a:p>
        </p:txBody>
      </p:sp>
      <p:sp>
        <p:nvSpPr>
          <p:cNvPr id="14" name="Shape 10"/>
          <p:cNvSpPr/>
          <p:nvPr/>
        </p:nvSpPr>
        <p:spPr>
          <a:xfrm>
            <a:off x="6035040" y="1143000"/>
            <a:ext cx="2606040" cy="1600200"/>
          </a:xfrm>
          <a:prstGeom prst="roundRect">
            <a:avLst>
              <a:gd name="adj" fmla="val 4571"/>
            </a:avLst>
          </a:prstGeom>
          <a:solidFill>
            <a:srgbClr val="F2F3F5"/>
          </a:solidFill>
          <a:ln w="12700">
            <a:solidFill>
              <a:srgbClr val="F2F3F5"/>
            </a:solidFill>
            <a:prstDash val="solid"/>
          </a:ln>
        </p:spPr>
      </p:sp>
      <p:sp>
        <p:nvSpPr>
          <p:cNvPr id="15" name="Shape 11"/>
          <p:cNvSpPr/>
          <p:nvPr/>
        </p:nvSpPr>
        <p:spPr>
          <a:xfrm>
            <a:off x="6217920" y="1325880"/>
            <a:ext cx="502920" cy="502920"/>
          </a:xfrm>
          <a:prstGeom prst="ellipse">
            <a:avLst/>
          </a:prstGeom>
          <a:solidFill>
            <a:srgbClr val="D92D27"/>
          </a:solidFill>
          <a:ln w="12700">
            <a:solidFill>
              <a:srgbClr val="D92D27"/>
            </a:solidFill>
            <a:prstDash val="solid"/>
          </a:ln>
        </p:spPr>
      </p:sp>
      <p:pic>
        <p:nvPicPr>
          <p:cNvPr id="16" name="Image 2" descr="preencoded.png">    </p:cNvPr>
          <p:cNvPicPr>
            <a:picLocks noChangeAspect="1"/>
          </p:cNvPicPr>
          <p:nvPr/>
        </p:nvPicPr>
        <p:blipFill>
          <a:blip r:embed="rId3"/>
          <a:stretch>
            <a:fillRect/>
          </a:stretch>
        </p:blipFill>
        <p:spPr>
          <a:xfrm>
            <a:off x="6348679" y="1456639"/>
            <a:ext cx="241402" cy="241402"/>
          </a:xfrm>
          <a:prstGeom prst="rect">
            <a:avLst/>
          </a:prstGeom>
        </p:spPr>
      </p:pic>
      <p:sp>
        <p:nvSpPr>
          <p:cNvPr id="17" name="Text 12"/>
          <p:cNvSpPr txBox="1"/>
          <p:nvPr/>
        </p:nvSpPr>
        <p:spPr>
          <a:xfrm>
            <a:off x="6217920" y="1920240"/>
            <a:ext cx="2286000" cy="320040"/>
          </a:xfrm>
          <a:prstGeom prst="rect">
            <a:avLst/>
          </a:prstGeom>
          <a:noFill/>
          <a:ln/>
        </p:spPr>
        <p:txBody>
          <a:bodyPr wrap="square" lIns="0" tIns="0" rIns="0" bIns="0" rtlCol="0" anchor="t"/>
          <a:lstStyle/>
          <a:p>
            <a:pPr indent="0" marL="0">
              <a:buNone/>
            </a:pPr>
            <a:r>
              <a:rPr lang="en-US" sz="1350" b="1" dirty="0">
                <a:solidFill>
                  <a:srgbClr val="1F2328"/>
                </a:solidFill>
                <a:latin typeface="Calibri" pitchFamily="34" charset="0"/>
                <a:ea typeface="Calibri" pitchFamily="34" charset="-122"/>
                <a:cs typeface="Calibri" pitchFamily="34" charset="-120"/>
              </a:rPr>
              <a:t>Provisioning</a:t>
            </a:r>
            <a:endParaRPr lang="en-US" sz="1350" dirty="0"/>
          </a:p>
        </p:txBody>
      </p:sp>
      <p:sp>
        <p:nvSpPr>
          <p:cNvPr id="18" name="Text 13"/>
          <p:cNvSpPr txBox="1"/>
          <p:nvPr/>
        </p:nvSpPr>
        <p:spPr>
          <a:xfrm>
            <a:off x="6217920" y="2240280"/>
            <a:ext cx="2286000" cy="457200"/>
          </a:xfrm>
          <a:prstGeom prst="rect">
            <a:avLst/>
          </a:prstGeom>
          <a:noFill/>
          <a:ln/>
        </p:spPr>
        <p:txBody>
          <a:bodyPr wrap="square" lIns="0" tIns="0" rIns="0" bIns="0" rtlCol="0" anchor="t"/>
          <a:lstStyle/>
          <a:p>
            <a:pPr indent="0" marL="0">
              <a:buNone/>
            </a:pPr>
            <a:r>
              <a:rPr lang="en-US" sz="1150" dirty="0">
                <a:solidFill>
                  <a:srgbClr val="5B6470"/>
                </a:solidFill>
                <a:latin typeface="Calibri" pitchFamily="34" charset="0"/>
                <a:ea typeface="Calibri" pitchFamily="34" charset="-122"/>
                <a:cs typeface="Calibri" pitchFamily="34" charset="-120"/>
              </a:rPr>
              <a:t>Create VMs / cloud resources on AWS, Azure, GCP, VMware</a:t>
            </a:r>
            <a:endParaRPr lang="en-US" sz="1150" dirty="0"/>
          </a:p>
        </p:txBody>
      </p:sp>
      <p:sp>
        <p:nvSpPr>
          <p:cNvPr id="19" name="Shape 14"/>
          <p:cNvSpPr/>
          <p:nvPr/>
        </p:nvSpPr>
        <p:spPr>
          <a:xfrm>
            <a:off x="457200" y="2926080"/>
            <a:ext cx="2606040" cy="1600200"/>
          </a:xfrm>
          <a:prstGeom prst="roundRect">
            <a:avLst>
              <a:gd name="adj" fmla="val 4571"/>
            </a:avLst>
          </a:prstGeom>
          <a:solidFill>
            <a:srgbClr val="F2F3F5"/>
          </a:solidFill>
          <a:ln w="12700">
            <a:solidFill>
              <a:srgbClr val="F2F3F5"/>
            </a:solidFill>
            <a:prstDash val="solid"/>
          </a:ln>
        </p:spPr>
      </p:sp>
      <p:sp>
        <p:nvSpPr>
          <p:cNvPr id="20" name="Shape 15"/>
          <p:cNvSpPr/>
          <p:nvPr/>
        </p:nvSpPr>
        <p:spPr>
          <a:xfrm>
            <a:off x="640080" y="3108960"/>
            <a:ext cx="502920" cy="502920"/>
          </a:xfrm>
          <a:prstGeom prst="ellipse">
            <a:avLst/>
          </a:prstGeom>
          <a:solidFill>
            <a:srgbClr val="D92D27"/>
          </a:solidFill>
          <a:ln w="12700">
            <a:solidFill>
              <a:srgbClr val="D92D27"/>
            </a:solidFill>
            <a:prstDash val="solid"/>
          </a:ln>
        </p:spPr>
      </p:sp>
      <p:pic>
        <p:nvPicPr>
          <p:cNvPr id="21" name="Image 3" descr="preencoded.png">    </p:cNvPr>
          <p:cNvPicPr>
            <a:picLocks noChangeAspect="1"/>
          </p:cNvPicPr>
          <p:nvPr/>
        </p:nvPicPr>
        <p:blipFill>
          <a:blip r:embed="rId4"/>
          <a:stretch>
            <a:fillRect/>
          </a:stretch>
        </p:blipFill>
        <p:spPr>
          <a:xfrm>
            <a:off x="770839" y="3239719"/>
            <a:ext cx="241402" cy="241402"/>
          </a:xfrm>
          <a:prstGeom prst="rect">
            <a:avLst/>
          </a:prstGeom>
        </p:spPr>
      </p:pic>
      <p:sp>
        <p:nvSpPr>
          <p:cNvPr id="22" name="Text 16"/>
          <p:cNvSpPr txBox="1"/>
          <p:nvPr/>
        </p:nvSpPr>
        <p:spPr>
          <a:xfrm>
            <a:off x="640080" y="3703320"/>
            <a:ext cx="2286000" cy="320040"/>
          </a:xfrm>
          <a:prstGeom prst="rect">
            <a:avLst/>
          </a:prstGeom>
          <a:noFill/>
          <a:ln/>
        </p:spPr>
        <p:txBody>
          <a:bodyPr wrap="square" lIns="0" tIns="0" rIns="0" bIns="0" rtlCol="0" anchor="t"/>
          <a:lstStyle/>
          <a:p>
            <a:pPr indent="0" marL="0">
              <a:buNone/>
            </a:pPr>
            <a:r>
              <a:rPr lang="en-US" sz="1350" b="1" dirty="0">
                <a:solidFill>
                  <a:srgbClr val="1F2328"/>
                </a:solidFill>
                <a:latin typeface="Calibri" pitchFamily="34" charset="0"/>
                <a:ea typeface="Calibri" pitchFamily="34" charset="-122"/>
                <a:cs typeface="Calibri" pitchFamily="34" charset="-120"/>
              </a:rPr>
              <a:t>Orchestration</a:t>
            </a:r>
            <a:endParaRPr lang="en-US" sz="1350" dirty="0"/>
          </a:p>
        </p:txBody>
      </p:sp>
      <p:sp>
        <p:nvSpPr>
          <p:cNvPr id="23" name="Text 17"/>
          <p:cNvSpPr txBox="1"/>
          <p:nvPr/>
        </p:nvSpPr>
        <p:spPr>
          <a:xfrm>
            <a:off x="640080" y="4023360"/>
            <a:ext cx="2286000" cy="457200"/>
          </a:xfrm>
          <a:prstGeom prst="rect">
            <a:avLst/>
          </a:prstGeom>
          <a:noFill/>
          <a:ln/>
        </p:spPr>
        <p:txBody>
          <a:bodyPr wrap="square" lIns="0" tIns="0" rIns="0" bIns="0" rtlCol="0" anchor="t"/>
          <a:lstStyle/>
          <a:p>
            <a:pPr indent="0" marL="0">
              <a:buNone/>
            </a:pPr>
            <a:r>
              <a:rPr lang="en-US" sz="1150" dirty="0">
                <a:solidFill>
                  <a:srgbClr val="5B6470"/>
                </a:solidFill>
                <a:latin typeface="Calibri" pitchFamily="34" charset="0"/>
                <a:ea typeface="Calibri" pitchFamily="34" charset="-122"/>
                <a:cs typeface="Calibri" pitchFamily="34" charset="-120"/>
              </a:rPr>
              <a:t>Multi-tier steps in the right order: DB → app → load balancer</a:t>
            </a:r>
            <a:endParaRPr lang="en-US" sz="1150" dirty="0"/>
          </a:p>
        </p:txBody>
      </p:sp>
      <p:sp>
        <p:nvSpPr>
          <p:cNvPr id="24" name="Shape 18"/>
          <p:cNvSpPr/>
          <p:nvPr/>
        </p:nvSpPr>
        <p:spPr>
          <a:xfrm>
            <a:off x="3246120" y="2926080"/>
            <a:ext cx="2606040" cy="1600200"/>
          </a:xfrm>
          <a:prstGeom prst="roundRect">
            <a:avLst>
              <a:gd name="adj" fmla="val 4571"/>
            </a:avLst>
          </a:prstGeom>
          <a:solidFill>
            <a:srgbClr val="F2F3F5"/>
          </a:solidFill>
          <a:ln w="12700">
            <a:solidFill>
              <a:srgbClr val="F2F3F5"/>
            </a:solidFill>
            <a:prstDash val="solid"/>
          </a:ln>
        </p:spPr>
      </p:sp>
      <p:sp>
        <p:nvSpPr>
          <p:cNvPr id="25" name="Shape 19"/>
          <p:cNvSpPr/>
          <p:nvPr/>
        </p:nvSpPr>
        <p:spPr>
          <a:xfrm>
            <a:off x="3429000" y="3108960"/>
            <a:ext cx="502920" cy="502920"/>
          </a:xfrm>
          <a:prstGeom prst="ellipse">
            <a:avLst/>
          </a:prstGeom>
          <a:solidFill>
            <a:srgbClr val="D92D27"/>
          </a:solidFill>
          <a:ln w="12700">
            <a:solidFill>
              <a:srgbClr val="D92D27"/>
            </a:solidFill>
            <a:prstDash val="solid"/>
          </a:ln>
        </p:spPr>
      </p:sp>
      <p:pic>
        <p:nvPicPr>
          <p:cNvPr id="26" name="Image 4" descr="preencoded.png">    </p:cNvPr>
          <p:cNvPicPr>
            <a:picLocks noChangeAspect="1"/>
          </p:cNvPicPr>
          <p:nvPr/>
        </p:nvPicPr>
        <p:blipFill>
          <a:blip r:embed="rId5"/>
          <a:stretch>
            <a:fillRect/>
          </a:stretch>
        </p:blipFill>
        <p:spPr>
          <a:xfrm>
            <a:off x="3559759" y="3239719"/>
            <a:ext cx="241402" cy="241402"/>
          </a:xfrm>
          <a:prstGeom prst="rect">
            <a:avLst/>
          </a:prstGeom>
        </p:spPr>
      </p:pic>
      <p:sp>
        <p:nvSpPr>
          <p:cNvPr id="27" name="Text 20"/>
          <p:cNvSpPr txBox="1"/>
          <p:nvPr/>
        </p:nvSpPr>
        <p:spPr>
          <a:xfrm>
            <a:off x="3429000" y="3703320"/>
            <a:ext cx="2286000" cy="320040"/>
          </a:xfrm>
          <a:prstGeom prst="rect">
            <a:avLst/>
          </a:prstGeom>
          <a:noFill/>
          <a:ln/>
        </p:spPr>
        <p:txBody>
          <a:bodyPr wrap="square" lIns="0" tIns="0" rIns="0" bIns="0" rtlCol="0" anchor="t"/>
          <a:lstStyle/>
          <a:p>
            <a:pPr indent="0" marL="0">
              <a:buNone/>
            </a:pPr>
            <a:r>
              <a:rPr lang="en-US" sz="1350" b="1" dirty="0">
                <a:solidFill>
                  <a:srgbClr val="1F2328"/>
                </a:solidFill>
                <a:latin typeface="Calibri" pitchFamily="34" charset="0"/>
                <a:ea typeface="Calibri" pitchFamily="34" charset="-122"/>
                <a:cs typeface="Calibri" pitchFamily="34" charset="-120"/>
              </a:rPr>
              <a:t>Security &amp; compliance</a:t>
            </a:r>
            <a:endParaRPr lang="en-US" sz="1350" dirty="0"/>
          </a:p>
        </p:txBody>
      </p:sp>
      <p:sp>
        <p:nvSpPr>
          <p:cNvPr id="28" name="Text 21"/>
          <p:cNvSpPr txBox="1"/>
          <p:nvPr/>
        </p:nvSpPr>
        <p:spPr>
          <a:xfrm>
            <a:off x="3429000" y="4023360"/>
            <a:ext cx="2286000" cy="457200"/>
          </a:xfrm>
          <a:prstGeom prst="rect">
            <a:avLst/>
          </a:prstGeom>
          <a:noFill/>
          <a:ln/>
        </p:spPr>
        <p:txBody>
          <a:bodyPr wrap="square" lIns="0" tIns="0" rIns="0" bIns="0" rtlCol="0" anchor="t"/>
          <a:lstStyle/>
          <a:p>
            <a:pPr indent="0" marL="0">
              <a:buNone/>
            </a:pPr>
            <a:r>
              <a:rPr lang="en-US" sz="1150" dirty="0">
                <a:solidFill>
                  <a:srgbClr val="5B6470"/>
                </a:solidFill>
                <a:latin typeface="Calibri" pitchFamily="34" charset="0"/>
                <a:ea typeface="Calibri" pitchFamily="34" charset="-122"/>
                <a:cs typeface="Calibri" pitchFamily="34" charset="-120"/>
              </a:rPr>
              <a:t>Patching, hardening, CIS baselines, audits</a:t>
            </a:r>
            <a:endParaRPr lang="en-US" sz="1150" dirty="0"/>
          </a:p>
        </p:txBody>
      </p:sp>
      <p:sp>
        <p:nvSpPr>
          <p:cNvPr id="29" name="Shape 22"/>
          <p:cNvSpPr/>
          <p:nvPr/>
        </p:nvSpPr>
        <p:spPr>
          <a:xfrm>
            <a:off x="6035040" y="2926080"/>
            <a:ext cx="2606040" cy="1600200"/>
          </a:xfrm>
          <a:prstGeom prst="roundRect">
            <a:avLst>
              <a:gd name="adj" fmla="val 4571"/>
            </a:avLst>
          </a:prstGeom>
          <a:solidFill>
            <a:srgbClr val="F2F3F5"/>
          </a:solidFill>
          <a:ln w="12700">
            <a:solidFill>
              <a:srgbClr val="F2F3F5"/>
            </a:solidFill>
            <a:prstDash val="solid"/>
          </a:ln>
        </p:spPr>
      </p:sp>
      <p:sp>
        <p:nvSpPr>
          <p:cNvPr id="30" name="Shape 23"/>
          <p:cNvSpPr/>
          <p:nvPr/>
        </p:nvSpPr>
        <p:spPr>
          <a:xfrm>
            <a:off x="6217920" y="3108960"/>
            <a:ext cx="502920" cy="502920"/>
          </a:xfrm>
          <a:prstGeom prst="ellipse">
            <a:avLst/>
          </a:prstGeom>
          <a:solidFill>
            <a:srgbClr val="D92D27"/>
          </a:solidFill>
          <a:ln w="12700">
            <a:solidFill>
              <a:srgbClr val="D92D27"/>
            </a:solidFill>
            <a:prstDash val="solid"/>
          </a:ln>
        </p:spPr>
      </p:sp>
      <p:pic>
        <p:nvPicPr>
          <p:cNvPr id="31" name="Image 5" descr="preencoded.png">    </p:cNvPr>
          <p:cNvPicPr>
            <a:picLocks noChangeAspect="1"/>
          </p:cNvPicPr>
          <p:nvPr/>
        </p:nvPicPr>
        <p:blipFill>
          <a:blip r:embed="rId6"/>
          <a:stretch>
            <a:fillRect/>
          </a:stretch>
        </p:blipFill>
        <p:spPr>
          <a:xfrm>
            <a:off x="6348679" y="3239719"/>
            <a:ext cx="241402" cy="241402"/>
          </a:xfrm>
          <a:prstGeom prst="rect">
            <a:avLst/>
          </a:prstGeom>
        </p:spPr>
      </p:pic>
      <p:sp>
        <p:nvSpPr>
          <p:cNvPr id="32" name="Text 24"/>
          <p:cNvSpPr txBox="1"/>
          <p:nvPr/>
        </p:nvSpPr>
        <p:spPr>
          <a:xfrm>
            <a:off x="6217920" y="3703320"/>
            <a:ext cx="2286000" cy="320040"/>
          </a:xfrm>
          <a:prstGeom prst="rect">
            <a:avLst/>
          </a:prstGeom>
          <a:noFill/>
          <a:ln/>
        </p:spPr>
        <p:txBody>
          <a:bodyPr wrap="square" lIns="0" tIns="0" rIns="0" bIns="0" rtlCol="0" anchor="t"/>
          <a:lstStyle/>
          <a:p>
            <a:pPr indent="0" marL="0">
              <a:buNone/>
            </a:pPr>
            <a:r>
              <a:rPr lang="en-US" sz="1350" b="1" dirty="0">
                <a:solidFill>
                  <a:srgbClr val="1F2328"/>
                </a:solidFill>
                <a:latin typeface="Calibri" pitchFamily="34" charset="0"/>
                <a:ea typeface="Calibri" pitchFamily="34" charset="-122"/>
                <a:cs typeface="Calibri" pitchFamily="34" charset="-120"/>
              </a:rPr>
              <a:t>Network automation</a:t>
            </a:r>
            <a:endParaRPr lang="en-US" sz="1350" dirty="0"/>
          </a:p>
        </p:txBody>
      </p:sp>
      <p:sp>
        <p:nvSpPr>
          <p:cNvPr id="33" name="Text 25"/>
          <p:cNvSpPr txBox="1"/>
          <p:nvPr/>
        </p:nvSpPr>
        <p:spPr>
          <a:xfrm>
            <a:off x="6217920" y="4023360"/>
            <a:ext cx="2286000" cy="457200"/>
          </a:xfrm>
          <a:prstGeom prst="rect">
            <a:avLst/>
          </a:prstGeom>
          <a:noFill/>
          <a:ln/>
        </p:spPr>
        <p:txBody>
          <a:bodyPr wrap="square" lIns="0" tIns="0" rIns="0" bIns="0" rtlCol="0" anchor="t"/>
          <a:lstStyle/>
          <a:p>
            <a:pPr indent="0" marL="0">
              <a:buNone/>
            </a:pPr>
            <a:r>
              <a:rPr lang="en-US" sz="1150" dirty="0">
                <a:solidFill>
                  <a:srgbClr val="5B6470"/>
                </a:solidFill>
                <a:latin typeface="Calibri" pitchFamily="34" charset="0"/>
                <a:ea typeface="Calibri" pitchFamily="34" charset="-122"/>
                <a:cs typeface="Calibri" pitchFamily="34" charset="-120"/>
              </a:rPr>
              <a:t>Cisco, Juniper, Arista switches and firewalls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81D"/>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
        <p:nvSpPr>
          <p:cNvPr id="3" name="Text 1"/>
          <p:cNvSpPr txBox="1"/>
          <p:nvPr/>
        </p:nvSpPr>
        <p:spPr>
          <a:xfrm>
            <a:off x="457200" y="685800"/>
            <a:ext cx="2743200" cy="1280160"/>
          </a:xfrm>
          <a:prstGeom prst="rect">
            <a:avLst/>
          </a:prstGeom>
          <a:noFill/>
          <a:ln/>
        </p:spPr>
        <p:txBody>
          <a:bodyPr wrap="square" lIns="0" tIns="0" rIns="0" bIns="0" rtlCol="0" anchor="ctr"/>
          <a:lstStyle/>
          <a:p>
            <a:pPr indent="0" marL="0">
              <a:buNone/>
            </a:pPr>
            <a:r>
              <a:rPr lang="en-US" sz="9600" b="1" dirty="0">
                <a:solidFill>
                  <a:srgbClr val="D92D27"/>
                </a:solidFill>
                <a:latin typeface="Arial" pitchFamily="34" charset="0"/>
                <a:ea typeface="Arial" pitchFamily="34" charset="-122"/>
                <a:cs typeface="Arial" pitchFamily="34" charset="-120"/>
              </a:rPr>
              <a:t>02</a:t>
            </a:r>
            <a:endParaRPr lang="en-US" sz="9600" dirty="0"/>
          </a:p>
        </p:txBody>
      </p:sp>
      <p:sp>
        <p:nvSpPr>
          <p:cNvPr id="4" name="Text 2"/>
          <p:cNvSpPr txBox="1"/>
          <p:nvPr/>
        </p:nvSpPr>
        <p:spPr>
          <a:xfrm>
            <a:off x="457200" y="2011680"/>
            <a:ext cx="8046720" cy="1234440"/>
          </a:xfrm>
          <a:prstGeom prst="rect">
            <a:avLst/>
          </a:prstGeom>
          <a:noFill/>
          <a:ln/>
        </p:spPr>
        <p:txBody>
          <a:bodyPr wrap="square" lIns="0" tIns="0" rIns="0" bIns="0" rtlCol="0" anchor="b"/>
          <a:lstStyle/>
          <a:p>
            <a:pPr indent="0" marL="0">
              <a:buNone/>
            </a:pPr>
            <a:r>
              <a:rPr lang="en-US" sz="3600" b="1" dirty="0">
                <a:solidFill>
                  <a:srgbClr val="FFFFFF"/>
                </a:solidFill>
                <a:latin typeface="Arial" pitchFamily="34" charset="0"/>
                <a:ea typeface="Arial" pitchFamily="34" charset="-122"/>
                <a:cs typeface="Arial" pitchFamily="34" charset="-120"/>
              </a:rPr>
              <a:t>Ansible vs Chef vs Puppet vs SaltStack</a:t>
            </a:r>
            <a:endParaRPr lang="en-US" sz="3600" dirty="0"/>
          </a:p>
        </p:txBody>
      </p:sp>
      <p:sp>
        <p:nvSpPr>
          <p:cNvPr id="5" name="Text 3"/>
          <p:cNvSpPr txBox="1"/>
          <p:nvPr/>
        </p:nvSpPr>
        <p:spPr>
          <a:xfrm>
            <a:off x="457200" y="3291840"/>
            <a:ext cx="7772400" cy="457200"/>
          </a:xfrm>
          <a:prstGeom prst="rect">
            <a:avLst/>
          </a:prstGeom>
          <a:noFill/>
          <a:ln/>
        </p:spPr>
        <p:txBody>
          <a:bodyPr wrap="square" lIns="0" tIns="0" rIns="0" bIns="0" rtlCol="0" anchor="ctr"/>
          <a:lstStyle/>
          <a:p>
            <a:pPr indent="0" marL="0">
              <a:buNone/>
            </a:pPr>
            <a:r>
              <a:rPr lang="en-US" sz="1600" dirty="0">
                <a:solidFill>
                  <a:srgbClr val="B8BEC7"/>
                </a:solidFill>
                <a:latin typeface="Calibri" pitchFamily="34" charset="0"/>
                <a:ea typeface="Calibri" pitchFamily="34" charset="-122"/>
                <a:cs typeface="Calibri" pitchFamily="34" charset="-120"/>
              </a:rPr>
              <a:t>Four popular configuration-management tools side by side</a:t>
            </a:r>
            <a:endParaRPr lang="en-US" sz="1600" dirty="0"/>
          </a:p>
        </p:txBody>
      </p:sp>
      <p:sp>
        <p:nvSpPr>
          <p:cNvPr id="6" name="Shape 4"/>
          <p:cNvSpPr/>
          <p:nvPr/>
        </p:nvSpPr>
        <p:spPr>
          <a:xfrm>
            <a:off x="457200" y="4023360"/>
            <a:ext cx="1371600" cy="365760"/>
          </a:xfrm>
          <a:prstGeom prst="roundRect">
            <a:avLst>
              <a:gd name="adj" fmla="val 50000"/>
            </a:avLst>
          </a:prstGeom>
          <a:solidFill>
            <a:srgbClr val="2A2E36"/>
          </a:solidFill>
          <a:ln w="12700">
            <a:solidFill>
              <a:srgbClr val="2A2E36"/>
            </a:solidFill>
            <a:prstDash val="solid"/>
          </a:ln>
        </p:spPr>
      </p:sp>
      <p:sp>
        <p:nvSpPr>
          <p:cNvPr id="7" name="Text 5"/>
          <p:cNvSpPr txBox="1"/>
          <p:nvPr/>
        </p:nvSpPr>
        <p:spPr>
          <a:xfrm>
            <a:off x="457200" y="4023360"/>
            <a:ext cx="137160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 10 min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9AA1AA"/>
                </a:solidFill>
                <a:latin typeface="Calibri" pitchFamily="34" charset="0"/>
                <a:ea typeface="Calibri" pitchFamily="34" charset="-122"/>
                <a:cs typeface="Calibri" pitchFamily="34" charset="-120"/>
              </a:rPr>
              <a:t>10</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How the four tools compare</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463040"/>
                <a:gridCol w="1600200"/>
                <a:gridCol w="1645920"/>
                <a:gridCol w="1783080"/>
                <a:gridCol w="1737360"/>
              </a:tblGrid>
              <a:tr h="384048">
                <a:tc>
                  <a:txBody>
                    <a:bodyPr/>
                    <a:lstStyle/>
                    <a:p>
                      <a:pPr indent="0" marL="0">
                        <a:buNone/>
                      </a:pPr>
                      <a:endParaRPr lang="en-US" sz="120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Ansible</a:t>
                      </a:r>
                      <a:endParaRPr lang="en-US" sz="120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D92D27"/>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Chef</a:t>
                      </a:r>
                      <a:endParaRPr lang="en-US" sz="120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4A526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Puppet</a:t>
                      </a:r>
                      <a:endParaRPr lang="en-US" sz="120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4A526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SaltStack</a:t>
                      </a:r>
                      <a:endParaRPr lang="en-US" sz="120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4A5260"/>
                    </a:solidFill>
                  </a:tcPr>
                </a:tc>
              </a:tr>
              <a:tr h="384048">
                <a:tc>
                  <a:txBody>
                    <a:bodyPr/>
                    <a:lstStyle/>
                    <a:p>
                      <a:pPr indent="0" marL="0">
                        <a:buNone/>
                      </a:pPr>
                      <a:r>
                        <a:rPr lang="en-US" sz="1150" b="1" dirty="0">
                          <a:solidFill>
                            <a:srgbClr val="1F2328"/>
                          </a:solidFill>
                          <a:latin typeface="Calibri" pitchFamily="34" charset="0"/>
                          <a:ea typeface="Calibri" pitchFamily="34" charset="-122"/>
                          <a:cs typeface="Calibri" pitchFamily="34" charset="-120"/>
                        </a:rPr>
                        <a:t>Architecture</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2F3F5"/>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Agentless, push</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BE7E6"/>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Agent, pull</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Agent, pull</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Agent (or SSH), push &amp; pull</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rgbClr val="1F2328"/>
                          </a:solidFill>
                          <a:latin typeface="Calibri" pitchFamily="34" charset="0"/>
                          <a:ea typeface="Calibri" pitchFamily="34" charset="-122"/>
                          <a:cs typeface="Calibri" pitchFamily="34" charset="-120"/>
                        </a:rPr>
                        <a:t>Language</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2F3F5"/>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YAML</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BE7E6"/>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Ruby DSL</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Puppet DSL</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YAML + Jinja</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rgbClr val="1F2328"/>
                          </a:solidFill>
                          <a:latin typeface="Calibri" pitchFamily="34" charset="0"/>
                          <a:ea typeface="Calibri" pitchFamily="34" charset="-122"/>
                          <a:cs typeface="Calibri" pitchFamily="34" charset="-120"/>
                        </a:rPr>
                        <a:t>Transport</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2F3F5"/>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SSH / WinRM</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BE7E6"/>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HTTPS to Chef Server</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HTTPS to Puppet Server</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ZeroMQ event bus</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rgbClr val="1F2328"/>
                          </a:solidFill>
                          <a:latin typeface="Calibri" pitchFamily="34" charset="0"/>
                          <a:ea typeface="Calibri" pitchFamily="34" charset="-122"/>
                          <a:cs typeface="Calibri" pitchFamily="34" charset="-120"/>
                        </a:rPr>
                        <a:t>Setup effort</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2F3F5"/>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Very low</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BE7E6"/>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Medium</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rgbClr val="1F2328"/>
                          </a:solidFill>
                          <a:latin typeface="Calibri" pitchFamily="34" charset="0"/>
                          <a:ea typeface="Calibri" pitchFamily="34" charset="-122"/>
                          <a:cs typeface="Calibri" pitchFamily="34" charset="-120"/>
                        </a:rPr>
                        <a:t>Learning curve</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2F3F5"/>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Easy</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BE7E6"/>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Steep</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Moderate–steep</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Moderate</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rgbClr val="1F2328"/>
                          </a:solidFill>
                          <a:latin typeface="Calibri" pitchFamily="34" charset="0"/>
                          <a:ea typeface="Calibri" pitchFamily="34" charset="-122"/>
                          <a:cs typeface="Calibri" pitchFamily="34" charset="-120"/>
                        </a:rPr>
                        <a:t>Execution order</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2F3F5"/>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Top to bottom</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BE7E6"/>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Top to bottom</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Model-based (dependencies)</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Top to bottom</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rgbClr val="1F2328"/>
                          </a:solidFill>
                          <a:latin typeface="Calibri" pitchFamily="34" charset="0"/>
                          <a:ea typeface="Calibri" pitchFamily="34" charset="-122"/>
                          <a:cs typeface="Calibri" pitchFamily="34" charset="-120"/>
                        </a:rPr>
                        <a:t>Speed at scale</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2F3F5"/>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Good (forks)</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BE7E6"/>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Good</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Good</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Very fast (event-driven)</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rgbClr val="1F2328"/>
                          </a:solidFill>
                          <a:latin typeface="Calibri" pitchFamily="34" charset="0"/>
                          <a:ea typeface="Calibri" pitchFamily="34" charset="-122"/>
                          <a:cs typeface="Calibri" pitchFamily="34" charset="-120"/>
                        </a:rPr>
                        <a:t>Owner</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2F3F5"/>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Red Hat (IBM)</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BE7E6"/>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Progress</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Perforce</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Broadcom (VMware)</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9AA1AA"/>
                </a:solidFill>
                <a:latin typeface="Calibri" pitchFamily="34" charset="0"/>
                <a:ea typeface="Calibri" pitchFamily="34" charset="-122"/>
                <a:cs typeface="Calibri" pitchFamily="34" charset="-120"/>
              </a:rPr>
              <a:t>11</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Push vs pull — the key architectural difference</a:t>
            </a:r>
            <a:endParaRPr lang="en-US" sz="2800" dirty="0"/>
          </a:p>
        </p:txBody>
      </p:sp>
      <p:sp>
        <p:nvSpPr>
          <p:cNvPr id="4" name="Shape 2"/>
          <p:cNvSpPr/>
          <p:nvPr/>
        </p:nvSpPr>
        <p:spPr>
          <a:xfrm>
            <a:off x="457200" y="1097280"/>
            <a:ext cx="3931920" cy="3474720"/>
          </a:xfrm>
          <a:prstGeom prst="roundRect">
            <a:avLst>
              <a:gd name="adj" fmla="val 2105"/>
            </a:avLst>
          </a:prstGeom>
          <a:solidFill>
            <a:srgbClr val="F2F3F5"/>
          </a:solidFill>
          <a:ln w="12700">
            <a:solidFill>
              <a:srgbClr val="F2F3F5"/>
            </a:solidFill>
            <a:prstDash val="solid"/>
          </a:ln>
        </p:spPr>
      </p:sp>
      <p:sp>
        <p:nvSpPr>
          <p:cNvPr id="5" name="Text 3"/>
          <p:cNvSpPr txBox="1"/>
          <p:nvPr/>
        </p:nvSpPr>
        <p:spPr>
          <a:xfrm>
            <a:off x="685800" y="1188720"/>
            <a:ext cx="3474720" cy="365760"/>
          </a:xfrm>
          <a:prstGeom prst="rect">
            <a:avLst/>
          </a:prstGeom>
          <a:noFill/>
          <a:ln/>
        </p:spPr>
        <p:txBody>
          <a:bodyPr wrap="square" lIns="0" tIns="0" rIns="0" bIns="0" rtlCol="0" anchor="t"/>
          <a:lstStyle/>
          <a:p>
            <a:pPr indent="0" marL="0">
              <a:buNone/>
            </a:pPr>
            <a:r>
              <a:rPr lang="en-US" sz="1500" b="1" dirty="0">
                <a:solidFill>
                  <a:srgbClr val="D92D27"/>
                </a:solidFill>
                <a:latin typeface="Calibri" pitchFamily="34" charset="0"/>
                <a:ea typeface="Calibri" pitchFamily="34" charset="-122"/>
                <a:cs typeface="Calibri" pitchFamily="34" charset="-120"/>
              </a:rPr>
              <a:t>PUSH  ·  Ansible</a:t>
            </a:r>
            <a:endParaRPr lang="en-US" sz="1500" dirty="0"/>
          </a:p>
        </p:txBody>
      </p:sp>
      <p:sp>
        <p:nvSpPr>
          <p:cNvPr id="6" name="Shape 4"/>
          <p:cNvSpPr/>
          <p:nvPr/>
        </p:nvSpPr>
        <p:spPr>
          <a:xfrm>
            <a:off x="822960" y="2331720"/>
            <a:ext cx="731520" cy="731520"/>
          </a:xfrm>
          <a:prstGeom prst="ellipse">
            <a:avLst/>
          </a:prstGeom>
          <a:solidFill>
            <a:srgbClr val="D92D27"/>
          </a:solidFill>
          <a:ln w="12700">
            <a:solidFill>
              <a:srgbClr val="D92D27"/>
            </a:solidFill>
            <a:prstDash val="solid"/>
          </a:ln>
        </p:spPr>
      </p:sp>
      <p:pic>
        <p:nvPicPr>
          <p:cNvPr id="7" name="Image 0" descr="preencoded.png">    </p:cNvPr>
          <p:cNvPicPr>
            <a:picLocks noChangeAspect="1"/>
          </p:cNvPicPr>
          <p:nvPr/>
        </p:nvPicPr>
        <p:blipFill>
          <a:blip r:embed="rId1"/>
          <a:stretch>
            <a:fillRect/>
          </a:stretch>
        </p:blipFill>
        <p:spPr>
          <a:xfrm>
            <a:off x="1013155" y="2521915"/>
            <a:ext cx="351130" cy="351130"/>
          </a:xfrm>
          <a:prstGeom prst="rect">
            <a:avLst/>
          </a:prstGeom>
        </p:spPr>
      </p:pic>
      <p:sp>
        <p:nvSpPr>
          <p:cNvPr id="8" name="Text 5"/>
          <p:cNvSpPr txBox="1"/>
          <p:nvPr/>
        </p:nvSpPr>
        <p:spPr>
          <a:xfrm>
            <a:off x="502920" y="3108960"/>
            <a:ext cx="1371600" cy="274320"/>
          </a:xfrm>
          <a:prstGeom prst="rect">
            <a:avLst/>
          </a:prstGeom>
          <a:noFill/>
          <a:ln/>
        </p:spPr>
        <p:txBody>
          <a:bodyPr wrap="square" lIns="0" tIns="0" rIns="0" bIns="0" rtlCol="0" anchor="t"/>
          <a:lstStyle/>
          <a:p>
            <a:pPr algn="ctr" indent="0" marL="0">
              <a:buNone/>
            </a:pPr>
            <a:r>
              <a:rPr lang="en-US" sz="1100" b="1" dirty="0">
                <a:solidFill>
                  <a:srgbClr val="1F2328"/>
                </a:solidFill>
                <a:latin typeface="Calibri" pitchFamily="34" charset="0"/>
                <a:ea typeface="Calibri" pitchFamily="34" charset="-122"/>
                <a:cs typeface="Calibri" pitchFamily="34" charset="-120"/>
              </a:rPr>
              <a:t>Control node</a:t>
            </a:r>
            <a:endParaRPr lang="en-US" sz="1100" dirty="0"/>
          </a:p>
        </p:txBody>
      </p:sp>
      <p:sp>
        <p:nvSpPr>
          <p:cNvPr id="9" name="Shape 6"/>
          <p:cNvSpPr/>
          <p:nvPr/>
        </p:nvSpPr>
        <p:spPr>
          <a:xfrm>
            <a:off x="3200400" y="1691640"/>
            <a:ext cx="548640" cy="548640"/>
          </a:xfrm>
          <a:prstGeom prst="ellipse">
            <a:avLst/>
          </a:prstGeom>
          <a:solidFill>
            <a:srgbClr val="4A5260"/>
          </a:solidFill>
          <a:ln w="12700">
            <a:solidFill>
              <a:srgbClr val="4A5260"/>
            </a:solidFill>
            <a:prstDash val="solid"/>
          </a:ln>
        </p:spPr>
      </p:sp>
      <p:pic>
        <p:nvPicPr>
          <p:cNvPr id="10" name="Image 1" descr="preencoded.png">    </p:cNvPr>
          <p:cNvPicPr>
            <a:picLocks noChangeAspect="1"/>
          </p:cNvPicPr>
          <p:nvPr/>
        </p:nvPicPr>
        <p:blipFill>
          <a:blip r:embed="rId2"/>
          <a:stretch>
            <a:fillRect/>
          </a:stretch>
        </p:blipFill>
        <p:spPr>
          <a:xfrm>
            <a:off x="3343046" y="1834286"/>
            <a:ext cx="263347" cy="263347"/>
          </a:xfrm>
          <a:prstGeom prst="rect">
            <a:avLst/>
          </a:prstGeom>
        </p:spPr>
      </p:pic>
      <p:sp>
        <p:nvSpPr>
          <p:cNvPr id="11" name="Shape 7"/>
          <p:cNvSpPr/>
          <p:nvPr/>
        </p:nvSpPr>
        <p:spPr>
          <a:xfrm flipV="1">
            <a:off x="1645920" y="1965960"/>
            <a:ext cx="1508760" cy="731520"/>
          </a:xfrm>
          <a:prstGeom prst="line">
            <a:avLst/>
          </a:prstGeom>
          <a:noFill/>
          <a:ln w="19050">
            <a:solidFill>
              <a:srgbClr val="D92D27"/>
            </a:solidFill>
            <a:prstDash val="solid"/>
            <a:tailEnd type="triangle"/>
          </a:ln>
        </p:spPr>
      </p:sp>
      <p:sp>
        <p:nvSpPr>
          <p:cNvPr id="12" name="Shape 8"/>
          <p:cNvSpPr/>
          <p:nvPr/>
        </p:nvSpPr>
        <p:spPr>
          <a:xfrm>
            <a:off x="3200400" y="2514600"/>
            <a:ext cx="548640" cy="548640"/>
          </a:xfrm>
          <a:prstGeom prst="ellipse">
            <a:avLst/>
          </a:prstGeom>
          <a:solidFill>
            <a:srgbClr val="4A5260"/>
          </a:solidFill>
          <a:ln w="12700">
            <a:solidFill>
              <a:srgbClr val="4A5260"/>
            </a:solidFill>
            <a:prstDash val="solid"/>
          </a:ln>
        </p:spPr>
      </p:sp>
      <p:pic>
        <p:nvPicPr>
          <p:cNvPr id="13" name="Image 2" descr="preencoded.png">    </p:cNvPr>
          <p:cNvPicPr>
            <a:picLocks noChangeAspect="1"/>
          </p:cNvPicPr>
          <p:nvPr/>
        </p:nvPicPr>
        <p:blipFill>
          <a:blip r:embed="rId3"/>
          <a:stretch>
            <a:fillRect/>
          </a:stretch>
        </p:blipFill>
        <p:spPr>
          <a:xfrm>
            <a:off x="3343046" y="2657246"/>
            <a:ext cx="263347" cy="263347"/>
          </a:xfrm>
          <a:prstGeom prst="rect">
            <a:avLst/>
          </a:prstGeom>
        </p:spPr>
      </p:pic>
      <p:sp>
        <p:nvSpPr>
          <p:cNvPr id="14" name="Shape 9"/>
          <p:cNvSpPr/>
          <p:nvPr/>
        </p:nvSpPr>
        <p:spPr>
          <a:xfrm>
            <a:off x="1645920" y="2697480"/>
            <a:ext cx="1508760" cy="91440"/>
          </a:xfrm>
          <a:prstGeom prst="line">
            <a:avLst/>
          </a:prstGeom>
          <a:noFill/>
          <a:ln w="19050">
            <a:solidFill>
              <a:srgbClr val="D92D27"/>
            </a:solidFill>
            <a:prstDash val="solid"/>
            <a:tailEnd type="triangle"/>
          </a:ln>
        </p:spPr>
      </p:sp>
      <p:sp>
        <p:nvSpPr>
          <p:cNvPr id="15" name="Shape 10"/>
          <p:cNvSpPr/>
          <p:nvPr/>
        </p:nvSpPr>
        <p:spPr>
          <a:xfrm>
            <a:off x="3200400" y="3337560"/>
            <a:ext cx="548640" cy="548640"/>
          </a:xfrm>
          <a:prstGeom prst="ellipse">
            <a:avLst/>
          </a:prstGeom>
          <a:solidFill>
            <a:srgbClr val="4A5260"/>
          </a:solidFill>
          <a:ln w="12700">
            <a:solidFill>
              <a:srgbClr val="4A5260"/>
            </a:solidFill>
            <a:prstDash val="solid"/>
          </a:ln>
        </p:spPr>
      </p:sp>
      <p:pic>
        <p:nvPicPr>
          <p:cNvPr id="16" name="Image 3" descr="preencoded.png">    </p:cNvPr>
          <p:cNvPicPr>
            <a:picLocks noChangeAspect="1"/>
          </p:cNvPicPr>
          <p:nvPr/>
        </p:nvPicPr>
        <p:blipFill>
          <a:blip r:embed="rId4"/>
          <a:stretch>
            <a:fillRect/>
          </a:stretch>
        </p:blipFill>
        <p:spPr>
          <a:xfrm>
            <a:off x="3343046" y="3480206"/>
            <a:ext cx="263347" cy="263347"/>
          </a:xfrm>
          <a:prstGeom prst="rect">
            <a:avLst/>
          </a:prstGeom>
        </p:spPr>
      </p:pic>
      <p:sp>
        <p:nvSpPr>
          <p:cNvPr id="17" name="Shape 11"/>
          <p:cNvSpPr/>
          <p:nvPr/>
        </p:nvSpPr>
        <p:spPr>
          <a:xfrm>
            <a:off x="1645920" y="2697480"/>
            <a:ext cx="1508760" cy="914400"/>
          </a:xfrm>
          <a:prstGeom prst="line">
            <a:avLst/>
          </a:prstGeom>
          <a:noFill/>
          <a:ln w="19050">
            <a:solidFill>
              <a:srgbClr val="D92D27"/>
            </a:solidFill>
            <a:prstDash val="solid"/>
            <a:tailEnd type="triangle"/>
          </a:ln>
        </p:spPr>
      </p:sp>
      <p:sp>
        <p:nvSpPr>
          <p:cNvPr id="18" name="Text 12"/>
          <p:cNvSpPr txBox="1"/>
          <p:nvPr/>
        </p:nvSpPr>
        <p:spPr>
          <a:xfrm>
            <a:off x="685800" y="3931920"/>
            <a:ext cx="3566160" cy="548640"/>
          </a:xfrm>
          <a:prstGeom prst="rect">
            <a:avLst/>
          </a:prstGeom>
          <a:noFill/>
          <a:ln/>
        </p:spPr>
        <p:txBody>
          <a:bodyPr wrap="square" lIns="0" tIns="0" rIns="0" bIns="0" rtlCol="0" anchor="t"/>
          <a:lstStyle/>
          <a:p>
            <a:pPr indent="0" marL="0">
              <a:buNone/>
            </a:pPr>
            <a:r>
              <a:rPr lang="en-US" sz="1200" dirty="0">
                <a:solidFill>
                  <a:srgbClr val="5B6470"/>
                </a:solidFill>
                <a:latin typeface="Calibri" pitchFamily="34" charset="0"/>
                <a:ea typeface="Calibri" pitchFamily="34" charset="-122"/>
                <a:cs typeface="Calibri" pitchFamily="34" charset="-120"/>
              </a:rPr>
              <a:t>You decide when changes run. Nothing runs on the servers between runs.</a:t>
            </a:r>
            <a:endParaRPr lang="en-US" sz="1200" dirty="0"/>
          </a:p>
        </p:txBody>
      </p:sp>
      <p:sp>
        <p:nvSpPr>
          <p:cNvPr id="19" name="Shape 13"/>
          <p:cNvSpPr/>
          <p:nvPr/>
        </p:nvSpPr>
        <p:spPr>
          <a:xfrm>
            <a:off x="4754880" y="1097280"/>
            <a:ext cx="3931920" cy="3474720"/>
          </a:xfrm>
          <a:prstGeom prst="roundRect">
            <a:avLst>
              <a:gd name="adj" fmla="val 2105"/>
            </a:avLst>
          </a:prstGeom>
          <a:solidFill>
            <a:srgbClr val="F2F3F5"/>
          </a:solidFill>
          <a:ln w="12700">
            <a:solidFill>
              <a:srgbClr val="F2F3F5"/>
            </a:solidFill>
            <a:prstDash val="solid"/>
          </a:ln>
        </p:spPr>
      </p:sp>
      <p:sp>
        <p:nvSpPr>
          <p:cNvPr id="20" name="Text 14"/>
          <p:cNvSpPr txBox="1"/>
          <p:nvPr/>
        </p:nvSpPr>
        <p:spPr>
          <a:xfrm>
            <a:off x="4983480" y="1188720"/>
            <a:ext cx="3474720" cy="365760"/>
          </a:xfrm>
          <a:prstGeom prst="rect">
            <a:avLst/>
          </a:prstGeom>
          <a:noFill/>
          <a:ln/>
        </p:spPr>
        <p:txBody>
          <a:bodyPr wrap="square" lIns="0" tIns="0" rIns="0" bIns="0" rtlCol="0" anchor="t"/>
          <a:lstStyle/>
          <a:p>
            <a:pPr indent="0" marL="0">
              <a:buNone/>
            </a:pPr>
            <a:r>
              <a:rPr lang="en-US" sz="1500" b="1" dirty="0">
                <a:solidFill>
                  <a:srgbClr val="4A5260"/>
                </a:solidFill>
                <a:latin typeface="Calibri" pitchFamily="34" charset="0"/>
                <a:ea typeface="Calibri" pitchFamily="34" charset="-122"/>
                <a:cs typeface="Calibri" pitchFamily="34" charset="-120"/>
              </a:rPr>
              <a:t>PULL  ·  Chef / Puppet</a:t>
            </a:r>
            <a:endParaRPr lang="en-US" sz="1500" dirty="0"/>
          </a:p>
        </p:txBody>
      </p:sp>
      <p:sp>
        <p:nvSpPr>
          <p:cNvPr id="21" name="Shape 15"/>
          <p:cNvSpPr/>
          <p:nvPr/>
        </p:nvSpPr>
        <p:spPr>
          <a:xfrm>
            <a:off x="5120640" y="2331720"/>
            <a:ext cx="731520" cy="731520"/>
          </a:xfrm>
          <a:prstGeom prst="ellipse">
            <a:avLst/>
          </a:prstGeom>
          <a:solidFill>
            <a:srgbClr val="4A5260"/>
          </a:solidFill>
          <a:ln w="12700">
            <a:solidFill>
              <a:srgbClr val="4A5260"/>
            </a:solidFill>
            <a:prstDash val="solid"/>
          </a:ln>
        </p:spPr>
      </p:sp>
      <p:pic>
        <p:nvPicPr>
          <p:cNvPr id="22" name="Image 4" descr="preencoded.png">    </p:cNvPr>
          <p:cNvPicPr>
            <a:picLocks noChangeAspect="1"/>
          </p:cNvPicPr>
          <p:nvPr/>
        </p:nvPicPr>
        <p:blipFill>
          <a:blip r:embed="rId5"/>
          <a:stretch>
            <a:fillRect/>
          </a:stretch>
        </p:blipFill>
        <p:spPr>
          <a:xfrm>
            <a:off x="5310835" y="2521915"/>
            <a:ext cx="351130" cy="351130"/>
          </a:xfrm>
          <a:prstGeom prst="rect">
            <a:avLst/>
          </a:prstGeom>
        </p:spPr>
      </p:pic>
      <p:sp>
        <p:nvSpPr>
          <p:cNvPr id="23" name="Text 16"/>
          <p:cNvSpPr txBox="1"/>
          <p:nvPr/>
        </p:nvSpPr>
        <p:spPr>
          <a:xfrm>
            <a:off x="4800600" y="3108960"/>
            <a:ext cx="1371600" cy="274320"/>
          </a:xfrm>
          <a:prstGeom prst="rect">
            <a:avLst/>
          </a:prstGeom>
          <a:noFill/>
          <a:ln/>
        </p:spPr>
        <p:txBody>
          <a:bodyPr wrap="square" lIns="0" tIns="0" rIns="0" bIns="0" rtlCol="0" anchor="t"/>
          <a:lstStyle/>
          <a:p>
            <a:pPr algn="ctr" indent="0" marL="0">
              <a:buNone/>
            </a:pPr>
            <a:r>
              <a:rPr lang="en-US" sz="1100" b="1" dirty="0">
                <a:solidFill>
                  <a:srgbClr val="1F2328"/>
                </a:solidFill>
                <a:latin typeface="Calibri" pitchFamily="34" charset="0"/>
                <a:ea typeface="Calibri" pitchFamily="34" charset="-122"/>
                <a:cs typeface="Calibri" pitchFamily="34" charset="-120"/>
              </a:rPr>
              <a:t>Master server</a:t>
            </a:r>
            <a:endParaRPr lang="en-US" sz="1100" dirty="0"/>
          </a:p>
        </p:txBody>
      </p:sp>
      <p:sp>
        <p:nvSpPr>
          <p:cNvPr id="24" name="Shape 17"/>
          <p:cNvSpPr/>
          <p:nvPr/>
        </p:nvSpPr>
        <p:spPr>
          <a:xfrm>
            <a:off x="7498080" y="1691640"/>
            <a:ext cx="548640" cy="548640"/>
          </a:xfrm>
          <a:prstGeom prst="ellipse">
            <a:avLst/>
          </a:prstGeom>
          <a:solidFill>
            <a:srgbClr val="4A5260"/>
          </a:solidFill>
          <a:ln w="12700">
            <a:solidFill>
              <a:srgbClr val="4A5260"/>
            </a:solidFill>
            <a:prstDash val="solid"/>
          </a:ln>
        </p:spPr>
      </p:sp>
      <p:pic>
        <p:nvPicPr>
          <p:cNvPr id="25" name="Image 5" descr="preencoded.png">    </p:cNvPr>
          <p:cNvPicPr>
            <a:picLocks noChangeAspect="1"/>
          </p:cNvPicPr>
          <p:nvPr/>
        </p:nvPicPr>
        <p:blipFill>
          <a:blip r:embed="rId6"/>
          <a:stretch>
            <a:fillRect/>
          </a:stretch>
        </p:blipFill>
        <p:spPr>
          <a:xfrm>
            <a:off x="7640726" y="1834286"/>
            <a:ext cx="263347" cy="263347"/>
          </a:xfrm>
          <a:prstGeom prst="rect">
            <a:avLst/>
          </a:prstGeom>
        </p:spPr>
      </p:pic>
      <p:sp>
        <p:nvSpPr>
          <p:cNvPr id="26" name="Shape 18"/>
          <p:cNvSpPr/>
          <p:nvPr/>
        </p:nvSpPr>
        <p:spPr>
          <a:xfrm flipH="1">
            <a:off x="5943600" y="1965960"/>
            <a:ext cx="1508760" cy="731520"/>
          </a:xfrm>
          <a:prstGeom prst="line">
            <a:avLst/>
          </a:prstGeom>
          <a:noFill/>
          <a:ln w="19050">
            <a:solidFill>
              <a:srgbClr val="4A5260"/>
            </a:solidFill>
            <a:prstDash val="solid"/>
            <a:tailEnd type="triangle"/>
          </a:ln>
        </p:spPr>
      </p:sp>
      <p:sp>
        <p:nvSpPr>
          <p:cNvPr id="27" name="Shape 19"/>
          <p:cNvSpPr/>
          <p:nvPr/>
        </p:nvSpPr>
        <p:spPr>
          <a:xfrm>
            <a:off x="8092440" y="1828800"/>
            <a:ext cx="502920" cy="274320"/>
          </a:xfrm>
          <a:prstGeom prst="roundRect">
            <a:avLst>
              <a:gd name="adj" fmla="val 16667"/>
            </a:avLst>
          </a:prstGeom>
          <a:solidFill>
            <a:srgbClr val="C98A0B"/>
          </a:solidFill>
          <a:ln w="12700">
            <a:solidFill>
              <a:srgbClr val="C98A0B"/>
            </a:solidFill>
            <a:prstDash val="solid"/>
          </a:ln>
        </p:spPr>
      </p:sp>
      <p:sp>
        <p:nvSpPr>
          <p:cNvPr id="28" name="Text 20"/>
          <p:cNvSpPr txBox="1"/>
          <p:nvPr/>
        </p:nvSpPr>
        <p:spPr>
          <a:xfrm>
            <a:off x="8092440" y="1828800"/>
            <a:ext cx="5029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agent</a:t>
            </a:r>
            <a:endParaRPr lang="en-US" sz="900" dirty="0"/>
          </a:p>
        </p:txBody>
      </p:sp>
      <p:sp>
        <p:nvSpPr>
          <p:cNvPr id="29" name="Shape 21"/>
          <p:cNvSpPr/>
          <p:nvPr/>
        </p:nvSpPr>
        <p:spPr>
          <a:xfrm>
            <a:off x="7498080" y="2514600"/>
            <a:ext cx="548640" cy="548640"/>
          </a:xfrm>
          <a:prstGeom prst="ellipse">
            <a:avLst/>
          </a:prstGeom>
          <a:solidFill>
            <a:srgbClr val="4A5260"/>
          </a:solidFill>
          <a:ln w="12700">
            <a:solidFill>
              <a:srgbClr val="4A5260"/>
            </a:solidFill>
            <a:prstDash val="solid"/>
          </a:ln>
        </p:spPr>
      </p:sp>
      <p:pic>
        <p:nvPicPr>
          <p:cNvPr id="30" name="Image 6" descr="preencoded.png">    </p:cNvPr>
          <p:cNvPicPr>
            <a:picLocks noChangeAspect="1"/>
          </p:cNvPicPr>
          <p:nvPr/>
        </p:nvPicPr>
        <p:blipFill>
          <a:blip r:embed="rId7"/>
          <a:stretch>
            <a:fillRect/>
          </a:stretch>
        </p:blipFill>
        <p:spPr>
          <a:xfrm>
            <a:off x="7640726" y="2657246"/>
            <a:ext cx="263347" cy="263347"/>
          </a:xfrm>
          <a:prstGeom prst="rect">
            <a:avLst/>
          </a:prstGeom>
        </p:spPr>
      </p:pic>
      <p:sp>
        <p:nvSpPr>
          <p:cNvPr id="31" name="Shape 22"/>
          <p:cNvSpPr/>
          <p:nvPr/>
        </p:nvSpPr>
        <p:spPr>
          <a:xfrm flipH="1" flipV="1">
            <a:off x="5943600" y="2697480"/>
            <a:ext cx="1508760" cy="91440"/>
          </a:xfrm>
          <a:prstGeom prst="line">
            <a:avLst/>
          </a:prstGeom>
          <a:noFill/>
          <a:ln w="19050">
            <a:solidFill>
              <a:srgbClr val="4A5260"/>
            </a:solidFill>
            <a:prstDash val="solid"/>
            <a:tailEnd type="triangle"/>
          </a:ln>
        </p:spPr>
      </p:sp>
      <p:sp>
        <p:nvSpPr>
          <p:cNvPr id="32" name="Shape 23"/>
          <p:cNvSpPr/>
          <p:nvPr/>
        </p:nvSpPr>
        <p:spPr>
          <a:xfrm>
            <a:off x="8092440" y="2651760"/>
            <a:ext cx="502920" cy="274320"/>
          </a:xfrm>
          <a:prstGeom prst="roundRect">
            <a:avLst>
              <a:gd name="adj" fmla="val 16667"/>
            </a:avLst>
          </a:prstGeom>
          <a:solidFill>
            <a:srgbClr val="C98A0B"/>
          </a:solidFill>
          <a:ln w="12700">
            <a:solidFill>
              <a:srgbClr val="C98A0B"/>
            </a:solidFill>
            <a:prstDash val="solid"/>
          </a:ln>
        </p:spPr>
      </p:sp>
      <p:sp>
        <p:nvSpPr>
          <p:cNvPr id="33" name="Text 24"/>
          <p:cNvSpPr txBox="1"/>
          <p:nvPr/>
        </p:nvSpPr>
        <p:spPr>
          <a:xfrm>
            <a:off x="8092440" y="2651760"/>
            <a:ext cx="5029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agent</a:t>
            </a:r>
            <a:endParaRPr lang="en-US" sz="900" dirty="0"/>
          </a:p>
        </p:txBody>
      </p:sp>
      <p:sp>
        <p:nvSpPr>
          <p:cNvPr id="34" name="Shape 25"/>
          <p:cNvSpPr/>
          <p:nvPr/>
        </p:nvSpPr>
        <p:spPr>
          <a:xfrm>
            <a:off x="7498080" y="3337560"/>
            <a:ext cx="548640" cy="548640"/>
          </a:xfrm>
          <a:prstGeom prst="ellipse">
            <a:avLst/>
          </a:prstGeom>
          <a:solidFill>
            <a:srgbClr val="4A5260"/>
          </a:solidFill>
          <a:ln w="12700">
            <a:solidFill>
              <a:srgbClr val="4A5260"/>
            </a:solidFill>
            <a:prstDash val="solid"/>
          </a:ln>
        </p:spPr>
      </p:sp>
      <p:pic>
        <p:nvPicPr>
          <p:cNvPr id="35" name="Image 7" descr="preencoded.png">    </p:cNvPr>
          <p:cNvPicPr>
            <a:picLocks noChangeAspect="1"/>
          </p:cNvPicPr>
          <p:nvPr/>
        </p:nvPicPr>
        <p:blipFill>
          <a:blip r:embed="rId8"/>
          <a:stretch>
            <a:fillRect/>
          </a:stretch>
        </p:blipFill>
        <p:spPr>
          <a:xfrm>
            <a:off x="7640726" y="3480206"/>
            <a:ext cx="263347" cy="263347"/>
          </a:xfrm>
          <a:prstGeom prst="rect">
            <a:avLst/>
          </a:prstGeom>
        </p:spPr>
      </p:pic>
      <p:sp>
        <p:nvSpPr>
          <p:cNvPr id="36" name="Shape 26"/>
          <p:cNvSpPr/>
          <p:nvPr/>
        </p:nvSpPr>
        <p:spPr>
          <a:xfrm flipH="1" flipV="1">
            <a:off x="5943600" y="2697480"/>
            <a:ext cx="1508760" cy="914400"/>
          </a:xfrm>
          <a:prstGeom prst="line">
            <a:avLst/>
          </a:prstGeom>
          <a:noFill/>
          <a:ln w="19050">
            <a:solidFill>
              <a:srgbClr val="4A5260"/>
            </a:solidFill>
            <a:prstDash val="solid"/>
            <a:tailEnd type="triangle"/>
          </a:ln>
        </p:spPr>
      </p:sp>
      <p:sp>
        <p:nvSpPr>
          <p:cNvPr id="37" name="Shape 27"/>
          <p:cNvSpPr/>
          <p:nvPr/>
        </p:nvSpPr>
        <p:spPr>
          <a:xfrm>
            <a:off x="8092440" y="3474720"/>
            <a:ext cx="502920" cy="274320"/>
          </a:xfrm>
          <a:prstGeom prst="roundRect">
            <a:avLst>
              <a:gd name="adj" fmla="val 16667"/>
            </a:avLst>
          </a:prstGeom>
          <a:solidFill>
            <a:srgbClr val="C98A0B"/>
          </a:solidFill>
          <a:ln w="12700">
            <a:solidFill>
              <a:srgbClr val="C98A0B"/>
            </a:solidFill>
            <a:prstDash val="solid"/>
          </a:ln>
        </p:spPr>
      </p:sp>
      <p:sp>
        <p:nvSpPr>
          <p:cNvPr id="38" name="Text 28"/>
          <p:cNvSpPr txBox="1"/>
          <p:nvPr/>
        </p:nvSpPr>
        <p:spPr>
          <a:xfrm>
            <a:off x="8092440" y="3474720"/>
            <a:ext cx="5029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agent</a:t>
            </a:r>
            <a:endParaRPr lang="en-US" sz="900" dirty="0"/>
          </a:p>
        </p:txBody>
      </p:sp>
      <p:sp>
        <p:nvSpPr>
          <p:cNvPr id="39" name="Text 29"/>
          <p:cNvSpPr txBox="1"/>
          <p:nvPr/>
        </p:nvSpPr>
        <p:spPr>
          <a:xfrm>
            <a:off x="4983480" y="3931920"/>
            <a:ext cx="3566160" cy="548640"/>
          </a:xfrm>
          <a:prstGeom prst="rect">
            <a:avLst/>
          </a:prstGeom>
          <a:noFill/>
          <a:ln/>
        </p:spPr>
        <p:txBody>
          <a:bodyPr wrap="square" lIns="0" tIns="0" rIns="0" bIns="0" rtlCol="0" anchor="t"/>
          <a:lstStyle/>
          <a:p>
            <a:pPr indent="0" marL="0">
              <a:buNone/>
            </a:pPr>
            <a:r>
              <a:rPr lang="en-US" sz="1200" dirty="0">
                <a:solidFill>
                  <a:srgbClr val="5B6470"/>
                </a:solidFill>
                <a:latin typeface="Calibri" pitchFamily="34" charset="0"/>
                <a:ea typeface="Calibri" pitchFamily="34" charset="-122"/>
                <a:cs typeface="Calibri" pitchFamily="34" charset="-120"/>
              </a:rPr>
              <a:t>Agents check in on a schedule (e.g. every 30 min) and fix drift automatically.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9AA1AA"/>
                </a:solidFill>
                <a:latin typeface="Calibri" pitchFamily="34" charset="0"/>
                <a:ea typeface="Calibri" pitchFamily="34" charset="-122"/>
                <a:cs typeface="Calibri" pitchFamily="34" charset="-120"/>
              </a:rPr>
              <a:t>12</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Why Ansible?</a:t>
            </a:r>
            <a:endParaRPr lang="en-US" sz="28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B6470"/>
                </a:solidFill>
                <a:latin typeface="Calibri" pitchFamily="34" charset="0"/>
                <a:ea typeface="Calibri" pitchFamily="34" charset="-122"/>
                <a:cs typeface="Calibri" pitchFamily="34" charset="-120"/>
              </a:rPr>
              <a:t>The reasons teams — and beginners — pick it first</a:t>
            </a:r>
            <a:endParaRPr lang="en-US" sz="1300" dirty="0"/>
          </a:p>
        </p:txBody>
      </p:sp>
      <p:sp>
        <p:nvSpPr>
          <p:cNvPr id="5" name="Shape 3"/>
          <p:cNvSpPr/>
          <p:nvPr/>
        </p:nvSpPr>
        <p:spPr>
          <a:xfrm>
            <a:off x="457200" y="1280160"/>
            <a:ext cx="594360" cy="594360"/>
          </a:xfrm>
          <a:prstGeom prst="ellipse">
            <a:avLst/>
          </a:prstGeom>
          <a:solidFill>
            <a:srgbClr val="D92D27"/>
          </a:solidFill>
          <a:ln w="12700">
            <a:solidFill>
              <a:srgbClr val="D92D27"/>
            </a:solidFill>
            <a:prstDash val="solid"/>
          </a:ln>
        </p:spPr>
      </p:sp>
      <p:pic>
        <p:nvPicPr>
          <p:cNvPr id="6" name="Image 0" descr="preencoded.png">    </p:cNvPr>
          <p:cNvPicPr>
            <a:picLocks noChangeAspect="1"/>
          </p:cNvPicPr>
          <p:nvPr/>
        </p:nvPicPr>
        <p:blipFill>
          <a:blip r:embed="rId1"/>
          <a:stretch>
            <a:fillRect/>
          </a:stretch>
        </p:blipFill>
        <p:spPr>
          <a:xfrm>
            <a:off x="611734" y="1434694"/>
            <a:ext cx="285293" cy="285293"/>
          </a:xfrm>
          <a:prstGeom prst="rect">
            <a:avLst/>
          </a:prstGeom>
        </p:spPr>
      </p:pic>
      <p:sp>
        <p:nvSpPr>
          <p:cNvPr id="7" name="Text 4"/>
          <p:cNvSpPr txBox="1"/>
          <p:nvPr/>
        </p:nvSpPr>
        <p:spPr>
          <a:xfrm>
            <a:off x="1234440" y="1261872"/>
            <a:ext cx="3200400" cy="320040"/>
          </a:xfrm>
          <a:prstGeom prst="rect">
            <a:avLst/>
          </a:prstGeom>
          <a:noFill/>
          <a:ln/>
        </p:spPr>
        <p:txBody>
          <a:bodyPr wrap="square" lIns="0" tIns="0" rIns="0" bIns="0" rtlCol="0" anchor="t"/>
          <a:lstStyle/>
          <a:p>
            <a:pPr indent="0" marL="0">
              <a:buNone/>
            </a:pPr>
            <a:r>
              <a:rPr lang="en-US" sz="1500" b="1" dirty="0">
                <a:solidFill>
                  <a:srgbClr val="1F2328"/>
                </a:solidFill>
                <a:latin typeface="Calibri" pitchFamily="34" charset="0"/>
                <a:ea typeface="Calibri" pitchFamily="34" charset="-122"/>
                <a:cs typeface="Calibri" pitchFamily="34" charset="-120"/>
              </a:rPr>
              <a:t>Simple</a:t>
            </a:r>
            <a:endParaRPr lang="en-US" sz="1500" dirty="0"/>
          </a:p>
        </p:txBody>
      </p:sp>
      <p:sp>
        <p:nvSpPr>
          <p:cNvPr id="8" name="Text 5"/>
          <p:cNvSpPr txBox="1"/>
          <p:nvPr/>
        </p:nvSpPr>
        <p:spPr>
          <a:xfrm>
            <a:off x="1234440" y="1581912"/>
            <a:ext cx="3200400" cy="457200"/>
          </a:xfrm>
          <a:prstGeom prst="rect">
            <a:avLst/>
          </a:prstGeom>
          <a:noFill/>
          <a:ln/>
        </p:spPr>
        <p:txBody>
          <a:bodyPr wrap="square" lIns="0" tIns="0" rIns="0" bIns="0" rtlCol="0" anchor="t"/>
          <a:lstStyle/>
          <a:p>
            <a:pPr indent="0" marL="0">
              <a:buNone/>
            </a:pPr>
            <a:r>
              <a:rPr lang="en-US" sz="1200" dirty="0">
                <a:solidFill>
                  <a:srgbClr val="5B6470"/>
                </a:solidFill>
                <a:latin typeface="Calibri" pitchFamily="34" charset="0"/>
                <a:ea typeface="Calibri" pitchFamily="34" charset="-122"/>
                <a:cs typeface="Calibri" pitchFamily="34" charset="-120"/>
              </a:rPr>
              <a:t>YAML reads like a checklist. Productive in a day.</a:t>
            </a:r>
            <a:endParaRPr lang="en-US" sz="1200" dirty="0"/>
          </a:p>
        </p:txBody>
      </p:sp>
      <p:sp>
        <p:nvSpPr>
          <p:cNvPr id="9" name="Shape 6"/>
          <p:cNvSpPr/>
          <p:nvPr/>
        </p:nvSpPr>
        <p:spPr>
          <a:xfrm>
            <a:off x="4663440" y="1280160"/>
            <a:ext cx="594360" cy="594360"/>
          </a:xfrm>
          <a:prstGeom prst="ellipse">
            <a:avLst/>
          </a:prstGeom>
          <a:solidFill>
            <a:srgbClr val="D92D27"/>
          </a:solidFill>
          <a:ln w="12700">
            <a:solidFill>
              <a:srgbClr val="D92D27"/>
            </a:solidFill>
            <a:prstDash val="solid"/>
          </a:ln>
        </p:spPr>
      </p:sp>
      <p:pic>
        <p:nvPicPr>
          <p:cNvPr id="10" name="Image 1" descr="preencoded.png">    </p:cNvPr>
          <p:cNvPicPr>
            <a:picLocks noChangeAspect="1"/>
          </p:cNvPicPr>
          <p:nvPr/>
        </p:nvPicPr>
        <p:blipFill>
          <a:blip r:embed="rId2"/>
          <a:stretch>
            <a:fillRect/>
          </a:stretch>
        </p:blipFill>
        <p:spPr>
          <a:xfrm>
            <a:off x="4817974" y="1434694"/>
            <a:ext cx="285293" cy="285293"/>
          </a:xfrm>
          <a:prstGeom prst="rect">
            <a:avLst/>
          </a:prstGeom>
        </p:spPr>
      </p:pic>
      <p:sp>
        <p:nvSpPr>
          <p:cNvPr id="11" name="Text 7"/>
          <p:cNvSpPr txBox="1"/>
          <p:nvPr/>
        </p:nvSpPr>
        <p:spPr>
          <a:xfrm>
            <a:off x="5440680" y="1261872"/>
            <a:ext cx="3200400" cy="320040"/>
          </a:xfrm>
          <a:prstGeom prst="rect">
            <a:avLst/>
          </a:prstGeom>
          <a:noFill/>
          <a:ln/>
        </p:spPr>
        <p:txBody>
          <a:bodyPr wrap="square" lIns="0" tIns="0" rIns="0" bIns="0" rtlCol="0" anchor="t"/>
          <a:lstStyle/>
          <a:p>
            <a:pPr indent="0" marL="0">
              <a:buNone/>
            </a:pPr>
            <a:r>
              <a:rPr lang="en-US" sz="1500" b="1" dirty="0">
                <a:solidFill>
                  <a:srgbClr val="1F2328"/>
                </a:solidFill>
                <a:latin typeface="Calibri" pitchFamily="34" charset="0"/>
                <a:ea typeface="Calibri" pitchFamily="34" charset="-122"/>
                <a:cs typeface="Calibri" pitchFamily="34" charset="-120"/>
              </a:rPr>
              <a:t>Agentless</a:t>
            </a:r>
            <a:endParaRPr lang="en-US" sz="1500" dirty="0"/>
          </a:p>
        </p:txBody>
      </p:sp>
      <p:sp>
        <p:nvSpPr>
          <p:cNvPr id="12" name="Text 8"/>
          <p:cNvSpPr txBox="1"/>
          <p:nvPr/>
        </p:nvSpPr>
        <p:spPr>
          <a:xfrm>
            <a:off x="5440680" y="1581912"/>
            <a:ext cx="3200400" cy="457200"/>
          </a:xfrm>
          <a:prstGeom prst="rect">
            <a:avLst/>
          </a:prstGeom>
          <a:noFill/>
          <a:ln/>
        </p:spPr>
        <p:txBody>
          <a:bodyPr wrap="square" lIns="0" tIns="0" rIns="0" bIns="0" rtlCol="0" anchor="t"/>
          <a:lstStyle/>
          <a:p>
            <a:pPr indent="0" marL="0">
              <a:buNone/>
            </a:pPr>
            <a:r>
              <a:rPr lang="en-US" sz="1200" dirty="0">
                <a:solidFill>
                  <a:srgbClr val="5B6470"/>
                </a:solidFill>
                <a:latin typeface="Calibri" pitchFamily="34" charset="0"/>
                <a:ea typeface="Calibri" pitchFamily="34" charset="-122"/>
                <a:cs typeface="Calibri" pitchFamily="34" charset="-120"/>
              </a:rPr>
              <a:t>Only SSH + Python on targets. Nothing to patch or monitor.</a:t>
            </a:r>
            <a:endParaRPr lang="en-US" sz="1200" dirty="0"/>
          </a:p>
        </p:txBody>
      </p:sp>
      <p:sp>
        <p:nvSpPr>
          <p:cNvPr id="13" name="Shape 9"/>
          <p:cNvSpPr/>
          <p:nvPr/>
        </p:nvSpPr>
        <p:spPr>
          <a:xfrm>
            <a:off x="457200" y="2377440"/>
            <a:ext cx="594360" cy="594360"/>
          </a:xfrm>
          <a:prstGeom prst="ellipse">
            <a:avLst/>
          </a:prstGeom>
          <a:solidFill>
            <a:srgbClr val="D92D27"/>
          </a:solidFill>
          <a:ln w="12700">
            <a:solidFill>
              <a:srgbClr val="D92D27"/>
            </a:solidFill>
            <a:prstDash val="solid"/>
          </a:ln>
        </p:spPr>
      </p:sp>
      <p:pic>
        <p:nvPicPr>
          <p:cNvPr id="14" name="Image 2" descr="preencoded.png">    </p:cNvPr>
          <p:cNvPicPr>
            <a:picLocks noChangeAspect="1"/>
          </p:cNvPicPr>
          <p:nvPr/>
        </p:nvPicPr>
        <p:blipFill>
          <a:blip r:embed="rId3"/>
          <a:stretch>
            <a:fillRect/>
          </a:stretch>
        </p:blipFill>
        <p:spPr>
          <a:xfrm>
            <a:off x="611734" y="2531974"/>
            <a:ext cx="285293" cy="285293"/>
          </a:xfrm>
          <a:prstGeom prst="rect">
            <a:avLst/>
          </a:prstGeom>
        </p:spPr>
      </p:pic>
      <p:sp>
        <p:nvSpPr>
          <p:cNvPr id="15" name="Text 10"/>
          <p:cNvSpPr txBox="1"/>
          <p:nvPr/>
        </p:nvSpPr>
        <p:spPr>
          <a:xfrm>
            <a:off x="1234440" y="2359152"/>
            <a:ext cx="3200400" cy="320040"/>
          </a:xfrm>
          <a:prstGeom prst="rect">
            <a:avLst/>
          </a:prstGeom>
          <a:noFill/>
          <a:ln/>
        </p:spPr>
        <p:txBody>
          <a:bodyPr wrap="square" lIns="0" tIns="0" rIns="0" bIns="0" rtlCol="0" anchor="t"/>
          <a:lstStyle/>
          <a:p>
            <a:pPr indent="0" marL="0">
              <a:buNone/>
            </a:pPr>
            <a:r>
              <a:rPr lang="en-US" sz="1500" b="1" dirty="0">
                <a:solidFill>
                  <a:srgbClr val="1F2328"/>
                </a:solidFill>
                <a:latin typeface="Calibri" pitchFamily="34" charset="0"/>
                <a:ea typeface="Calibri" pitchFamily="34" charset="-122"/>
                <a:cs typeface="Calibri" pitchFamily="34" charset="-120"/>
              </a:rPr>
              <a:t>Idempotent</a:t>
            </a:r>
            <a:endParaRPr lang="en-US" sz="1500" dirty="0"/>
          </a:p>
        </p:txBody>
      </p:sp>
      <p:sp>
        <p:nvSpPr>
          <p:cNvPr id="16" name="Text 11"/>
          <p:cNvSpPr txBox="1"/>
          <p:nvPr/>
        </p:nvSpPr>
        <p:spPr>
          <a:xfrm>
            <a:off x="1234440" y="2679192"/>
            <a:ext cx="3200400" cy="457200"/>
          </a:xfrm>
          <a:prstGeom prst="rect">
            <a:avLst/>
          </a:prstGeom>
          <a:noFill/>
          <a:ln/>
        </p:spPr>
        <p:txBody>
          <a:bodyPr wrap="square" lIns="0" tIns="0" rIns="0" bIns="0" rtlCol="0" anchor="t"/>
          <a:lstStyle/>
          <a:p>
            <a:pPr indent="0" marL="0">
              <a:buNone/>
            </a:pPr>
            <a:r>
              <a:rPr lang="en-US" sz="1200" dirty="0">
                <a:solidFill>
                  <a:srgbClr val="5B6470"/>
                </a:solidFill>
                <a:latin typeface="Calibri" pitchFamily="34" charset="0"/>
                <a:ea typeface="Calibri" pitchFamily="34" charset="-122"/>
                <a:cs typeface="Calibri" pitchFamily="34" charset="-120"/>
              </a:rPr>
              <a:t>Safe to re-run. Only changes what is different.</a:t>
            </a:r>
            <a:endParaRPr lang="en-US" sz="1200" dirty="0"/>
          </a:p>
        </p:txBody>
      </p:sp>
      <p:sp>
        <p:nvSpPr>
          <p:cNvPr id="17" name="Shape 12"/>
          <p:cNvSpPr/>
          <p:nvPr/>
        </p:nvSpPr>
        <p:spPr>
          <a:xfrm>
            <a:off x="4663440" y="2377440"/>
            <a:ext cx="594360" cy="594360"/>
          </a:xfrm>
          <a:prstGeom prst="ellipse">
            <a:avLst/>
          </a:prstGeom>
          <a:solidFill>
            <a:srgbClr val="D92D27"/>
          </a:solidFill>
          <a:ln w="12700">
            <a:solidFill>
              <a:srgbClr val="D92D27"/>
            </a:solidFill>
            <a:prstDash val="solid"/>
          </a:ln>
        </p:spPr>
      </p:sp>
      <p:pic>
        <p:nvPicPr>
          <p:cNvPr id="18" name="Image 3" descr="preencoded.png">    </p:cNvPr>
          <p:cNvPicPr>
            <a:picLocks noChangeAspect="1"/>
          </p:cNvPicPr>
          <p:nvPr/>
        </p:nvPicPr>
        <p:blipFill>
          <a:blip r:embed="rId4"/>
          <a:stretch>
            <a:fillRect/>
          </a:stretch>
        </p:blipFill>
        <p:spPr>
          <a:xfrm>
            <a:off x="4817974" y="2531974"/>
            <a:ext cx="285293" cy="285293"/>
          </a:xfrm>
          <a:prstGeom prst="rect">
            <a:avLst/>
          </a:prstGeom>
        </p:spPr>
      </p:pic>
      <p:sp>
        <p:nvSpPr>
          <p:cNvPr id="19" name="Text 13"/>
          <p:cNvSpPr txBox="1"/>
          <p:nvPr/>
        </p:nvSpPr>
        <p:spPr>
          <a:xfrm>
            <a:off x="5440680" y="2359152"/>
            <a:ext cx="3200400" cy="320040"/>
          </a:xfrm>
          <a:prstGeom prst="rect">
            <a:avLst/>
          </a:prstGeom>
          <a:noFill/>
          <a:ln/>
        </p:spPr>
        <p:txBody>
          <a:bodyPr wrap="square" lIns="0" tIns="0" rIns="0" bIns="0" rtlCol="0" anchor="t"/>
          <a:lstStyle/>
          <a:p>
            <a:pPr indent="0" marL="0">
              <a:buNone/>
            </a:pPr>
            <a:r>
              <a:rPr lang="en-US" sz="1500" b="1" dirty="0">
                <a:solidFill>
                  <a:srgbClr val="1F2328"/>
                </a:solidFill>
                <a:latin typeface="Calibri" pitchFamily="34" charset="0"/>
                <a:ea typeface="Calibri" pitchFamily="34" charset="-122"/>
                <a:cs typeface="Calibri" pitchFamily="34" charset="-120"/>
              </a:rPr>
              <a:t>Batteries included</a:t>
            </a:r>
            <a:endParaRPr lang="en-US" sz="1500" dirty="0"/>
          </a:p>
        </p:txBody>
      </p:sp>
      <p:sp>
        <p:nvSpPr>
          <p:cNvPr id="20" name="Text 14"/>
          <p:cNvSpPr txBox="1"/>
          <p:nvPr/>
        </p:nvSpPr>
        <p:spPr>
          <a:xfrm>
            <a:off x="5440680" y="2679192"/>
            <a:ext cx="3200400" cy="457200"/>
          </a:xfrm>
          <a:prstGeom prst="rect">
            <a:avLst/>
          </a:prstGeom>
          <a:noFill/>
          <a:ln/>
        </p:spPr>
        <p:txBody>
          <a:bodyPr wrap="square" lIns="0" tIns="0" rIns="0" bIns="0" rtlCol="0" anchor="t"/>
          <a:lstStyle/>
          <a:p>
            <a:pPr indent="0" marL="0">
              <a:buNone/>
            </a:pPr>
            <a:r>
              <a:rPr lang="en-US" sz="1200" dirty="0">
                <a:solidFill>
                  <a:srgbClr val="5B6470"/>
                </a:solidFill>
                <a:latin typeface="Calibri" pitchFamily="34" charset="0"/>
                <a:ea typeface="Calibri" pitchFamily="34" charset="-122"/>
                <a:cs typeface="Calibri" pitchFamily="34" charset="-120"/>
              </a:rPr>
              <a:t>Thousands of modules and collections on Ansible Galaxy.</a:t>
            </a:r>
            <a:endParaRPr lang="en-US" sz="1200" dirty="0"/>
          </a:p>
        </p:txBody>
      </p:sp>
      <p:sp>
        <p:nvSpPr>
          <p:cNvPr id="21" name="Shape 15"/>
          <p:cNvSpPr/>
          <p:nvPr/>
        </p:nvSpPr>
        <p:spPr>
          <a:xfrm>
            <a:off x="457200" y="3474720"/>
            <a:ext cx="594360" cy="594360"/>
          </a:xfrm>
          <a:prstGeom prst="ellipse">
            <a:avLst/>
          </a:prstGeom>
          <a:solidFill>
            <a:srgbClr val="D92D27"/>
          </a:solidFill>
          <a:ln w="12700">
            <a:solidFill>
              <a:srgbClr val="D92D27"/>
            </a:solidFill>
            <a:prstDash val="solid"/>
          </a:ln>
        </p:spPr>
      </p:sp>
      <p:pic>
        <p:nvPicPr>
          <p:cNvPr id="22" name="Image 4" descr="preencoded.png">    </p:cNvPr>
          <p:cNvPicPr>
            <a:picLocks noChangeAspect="1"/>
          </p:cNvPicPr>
          <p:nvPr/>
        </p:nvPicPr>
        <p:blipFill>
          <a:blip r:embed="rId5"/>
          <a:stretch>
            <a:fillRect/>
          </a:stretch>
        </p:blipFill>
        <p:spPr>
          <a:xfrm>
            <a:off x="611734" y="3629254"/>
            <a:ext cx="285293" cy="285293"/>
          </a:xfrm>
          <a:prstGeom prst="rect">
            <a:avLst/>
          </a:prstGeom>
        </p:spPr>
      </p:pic>
      <p:sp>
        <p:nvSpPr>
          <p:cNvPr id="23" name="Text 16"/>
          <p:cNvSpPr txBox="1"/>
          <p:nvPr/>
        </p:nvSpPr>
        <p:spPr>
          <a:xfrm>
            <a:off x="1234440" y="3456432"/>
            <a:ext cx="3200400" cy="320040"/>
          </a:xfrm>
          <a:prstGeom prst="rect">
            <a:avLst/>
          </a:prstGeom>
          <a:noFill/>
          <a:ln/>
        </p:spPr>
        <p:txBody>
          <a:bodyPr wrap="square" lIns="0" tIns="0" rIns="0" bIns="0" rtlCol="0" anchor="t"/>
          <a:lstStyle/>
          <a:p>
            <a:pPr indent="0" marL="0">
              <a:buNone/>
            </a:pPr>
            <a:r>
              <a:rPr lang="en-US" sz="1500" b="1" dirty="0">
                <a:solidFill>
                  <a:srgbClr val="1F2328"/>
                </a:solidFill>
                <a:latin typeface="Calibri" pitchFamily="34" charset="0"/>
                <a:ea typeface="Calibri" pitchFamily="34" charset="-122"/>
                <a:cs typeface="Calibri" pitchFamily="34" charset="-120"/>
              </a:rPr>
              <a:t>Works everywhere</a:t>
            </a:r>
            <a:endParaRPr lang="en-US" sz="1500" dirty="0"/>
          </a:p>
        </p:txBody>
      </p:sp>
      <p:sp>
        <p:nvSpPr>
          <p:cNvPr id="24" name="Text 17"/>
          <p:cNvSpPr txBox="1"/>
          <p:nvPr/>
        </p:nvSpPr>
        <p:spPr>
          <a:xfrm>
            <a:off x="1234440" y="3776472"/>
            <a:ext cx="3200400" cy="457200"/>
          </a:xfrm>
          <a:prstGeom prst="rect">
            <a:avLst/>
          </a:prstGeom>
          <a:noFill/>
          <a:ln/>
        </p:spPr>
        <p:txBody>
          <a:bodyPr wrap="square" lIns="0" tIns="0" rIns="0" bIns="0" rtlCol="0" anchor="t"/>
          <a:lstStyle/>
          <a:p>
            <a:pPr indent="0" marL="0">
              <a:buNone/>
            </a:pPr>
            <a:r>
              <a:rPr lang="en-US" sz="1200" dirty="0">
                <a:solidFill>
                  <a:srgbClr val="5B6470"/>
                </a:solidFill>
                <a:latin typeface="Calibri" pitchFamily="34" charset="0"/>
                <a:ea typeface="Calibri" pitchFamily="34" charset="-122"/>
                <a:cs typeface="Calibri" pitchFamily="34" charset="-120"/>
              </a:rPr>
              <a:t>Linux, Windows, cloud, containers, network gear.</a:t>
            </a:r>
            <a:endParaRPr lang="en-US" sz="1200" dirty="0"/>
          </a:p>
        </p:txBody>
      </p:sp>
      <p:sp>
        <p:nvSpPr>
          <p:cNvPr id="25" name="Shape 18"/>
          <p:cNvSpPr/>
          <p:nvPr/>
        </p:nvSpPr>
        <p:spPr>
          <a:xfrm>
            <a:off x="4663440" y="3474720"/>
            <a:ext cx="594360" cy="594360"/>
          </a:xfrm>
          <a:prstGeom prst="ellipse">
            <a:avLst/>
          </a:prstGeom>
          <a:solidFill>
            <a:srgbClr val="D92D27"/>
          </a:solidFill>
          <a:ln w="12700">
            <a:solidFill>
              <a:srgbClr val="D92D27"/>
            </a:solidFill>
            <a:prstDash val="solid"/>
          </a:ln>
        </p:spPr>
      </p:sp>
      <p:pic>
        <p:nvPicPr>
          <p:cNvPr id="26" name="Image 5" descr="preencoded.png">    </p:cNvPr>
          <p:cNvPicPr>
            <a:picLocks noChangeAspect="1"/>
          </p:cNvPicPr>
          <p:nvPr/>
        </p:nvPicPr>
        <p:blipFill>
          <a:blip r:embed="rId6"/>
          <a:stretch>
            <a:fillRect/>
          </a:stretch>
        </p:blipFill>
        <p:spPr>
          <a:xfrm>
            <a:off x="4817974" y="3629254"/>
            <a:ext cx="285293" cy="285293"/>
          </a:xfrm>
          <a:prstGeom prst="rect">
            <a:avLst/>
          </a:prstGeom>
        </p:spPr>
      </p:pic>
      <p:sp>
        <p:nvSpPr>
          <p:cNvPr id="27" name="Text 19"/>
          <p:cNvSpPr txBox="1"/>
          <p:nvPr/>
        </p:nvSpPr>
        <p:spPr>
          <a:xfrm>
            <a:off x="5440680" y="3456432"/>
            <a:ext cx="3200400" cy="320040"/>
          </a:xfrm>
          <a:prstGeom prst="rect">
            <a:avLst/>
          </a:prstGeom>
          <a:noFill/>
          <a:ln/>
        </p:spPr>
        <p:txBody>
          <a:bodyPr wrap="square" lIns="0" tIns="0" rIns="0" bIns="0" rtlCol="0" anchor="t"/>
          <a:lstStyle/>
          <a:p>
            <a:pPr indent="0" marL="0">
              <a:buNone/>
            </a:pPr>
            <a:r>
              <a:rPr lang="en-US" sz="1500" b="1" dirty="0">
                <a:solidFill>
                  <a:srgbClr val="1F2328"/>
                </a:solidFill>
                <a:latin typeface="Calibri" pitchFamily="34" charset="0"/>
                <a:ea typeface="Calibri" pitchFamily="34" charset="-122"/>
                <a:cs typeface="Calibri" pitchFamily="34" charset="-120"/>
              </a:rPr>
              <a:t>Huge community</a:t>
            </a:r>
            <a:endParaRPr lang="en-US" sz="1500" dirty="0"/>
          </a:p>
        </p:txBody>
      </p:sp>
      <p:sp>
        <p:nvSpPr>
          <p:cNvPr id="28" name="Text 20"/>
          <p:cNvSpPr txBox="1"/>
          <p:nvPr/>
        </p:nvSpPr>
        <p:spPr>
          <a:xfrm>
            <a:off x="5440680" y="3776472"/>
            <a:ext cx="3200400" cy="457200"/>
          </a:xfrm>
          <a:prstGeom prst="rect">
            <a:avLst/>
          </a:prstGeom>
          <a:noFill/>
          <a:ln/>
        </p:spPr>
        <p:txBody>
          <a:bodyPr wrap="square" lIns="0" tIns="0" rIns="0" bIns="0" rtlCol="0" anchor="t"/>
          <a:lstStyle/>
          <a:p>
            <a:pPr indent="0" marL="0">
              <a:buNone/>
            </a:pPr>
            <a:r>
              <a:rPr lang="en-US" sz="1200" dirty="0">
                <a:solidFill>
                  <a:srgbClr val="5B6470"/>
                </a:solidFill>
                <a:latin typeface="Calibri" pitchFamily="34" charset="0"/>
                <a:ea typeface="Calibri" pitchFamily="34" charset="-122"/>
                <a:cs typeface="Calibri" pitchFamily="34" charset="-120"/>
              </a:rPr>
              <a:t>Top DevOps skill in job listings; backed by Red Hat.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81D"/>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
        <p:nvSpPr>
          <p:cNvPr id="3" name="Text 1"/>
          <p:cNvSpPr txBox="1"/>
          <p:nvPr/>
        </p:nvSpPr>
        <p:spPr>
          <a:xfrm>
            <a:off x="457200" y="685800"/>
            <a:ext cx="2743200" cy="1280160"/>
          </a:xfrm>
          <a:prstGeom prst="rect">
            <a:avLst/>
          </a:prstGeom>
          <a:noFill/>
          <a:ln/>
        </p:spPr>
        <p:txBody>
          <a:bodyPr wrap="square" lIns="0" tIns="0" rIns="0" bIns="0" rtlCol="0" anchor="ctr"/>
          <a:lstStyle/>
          <a:p>
            <a:pPr indent="0" marL="0">
              <a:buNone/>
            </a:pPr>
            <a:r>
              <a:rPr lang="en-US" sz="9600" b="1" dirty="0">
                <a:solidFill>
                  <a:srgbClr val="D92D27"/>
                </a:solidFill>
                <a:latin typeface="Arial" pitchFamily="34" charset="0"/>
                <a:ea typeface="Arial" pitchFamily="34" charset="-122"/>
                <a:cs typeface="Arial" pitchFamily="34" charset="-120"/>
              </a:rPr>
              <a:t>03</a:t>
            </a:r>
            <a:endParaRPr lang="en-US" sz="9600" dirty="0"/>
          </a:p>
        </p:txBody>
      </p:sp>
      <p:sp>
        <p:nvSpPr>
          <p:cNvPr id="4" name="Text 2"/>
          <p:cNvSpPr txBox="1"/>
          <p:nvPr/>
        </p:nvSpPr>
        <p:spPr>
          <a:xfrm>
            <a:off x="457200" y="2011680"/>
            <a:ext cx="8046720" cy="1234440"/>
          </a:xfrm>
          <a:prstGeom prst="rect">
            <a:avLst/>
          </a:prstGeom>
          <a:noFill/>
          <a:ln/>
        </p:spPr>
        <p:txBody>
          <a:bodyPr wrap="square" lIns="0" tIns="0" rIns="0" bIns="0" rtlCol="0" anchor="b"/>
          <a:lstStyle/>
          <a:p>
            <a:pPr indent="0" marL="0">
              <a:buNone/>
            </a:pPr>
            <a:r>
              <a:rPr lang="en-US" sz="3600" b="1" dirty="0">
                <a:solidFill>
                  <a:srgbClr val="FFFFFF"/>
                </a:solidFill>
                <a:latin typeface="Arial" pitchFamily="34" charset="0"/>
                <a:ea typeface="Arial" pitchFamily="34" charset="-122"/>
                <a:cs typeface="Arial" pitchFamily="34" charset="-120"/>
              </a:rPr>
              <a:t>Architecture &amp; Terminologies</a:t>
            </a:r>
            <a:endParaRPr lang="en-US" sz="3600" dirty="0"/>
          </a:p>
        </p:txBody>
      </p:sp>
      <p:sp>
        <p:nvSpPr>
          <p:cNvPr id="5" name="Text 3"/>
          <p:cNvSpPr txBox="1"/>
          <p:nvPr/>
        </p:nvSpPr>
        <p:spPr>
          <a:xfrm>
            <a:off x="457200" y="3291840"/>
            <a:ext cx="7772400" cy="457200"/>
          </a:xfrm>
          <a:prstGeom prst="rect">
            <a:avLst/>
          </a:prstGeom>
          <a:noFill/>
          <a:ln/>
        </p:spPr>
        <p:txBody>
          <a:bodyPr wrap="square" lIns="0" tIns="0" rIns="0" bIns="0" rtlCol="0" anchor="ctr"/>
          <a:lstStyle/>
          <a:p>
            <a:pPr indent="0" marL="0">
              <a:buNone/>
            </a:pPr>
            <a:r>
              <a:rPr lang="en-US" sz="1600" dirty="0">
                <a:solidFill>
                  <a:srgbClr val="B8BEC7"/>
                </a:solidFill>
                <a:latin typeface="Calibri" pitchFamily="34" charset="0"/>
                <a:ea typeface="Calibri" pitchFamily="34" charset="-122"/>
                <a:cs typeface="Calibri" pitchFamily="34" charset="-120"/>
              </a:rPr>
              <a:t>How the pieces fit together, and the vocabulary you need</a:t>
            </a:r>
            <a:endParaRPr lang="en-US" sz="1600" dirty="0"/>
          </a:p>
        </p:txBody>
      </p:sp>
      <p:sp>
        <p:nvSpPr>
          <p:cNvPr id="6" name="Shape 4"/>
          <p:cNvSpPr/>
          <p:nvPr/>
        </p:nvSpPr>
        <p:spPr>
          <a:xfrm>
            <a:off x="457200" y="4023360"/>
            <a:ext cx="1371600" cy="365760"/>
          </a:xfrm>
          <a:prstGeom prst="roundRect">
            <a:avLst>
              <a:gd name="adj" fmla="val 50000"/>
            </a:avLst>
          </a:prstGeom>
          <a:solidFill>
            <a:srgbClr val="2A2E36"/>
          </a:solidFill>
          <a:ln w="12700">
            <a:solidFill>
              <a:srgbClr val="2A2E36"/>
            </a:solidFill>
            <a:prstDash val="solid"/>
          </a:ln>
        </p:spPr>
      </p:sp>
      <p:sp>
        <p:nvSpPr>
          <p:cNvPr id="7" name="Text 5"/>
          <p:cNvSpPr txBox="1"/>
          <p:nvPr/>
        </p:nvSpPr>
        <p:spPr>
          <a:xfrm>
            <a:off x="457200" y="4023360"/>
            <a:ext cx="137160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 22 min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9AA1AA"/>
                </a:solidFill>
                <a:latin typeface="Calibri" pitchFamily="34" charset="0"/>
                <a:ea typeface="Calibri" pitchFamily="34" charset="-122"/>
                <a:cs typeface="Calibri" pitchFamily="34" charset="-120"/>
              </a:rPr>
              <a:t>14</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Ansible architecture</a:t>
            </a:r>
            <a:endParaRPr lang="en-US" sz="2800" dirty="0"/>
          </a:p>
        </p:txBody>
      </p:sp>
      <p:sp>
        <p:nvSpPr>
          <p:cNvPr id="4" name="Shape 2"/>
          <p:cNvSpPr/>
          <p:nvPr/>
        </p:nvSpPr>
        <p:spPr>
          <a:xfrm>
            <a:off x="457200" y="1051560"/>
            <a:ext cx="4754880" cy="3566160"/>
          </a:xfrm>
          <a:prstGeom prst="roundRect">
            <a:avLst>
              <a:gd name="adj" fmla="val 2051"/>
            </a:avLst>
          </a:prstGeom>
          <a:solidFill>
            <a:srgbClr val="F2F3F5"/>
          </a:solidFill>
          <a:ln w="12700">
            <a:solidFill>
              <a:srgbClr val="D0D4DA"/>
            </a:solidFill>
            <a:prstDash val="solid"/>
          </a:ln>
        </p:spPr>
      </p:sp>
      <p:pic>
        <p:nvPicPr>
          <p:cNvPr id="5" name="Image 0" descr="preencoded.png">    </p:cNvPr>
          <p:cNvPicPr>
            <a:picLocks noChangeAspect="1"/>
          </p:cNvPicPr>
          <p:nvPr/>
        </p:nvPicPr>
        <p:blipFill>
          <a:blip r:embed="rId1"/>
          <a:stretch>
            <a:fillRect/>
          </a:stretch>
        </p:blipFill>
        <p:spPr>
          <a:xfrm>
            <a:off x="640080" y="1170432"/>
            <a:ext cx="292608" cy="292608"/>
          </a:xfrm>
          <a:prstGeom prst="rect">
            <a:avLst/>
          </a:prstGeom>
        </p:spPr>
      </p:pic>
      <p:sp>
        <p:nvSpPr>
          <p:cNvPr id="6" name="Text 3"/>
          <p:cNvSpPr txBox="1"/>
          <p:nvPr/>
        </p:nvSpPr>
        <p:spPr>
          <a:xfrm>
            <a:off x="1005840" y="1170432"/>
            <a:ext cx="2743200" cy="292608"/>
          </a:xfrm>
          <a:prstGeom prst="rect">
            <a:avLst/>
          </a:prstGeom>
          <a:noFill/>
          <a:ln/>
        </p:spPr>
        <p:txBody>
          <a:bodyPr wrap="square" lIns="0" tIns="0" rIns="0" bIns="0" rtlCol="0" anchor="ctr"/>
          <a:lstStyle/>
          <a:p>
            <a:pPr indent="0" marL="0">
              <a:buNone/>
            </a:pPr>
            <a:r>
              <a:rPr lang="en-US" sz="1300" b="1" dirty="0">
                <a:solidFill>
                  <a:srgbClr val="1F2328"/>
                </a:solidFill>
                <a:latin typeface="Calibri" pitchFamily="34" charset="0"/>
                <a:ea typeface="Calibri" pitchFamily="34" charset="-122"/>
                <a:cs typeface="Calibri" pitchFamily="34" charset="-120"/>
              </a:rPr>
              <a:t>CONTROL NODE</a:t>
            </a:r>
            <a:endParaRPr lang="en-US" sz="1300" dirty="0"/>
          </a:p>
        </p:txBody>
      </p:sp>
      <p:sp>
        <p:nvSpPr>
          <p:cNvPr id="7" name="Shape 4"/>
          <p:cNvSpPr/>
          <p:nvPr/>
        </p:nvSpPr>
        <p:spPr>
          <a:xfrm>
            <a:off x="2148840" y="2331720"/>
            <a:ext cx="1463040" cy="1005840"/>
          </a:xfrm>
          <a:prstGeom prst="roundRect">
            <a:avLst>
              <a:gd name="adj" fmla="val 7273"/>
            </a:avLst>
          </a:prstGeom>
          <a:solidFill>
            <a:srgbClr val="D92D27"/>
          </a:solidFill>
          <a:ln w="12700">
            <a:solidFill>
              <a:srgbClr val="D92D27"/>
            </a:solidFill>
            <a:prstDash val="solid"/>
          </a:ln>
        </p:spPr>
      </p:sp>
      <p:sp>
        <p:nvSpPr>
          <p:cNvPr id="8" name="Text 5"/>
          <p:cNvSpPr txBox="1"/>
          <p:nvPr/>
        </p:nvSpPr>
        <p:spPr>
          <a:xfrm>
            <a:off x="2148840" y="2331720"/>
            <a:ext cx="1463040" cy="10058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Ansible</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engine</a:t>
            </a:r>
            <a:endParaRPr lang="en-US" sz="1400" dirty="0"/>
          </a:p>
        </p:txBody>
      </p:sp>
      <p:sp>
        <p:nvSpPr>
          <p:cNvPr id="9" name="Shape 6"/>
          <p:cNvSpPr/>
          <p:nvPr/>
        </p:nvSpPr>
        <p:spPr>
          <a:xfrm>
            <a:off x="685800" y="1645920"/>
            <a:ext cx="1325880" cy="777240"/>
          </a:xfrm>
          <a:prstGeom prst="roundRect">
            <a:avLst>
              <a:gd name="adj" fmla="val 7059"/>
            </a:avLst>
          </a:prstGeom>
          <a:solidFill>
            <a:srgbClr val="FFFFFF"/>
          </a:solidFill>
          <a:ln w="12700">
            <a:solidFill>
              <a:srgbClr val="D0D4DA"/>
            </a:solidFill>
            <a:prstDash val="solid"/>
          </a:ln>
        </p:spPr>
      </p:sp>
      <p:pic>
        <p:nvPicPr>
          <p:cNvPr id="10" name="Image 1" descr="preencoded.png">    </p:cNvPr>
          <p:cNvPicPr>
            <a:picLocks noChangeAspect="1"/>
          </p:cNvPicPr>
          <p:nvPr/>
        </p:nvPicPr>
        <p:blipFill>
          <a:blip r:embed="rId2"/>
          <a:stretch>
            <a:fillRect/>
          </a:stretch>
        </p:blipFill>
        <p:spPr>
          <a:xfrm>
            <a:off x="777240" y="1755648"/>
            <a:ext cx="219456" cy="219456"/>
          </a:xfrm>
          <a:prstGeom prst="rect">
            <a:avLst/>
          </a:prstGeom>
        </p:spPr>
      </p:pic>
      <p:sp>
        <p:nvSpPr>
          <p:cNvPr id="11" name="Text 7"/>
          <p:cNvSpPr txBox="1"/>
          <p:nvPr/>
        </p:nvSpPr>
        <p:spPr>
          <a:xfrm>
            <a:off x="1051560" y="1719072"/>
            <a:ext cx="960120" cy="292608"/>
          </a:xfrm>
          <a:prstGeom prst="rect">
            <a:avLst/>
          </a:prstGeom>
          <a:noFill/>
          <a:ln/>
        </p:spPr>
        <p:txBody>
          <a:bodyPr wrap="square" lIns="0" tIns="0" rIns="0" bIns="0" rtlCol="0" anchor="ctr"/>
          <a:lstStyle/>
          <a:p>
            <a:pPr indent="0" marL="0">
              <a:buNone/>
            </a:pPr>
            <a:r>
              <a:rPr lang="en-US" sz="1100" b="1" dirty="0">
                <a:solidFill>
                  <a:srgbClr val="1F2328"/>
                </a:solidFill>
                <a:latin typeface="Calibri" pitchFamily="34" charset="0"/>
                <a:ea typeface="Calibri" pitchFamily="34" charset="-122"/>
                <a:cs typeface="Calibri" pitchFamily="34" charset="-120"/>
              </a:rPr>
              <a:t>Inventory</a:t>
            </a:r>
            <a:endParaRPr lang="en-US" sz="1100" dirty="0"/>
          </a:p>
        </p:txBody>
      </p:sp>
      <p:sp>
        <p:nvSpPr>
          <p:cNvPr id="12" name="Text 8"/>
          <p:cNvSpPr txBox="1"/>
          <p:nvPr/>
        </p:nvSpPr>
        <p:spPr>
          <a:xfrm>
            <a:off x="777240" y="2057400"/>
            <a:ext cx="1188720" cy="292608"/>
          </a:xfrm>
          <a:prstGeom prst="rect">
            <a:avLst/>
          </a:prstGeom>
          <a:noFill/>
          <a:ln/>
        </p:spPr>
        <p:txBody>
          <a:bodyPr wrap="square" lIns="0" tIns="0" rIns="0" bIns="0" rtlCol="0" anchor="t"/>
          <a:lstStyle/>
          <a:p>
            <a:pPr indent="0" marL="0">
              <a:buNone/>
            </a:pPr>
            <a:r>
              <a:rPr lang="en-US" sz="1000" dirty="0">
                <a:solidFill>
                  <a:srgbClr val="5B6470"/>
                </a:solidFill>
                <a:latin typeface="Calibri" pitchFamily="34" charset="0"/>
                <a:ea typeface="Calibri" pitchFamily="34" charset="-122"/>
                <a:cs typeface="Calibri" pitchFamily="34" charset="-120"/>
              </a:rPr>
              <a:t>which hosts</a:t>
            </a:r>
            <a:endParaRPr lang="en-US" sz="1000" dirty="0"/>
          </a:p>
        </p:txBody>
      </p:sp>
      <p:sp>
        <p:nvSpPr>
          <p:cNvPr id="13" name="Shape 9"/>
          <p:cNvSpPr/>
          <p:nvPr/>
        </p:nvSpPr>
        <p:spPr>
          <a:xfrm>
            <a:off x="3703320" y="1645920"/>
            <a:ext cx="1325880" cy="777240"/>
          </a:xfrm>
          <a:prstGeom prst="roundRect">
            <a:avLst>
              <a:gd name="adj" fmla="val 7059"/>
            </a:avLst>
          </a:prstGeom>
          <a:solidFill>
            <a:srgbClr val="FFFFFF"/>
          </a:solidFill>
          <a:ln w="12700">
            <a:solidFill>
              <a:srgbClr val="D0D4DA"/>
            </a:solidFill>
            <a:prstDash val="solid"/>
          </a:ln>
        </p:spPr>
      </p:sp>
      <p:pic>
        <p:nvPicPr>
          <p:cNvPr id="14" name="Image 2" descr="preencoded.png">    </p:cNvPr>
          <p:cNvPicPr>
            <a:picLocks noChangeAspect="1"/>
          </p:cNvPicPr>
          <p:nvPr/>
        </p:nvPicPr>
        <p:blipFill>
          <a:blip r:embed="rId3"/>
          <a:stretch>
            <a:fillRect/>
          </a:stretch>
        </p:blipFill>
        <p:spPr>
          <a:xfrm>
            <a:off x="3794760" y="1755648"/>
            <a:ext cx="219456" cy="219456"/>
          </a:xfrm>
          <a:prstGeom prst="rect">
            <a:avLst/>
          </a:prstGeom>
        </p:spPr>
      </p:pic>
      <p:sp>
        <p:nvSpPr>
          <p:cNvPr id="15" name="Text 10"/>
          <p:cNvSpPr txBox="1"/>
          <p:nvPr/>
        </p:nvSpPr>
        <p:spPr>
          <a:xfrm>
            <a:off x="4069080" y="1719072"/>
            <a:ext cx="960120" cy="292608"/>
          </a:xfrm>
          <a:prstGeom prst="rect">
            <a:avLst/>
          </a:prstGeom>
          <a:noFill/>
          <a:ln/>
        </p:spPr>
        <p:txBody>
          <a:bodyPr wrap="square" lIns="0" tIns="0" rIns="0" bIns="0" rtlCol="0" anchor="ctr"/>
          <a:lstStyle/>
          <a:p>
            <a:pPr indent="0" marL="0">
              <a:buNone/>
            </a:pPr>
            <a:r>
              <a:rPr lang="en-US" sz="1100" b="1" dirty="0">
                <a:solidFill>
                  <a:srgbClr val="1F2328"/>
                </a:solidFill>
                <a:latin typeface="Calibri" pitchFamily="34" charset="0"/>
                <a:ea typeface="Calibri" pitchFamily="34" charset="-122"/>
                <a:cs typeface="Calibri" pitchFamily="34" charset="-120"/>
              </a:rPr>
              <a:t>Playbooks</a:t>
            </a:r>
            <a:endParaRPr lang="en-US" sz="1100" dirty="0"/>
          </a:p>
        </p:txBody>
      </p:sp>
      <p:sp>
        <p:nvSpPr>
          <p:cNvPr id="16" name="Text 11"/>
          <p:cNvSpPr txBox="1"/>
          <p:nvPr/>
        </p:nvSpPr>
        <p:spPr>
          <a:xfrm>
            <a:off x="3794760" y="2057400"/>
            <a:ext cx="1188720" cy="292608"/>
          </a:xfrm>
          <a:prstGeom prst="rect">
            <a:avLst/>
          </a:prstGeom>
          <a:noFill/>
          <a:ln/>
        </p:spPr>
        <p:txBody>
          <a:bodyPr wrap="square" lIns="0" tIns="0" rIns="0" bIns="0" rtlCol="0" anchor="t"/>
          <a:lstStyle/>
          <a:p>
            <a:pPr indent="0" marL="0">
              <a:buNone/>
            </a:pPr>
            <a:r>
              <a:rPr lang="en-US" sz="1000" dirty="0">
                <a:solidFill>
                  <a:srgbClr val="5B6470"/>
                </a:solidFill>
                <a:latin typeface="Calibri" pitchFamily="34" charset="0"/>
                <a:ea typeface="Calibri" pitchFamily="34" charset="-122"/>
                <a:cs typeface="Calibri" pitchFamily="34" charset="-120"/>
              </a:rPr>
              <a:t>what to do</a:t>
            </a:r>
            <a:endParaRPr lang="en-US" sz="1000" dirty="0"/>
          </a:p>
        </p:txBody>
      </p:sp>
      <p:sp>
        <p:nvSpPr>
          <p:cNvPr id="17" name="Shape 12"/>
          <p:cNvSpPr/>
          <p:nvPr/>
        </p:nvSpPr>
        <p:spPr>
          <a:xfrm>
            <a:off x="685800" y="3611880"/>
            <a:ext cx="1325880" cy="777240"/>
          </a:xfrm>
          <a:prstGeom prst="roundRect">
            <a:avLst>
              <a:gd name="adj" fmla="val 7059"/>
            </a:avLst>
          </a:prstGeom>
          <a:solidFill>
            <a:srgbClr val="FFFFFF"/>
          </a:solidFill>
          <a:ln w="12700">
            <a:solidFill>
              <a:srgbClr val="D0D4DA"/>
            </a:solidFill>
            <a:prstDash val="solid"/>
          </a:ln>
        </p:spPr>
      </p:sp>
      <p:pic>
        <p:nvPicPr>
          <p:cNvPr id="18" name="Image 3" descr="preencoded.png">    </p:cNvPr>
          <p:cNvPicPr>
            <a:picLocks noChangeAspect="1"/>
          </p:cNvPicPr>
          <p:nvPr/>
        </p:nvPicPr>
        <p:blipFill>
          <a:blip r:embed="rId4"/>
          <a:stretch>
            <a:fillRect/>
          </a:stretch>
        </p:blipFill>
        <p:spPr>
          <a:xfrm>
            <a:off x="777240" y="3721608"/>
            <a:ext cx="219456" cy="219456"/>
          </a:xfrm>
          <a:prstGeom prst="rect">
            <a:avLst/>
          </a:prstGeom>
        </p:spPr>
      </p:pic>
      <p:sp>
        <p:nvSpPr>
          <p:cNvPr id="19" name="Text 13"/>
          <p:cNvSpPr txBox="1"/>
          <p:nvPr/>
        </p:nvSpPr>
        <p:spPr>
          <a:xfrm>
            <a:off x="1051560" y="3685032"/>
            <a:ext cx="960120" cy="292608"/>
          </a:xfrm>
          <a:prstGeom prst="rect">
            <a:avLst/>
          </a:prstGeom>
          <a:noFill/>
          <a:ln/>
        </p:spPr>
        <p:txBody>
          <a:bodyPr wrap="square" lIns="0" tIns="0" rIns="0" bIns="0" rtlCol="0" anchor="ctr"/>
          <a:lstStyle/>
          <a:p>
            <a:pPr indent="0" marL="0">
              <a:buNone/>
            </a:pPr>
            <a:r>
              <a:rPr lang="en-US" sz="1100" b="1" dirty="0">
                <a:solidFill>
                  <a:srgbClr val="1F2328"/>
                </a:solidFill>
                <a:latin typeface="Calibri" pitchFamily="34" charset="0"/>
                <a:ea typeface="Calibri" pitchFamily="34" charset="-122"/>
                <a:cs typeface="Calibri" pitchFamily="34" charset="-120"/>
              </a:rPr>
              <a:t>Modules</a:t>
            </a:r>
            <a:endParaRPr lang="en-US" sz="1100" dirty="0"/>
          </a:p>
        </p:txBody>
      </p:sp>
      <p:sp>
        <p:nvSpPr>
          <p:cNvPr id="20" name="Text 14"/>
          <p:cNvSpPr txBox="1"/>
          <p:nvPr/>
        </p:nvSpPr>
        <p:spPr>
          <a:xfrm>
            <a:off x="777240" y="4023360"/>
            <a:ext cx="1188720" cy="292608"/>
          </a:xfrm>
          <a:prstGeom prst="rect">
            <a:avLst/>
          </a:prstGeom>
          <a:noFill/>
          <a:ln/>
        </p:spPr>
        <p:txBody>
          <a:bodyPr wrap="square" lIns="0" tIns="0" rIns="0" bIns="0" rtlCol="0" anchor="t"/>
          <a:lstStyle/>
          <a:p>
            <a:pPr indent="0" marL="0">
              <a:buNone/>
            </a:pPr>
            <a:r>
              <a:rPr lang="en-US" sz="1000" dirty="0">
                <a:solidFill>
                  <a:srgbClr val="5B6470"/>
                </a:solidFill>
                <a:latin typeface="Calibri" pitchFamily="34" charset="0"/>
                <a:ea typeface="Calibri" pitchFamily="34" charset="-122"/>
                <a:cs typeface="Calibri" pitchFamily="34" charset="-120"/>
              </a:rPr>
              <a:t>how to do it</a:t>
            </a:r>
            <a:endParaRPr lang="en-US" sz="1000" dirty="0"/>
          </a:p>
        </p:txBody>
      </p:sp>
      <p:sp>
        <p:nvSpPr>
          <p:cNvPr id="21" name="Shape 15"/>
          <p:cNvSpPr/>
          <p:nvPr/>
        </p:nvSpPr>
        <p:spPr>
          <a:xfrm>
            <a:off x="3703320" y="3611880"/>
            <a:ext cx="1325880" cy="777240"/>
          </a:xfrm>
          <a:prstGeom prst="roundRect">
            <a:avLst>
              <a:gd name="adj" fmla="val 7059"/>
            </a:avLst>
          </a:prstGeom>
          <a:solidFill>
            <a:srgbClr val="FFFFFF"/>
          </a:solidFill>
          <a:ln w="12700">
            <a:solidFill>
              <a:srgbClr val="D0D4DA"/>
            </a:solidFill>
            <a:prstDash val="solid"/>
          </a:ln>
        </p:spPr>
      </p:sp>
      <p:pic>
        <p:nvPicPr>
          <p:cNvPr id="22" name="Image 4" descr="preencoded.png">    </p:cNvPr>
          <p:cNvPicPr>
            <a:picLocks noChangeAspect="1"/>
          </p:cNvPicPr>
          <p:nvPr/>
        </p:nvPicPr>
        <p:blipFill>
          <a:blip r:embed="rId5"/>
          <a:stretch>
            <a:fillRect/>
          </a:stretch>
        </p:blipFill>
        <p:spPr>
          <a:xfrm>
            <a:off x="3794760" y="3721608"/>
            <a:ext cx="219456" cy="219456"/>
          </a:xfrm>
          <a:prstGeom prst="rect">
            <a:avLst/>
          </a:prstGeom>
        </p:spPr>
      </p:pic>
      <p:sp>
        <p:nvSpPr>
          <p:cNvPr id="23" name="Text 16"/>
          <p:cNvSpPr txBox="1"/>
          <p:nvPr/>
        </p:nvSpPr>
        <p:spPr>
          <a:xfrm>
            <a:off x="4069080" y="3685032"/>
            <a:ext cx="960120" cy="292608"/>
          </a:xfrm>
          <a:prstGeom prst="rect">
            <a:avLst/>
          </a:prstGeom>
          <a:noFill/>
          <a:ln/>
        </p:spPr>
        <p:txBody>
          <a:bodyPr wrap="square" lIns="0" tIns="0" rIns="0" bIns="0" rtlCol="0" anchor="ctr"/>
          <a:lstStyle/>
          <a:p>
            <a:pPr indent="0" marL="0">
              <a:buNone/>
            </a:pPr>
            <a:r>
              <a:rPr lang="en-US" sz="1100" b="1" dirty="0">
                <a:solidFill>
                  <a:srgbClr val="1F2328"/>
                </a:solidFill>
                <a:latin typeface="Calibri" pitchFamily="34" charset="0"/>
                <a:ea typeface="Calibri" pitchFamily="34" charset="-122"/>
                <a:cs typeface="Calibri" pitchFamily="34" charset="-120"/>
              </a:rPr>
              <a:t>Plugins / config</a:t>
            </a:r>
            <a:endParaRPr lang="en-US" sz="1100" dirty="0"/>
          </a:p>
        </p:txBody>
      </p:sp>
      <p:sp>
        <p:nvSpPr>
          <p:cNvPr id="24" name="Text 17"/>
          <p:cNvSpPr txBox="1"/>
          <p:nvPr/>
        </p:nvSpPr>
        <p:spPr>
          <a:xfrm>
            <a:off x="3794760" y="4023360"/>
            <a:ext cx="1188720" cy="292608"/>
          </a:xfrm>
          <a:prstGeom prst="rect">
            <a:avLst/>
          </a:prstGeom>
          <a:noFill/>
          <a:ln/>
        </p:spPr>
        <p:txBody>
          <a:bodyPr wrap="square" lIns="0" tIns="0" rIns="0" bIns="0" rtlCol="0" anchor="t"/>
          <a:lstStyle/>
          <a:p>
            <a:pPr indent="0" marL="0">
              <a:buNone/>
            </a:pPr>
            <a:r>
              <a:rPr lang="en-US" sz="1000" dirty="0">
                <a:solidFill>
                  <a:srgbClr val="5B6470"/>
                </a:solidFill>
                <a:latin typeface="Calibri" pitchFamily="34" charset="0"/>
                <a:ea typeface="Calibri" pitchFamily="34" charset="-122"/>
                <a:cs typeface="Calibri" pitchFamily="34" charset="-120"/>
              </a:rPr>
              <a:t>connection, output, cfg</a:t>
            </a:r>
            <a:endParaRPr lang="en-US" sz="1000" dirty="0"/>
          </a:p>
        </p:txBody>
      </p:sp>
      <p:sp>
        <p:nvSpPr>
          <p:cNvPr id="25" name="Shape 18"/>
          <p:cNvSpPr/>
          <p:nvPr/>
        </p:nvSpPr>
        <p:spPr>
          <a:xfrm>
            <a:off x="2011680" y="2194560"/>
            <a:ext cx="228600" cy="182880"/>
          </a:xfrm>
          <a:prstGeom prst="line">
            <a:avLst/>
          </a:prstGeom>
          <a:noFill/>
          <a:ln w="19050">
            <a:solidFill>
              <a:srgbClr val="5B6470"/>
            </a:solidFill>
            <a:prstDash val="solid"/>
            <a:tailEnd type="triangle"/>
          </a:ln>
        </p:spPr>
      </p:sp>
      <p:sp>
        <p:nvSpPr>
          <p:cNvPr id="26" name="Shape 19"/>
          <p:cNvSpPr/>
          <p:nvPr/>
        </p:nvSpPr>
        <p:spPr>
          <a:xfrm flipH="1">
            <a:off x="3520440" y="2194560"/>
            <a:ext cx="228600" cy="182880"/>
          </a:xfrm>
          <a:prstGeom prst="line">
            <a:avLst/>
          </a:prstGeom>
          <a:noFill/>
          <a:ln w="19050">
            <a:solidFill>
              <a:srgbClr val="5B6470"/>
            </a:solidFill>
            <a:prstDash val="solid"/>
            <a:tailEnd type="triangle"/>
          </a:ln>
        </p:spPr>
      </p:sp>
      <p:sp>
        <p:nvSpPr>
          <p:cNvPr id="27" name="Shape 20"/>
          <p:cNvSpPr/>
          <p:nvPr/>
        </p:nvSpPr>
        <p:spPr>
          <a:xfrm flipV="1">
            <a:off x="2011680" y="3310128"/>
            <a:ext cx="228600" cy="301752"/>
          </a:xfrm>
          <a:prstGeom prst="line">
            <a:avLst/>
          </a:prstGeom>
          <a:noFill/>
          <a:ln w="19050">
            <a:solidFill>
              <a:srgbClr val="5B6470"/>
            </a:solidFill>
            <a:prstDash val="solid"/>
            <a:tailEnd type="triangle"/>
          </a:ln>
        </p:spPr>
      </p:sp>
      <p:sp>
        <p:nvSpPr>
          <p:cNvPr id="28" name="Shape 21"/>
          <p:cNvSpPr/>
          <p:nvPr/>
        </p:nvSpPr>
        <p:spPr>
          <a:xfrm flipH="1" flipV="1">
            <a:off x="3520440" y="3310128"/>
            <a:ext cx="228600" cy="301752"/>
          </a:xfrm>
          <a:prstGeom prst="line">
            <a:avLst/>
          </a:prstGeom>
          <a:noFill/>
          <a:ln w="19050">
            <a:solidFill>
              <a:srgbClr val="5B6470"/>
            </a:solidFill>
            <a:prstDash val="solid"/>
            <a:tailEnd type="triangle"/>
          </a:ln>
        </p:spPr>
      </p:sp>
      <p:sp>
        <p:nvSpPr>
          <p:cNvPr id="29" name="Text 22"/>
          <p:cNvSpPr txBox="1"/>
          <p:nvPr/>
        </p:nvSpPr>
        <p:spPr>
          <a:xfrm>
            <a:off x="6492240" y="1170432"/>
            <a:ext cx="2194560" cy="292608"/>
          </a:xfrm>
          <a:prstGeom prst="rect">
            <a:avLst/>
          </a:prstGeom>
          <a:noFill/>
          <a:ln/>
        </p:spPr>
        <p:txBody>
          <a:bodyPr wrap="square" lIns="0" tIns="0" rIns="0" bIns="0" rtlCol="0" anchor="t"/>
          <a:lstStyle/>
          <a:p>
            <a:pPr indent="0" marL="0">
              <a:buNone/>
            </a:pPr>
            <a:r>
              <a:rPr lang="en-US" sz="1300" b="1" dirty="0">
                <a:solidFill>
                  <a:srgbClr val="1F2328"/>
                </a:solidFill>
                <a:latin typeface="Calibri" pitchFamily="34" charset="0"/>
                <a:ea typeface="Calibri" pitchFamily="34" charset="-122"/>
                <a:cs typeface="Calibri" pitchFamily="34" charset="-120"/>
              </a:rPr>
              <a:t>MANAGED NODES</a:t>
            </a:r>
            <a:endParaRPr lang="en-US" sz="1300" dirty="0"/>
          </a:p>
        </p:txBody>
      </p:sp>
      <p:sp>
        <p:nvSpPr>
          <p:cNvPr id="30" name="Shape 23"/>
          <p:cNvSpPr/>
          <p:nvPr/>
        </p:nvSpPr>
        <p:spPr>
          <a:xfrm>
            <a:off x="6492240" y="1645920"/>
            <a:ext cx="2194560" cy="777240"/>
          </a:xfrm>
          <a:prstGeom prst="roundRect">
            <a:avLst>
              <a:gd name="adj" fmla="val 7059"/>
            </a:avLst>
          </a:prstGeom>
          <a:solidFill>
            <a:srgbClr val="FFFFFF"/>
          </a:solidFill>
          <a:ln w="12700">
            <a:solidFill>
              <a:srgbClr val="D0D4DA"/>
            </a:solidFill>
            <a:prstDash val="solid"/>
          </a:ln>
        </p:spPr>
      </p:sp>
      <p:sp>
        <p:nvSpPr>
          <p:cNvPr id="31" name="Shape 24"/>
          <p:cNvSpPr/>
          <p:nvPr/>
        </p:nvSpPr>
        <p:spPr>
          <a:xfrm>
            <a:off x="6583680" y="1783080"/>
            <a:ext cx="502920" cy="502920"/>
          </a:xfrm>
          <a:prstGeom prst="ellipse">
            <a:avLst/>
          </a:prstGeom>
          <a:solidFill>
            <a:srgbClr val="4A5260"/>
          </a:solidFill>
          <a:ln w="12700">
            <a:solidFill>
              <a:srgbClr val="4A5260"/>
            </a:solidFill>
            <a:prstDash val="solid"/>
          </a:ln>
        </p:spPr>
      </p:sp>
      <p:pic>
        <p:nvPicPr>
          <p:cNvPr id="32" name="Image 5" descr="preencoded.png">    </p:cNvPr>
          <p:cNvPicPr>
            <a:picLocks noChangeAspect="1"/>
          </p:cNvPicPr>
          <p:nvPr/>
        </p:nvPicPr>
        <p:blipFill>
          <a:blip r:embed="rId6"/>
          <a:stretch>
            <a:fillRect/>
          </a:stretch>
        </p:blipFill>
        <p:spPr>
          <a:xfrm>
            <a:off x="6714439" y="1913839"/>
            <a:ext cx="241402" cy="241402"/>
          </a:xfrm>
          <a:prstGeom prst="rect">
            <a:avLst/>
          </a:prstGeom>
        </p:spPr>
      </p:pic>
      <p:sp>
        <p:nvSpPr>
          <p:cNvPr id="33" name="Text 25"/>
          <p:cNvSpPr txBox="1"/>
          <p:nvPr/>
        </p:nvSpPr>
        <p:spPr>
          <a:xfrm>
            <a:off x="7178040" y="1737360"/>
            <a:ext cx="1463040" cy="292608"/>
          </a:xfrm>
          <a:prstGeom prst="rect">
            <a:avLst/>
          </a:prstGeom>
          <a:noFill/>
          <a:ln/>
        </p:spPr>
        <p:txBody>
          <a:bodyPr wrap="square" lIns="0" tIns="0" rIns="0" bIns="0" rtlCol="0" anchor="t"/>
          <a:lstStyle/>
          <a:p>
            <a:pPr indent="0" marL="0">
              <a:buNone/>
            </a:pPr>
            <a:r>
              <a:rPr lang="en-US" sz="1200" b="1" dirty="0">
                <a:solidFill>
                  <a:srgbClr val="1F2328"/>
                </a:solidFill>
                <a:latin typeface="Calibri" pitchFamily="34" charset="0"/>
                <a:ea typeface="Calibri" pitchFamily="34" charset="-122"/>
                <a:cs typeface="Calibri" pitchFamily="34" charset="-120"/>
              </a:rPr>
              <a:t>Linux</a:t>
            </a:r>
            <a:endParaRPr lang="en-US" sz="1200" dirty="0"/>
          </a:p>
        </p:txBody>
      </p:sp>
      <p:sp>
        <p:nvSpPr>
          <p:cNvPr id="34" name="Text 26"/>
          <p:cNvSpPr txBox="1"/>
          <p:nvPr/>
        </p:nvSpPr>
        <p:spPr>
          <a:xfrm>
            <a:off x="7178040" y="2029968"/>
            <a:ext cx="1463040" cy="320040"/>
          </a:xfrm>
          <a:prstGeom prst="rect">
            <a:avLst/>
          </a:prstGeom>
          <a:noFill/>
          <a:ln/>
        </p:spPr>
        <p:txBody>
          <a:bodyPr wrap="square" lIns="0" tIns="0" rIns="0" bIns="0" rtlCol="0" anchor="t"/>
          <a:lstStyle/>
          <a:p>
            <a:pPr indent="0" marL="0">
              <a:buNone/>
            </a:pPr>
            <a:r>
              <a:rPr lang="en-US" sz="950" dirty="0">
                <a:solidFill>
                  <a:srgbClr val="5B6470"/>
                </a:solidFill>
                <a:latin typeface="Calibri" pitchFamily="34" charset="0"/>
                <a:ea typeface="Calibri" pitchFamily="34" charset="-122"/>
                <a:cs typeface="Calibri" pitchFamily="34" charset="-120"/>
              </a:rPr>
              <a:t>SSH · Python</a:t>
            </a:r>
            <a:endParaRPr lang="en-US" sz="950" dirty="0"/>
          </a:p>
        </p:txBody>
      </p:sp>
      <p:sp>
        <p:nvSpPr>
          <p:cNvPr id="35" name="Shape 27"/>
          <p:cNvSpPr/>
          <p:nvPr/>
        </p:nvSpPr>
        <p:spPr>
          <a:xfrm flipV="1">
            <a:off x="5230368" y="2029968"/>
            <a:ext cx="1216152" cy="804672"/>
          </a:xfrm>
          <a:prstGeom prst="line">
            <a:avLst/>
          </a:prstGeom>
          <a:noFill/>
          <a:ln w="19050">
            <a:solidFill>
              <a:srgbClr val="D92D27"/>
            </a:solidFill>
            <a:prstDash val="solid"/>
            <a:tailEnd type="triangle"/>
          </a:ln>
        </p:spPr>
      </p:sp>
      <p:sp>
        <p:nvSpPr>
          <p:cNvPr id="36" name="Shape 28"/>
          <p:cNvSpPr/>
          <p:nvPr/>
        </p:nvSpPr>
        <p:spPr>
          <a:xfrm>
            <a:off x="6492240" y="2633472"/>
            <a:ext cx="2194560" cy="777240"/>
          </a:xfrm>
          <a:prstGeom prst="roundRect">
            <a:avLst>
              <a:gd name="adj" fmla="val 7059"/>
            </a:avLst>
          </a:prstGeom>
          <a:solidFill>
            <a:srgbClr val="FFFFFF"/>
          </a:solidFill>
          <a:ln w="12700">
            <a:solidFill>
              <a:srgbClr val="D0D4DA"/>
            </a:solidFill>
            <a:prstDash val="solid"/>
          </a:ln>
        </p:spPr>
      </p:sp>
      <p:sp>
        <p:nvSpPr>
          <p:cNvPr id="37" name="Shape 29"/>
          <p:cNvSpPr/>
          <p:nvPr/>
        </p:nvSpPr>
        <p:spPr>
          <a:xfrm>
            <a:off x="6583680" y="2770632"/>
            <a:ext cx="502920" cy="502920"/>
          </a:xfrm>
          <a:prstGeom prst="ellipse">
            <a:avLst/>
          </a:prstGeom>
          <a:solidFill>
            <a:srgbClr val="4A5260"/>
          </a:solidFill>
          <a:ln w="12700">
            <a:solidFill>
              <a:srgbClr val="4A5260"/>
            </a:solidFill>
            <a:prstDash val="solid"/>
          </a:ln>
        </p:spPr>
      </p:sp>
      <p:pic>
        <p:nvPicPr>
          <p:cNvPr id="38" name="Image 6" descr="preencoded.png">    </p:cNvPr>
          <p:cNvPicPr>
            <a:picLocks noChangeAspect="1"/>
          </p:cNvPicPr>
          <p:nvPr/>
        </p:nvPicPr>
        <p:blipFill>
          <a:blip r:embed="rId7"/>
          <a:stretch>
            <a:fillRect/>
          </a:stretch>
        </p:blipFill>
        <p:spPr>
          <a:xfrm>
            <a:off x="6714439" y="2901391"/>
            <a:ext cx="241402" cy="241402"/>
          </a:xfrm>
          <a:prstGeom prst="rect">
            <a:avLst/>
          </a:prstGeom>
        </p:spPr>
      </p:pic>
      <p:sp>
        <p:nvSpPr>
          <p:cNvPr id="39" name="Text 30"/>
          <p:cNvSpPr txBox="1"/>
          <p:nvPr/>
        </p:nvSpPr>
        <p:spPr>
          <a:xfrm>
            <a:off x="7178040" y="2724912"/>
            <a:ext cx="1463040" cy="292608"/>
          </a:xfrm>
          <a:prstGeom prst="rect">
            <a:avLst/>
          </a:prstGeom>
          <a:noFill/>
          <a:ln/>
        </p:spPr>
        <p:txBody>
          <a:bodyPr wrap="square" lIns="0" tIns="0" rIns="0" bIns="0" rtlCol="0" anchor="t"/>
          <a:lstStyle/>
          <a:p>
            <a:pPr indent="0" marL="0">
              <a:buNone/>
            </a:pPr>
            <a:r>
              <a:rPr lang="en-US" sz="1200" b="1" dirty="0">
                <a:solidFill>
                  <a:srgbClr val="1F2328"/>
                </a:solidFill>
                <a:latin typeface="Calibri" pitchFamily="34" charset="0"/>
                <a:ea typeface="Calibri" pitchFamily="34" charset="-122"/>
                <a:cs typeface="Calibri" pitchFamily="34" charset="-120"/>
              </a:rPr>
              <a:t>Windows</a:t>
            </a:r>
            <a:endParaRPr lang="en-US" sz="1200" dirty="0"/>
          </a:p>
        </p:txBody>
      </p:sp>
      <p:sp>
        <p:nvSpPr>
          <p:cNvPr id="40" name="Text 31"/>
          <p:cNvSpPr txBox="1"/>
          <p:nvPr/>
        </p:nvSpPr>
        <p:spPr>
          <a:xfrm>
            <a:off x="7178040" y="3017520"/>
            <a:ext cx="1463040" cy="320040"/>
          </a:xfrm>
          <a:prstGeom prst="rect">
            <a:avLst/>
          </a:prstGeom>
          <a:noFill/>
          <a:ln/>
        </p:spPr>
        <p:txBody>
          <a:bodyPr wrap="square" lIns="0" tIns="0" rIns="0" bIns="0" rtlCol="0" anchor="t"/>
          <a:lstStyle/>
          <a:p>
            <a:pPr indent="0" marL="0">
              <a:buNone/>
            </a:pPr>
            <a:r>
              <a:rPr lang="en-US" sz="950" dirty="0">
                <a:solidFill>
                  <a:srgbClr val="5B6470"/>
                </a:solidFill>
                <a:latin typeface="Calibri" pitchFamily="34" charset="0"/>
                <a:ea typeface="Calibri" pitchFamily="34" charset="-122"/>
                <a:cs typeface="Calibri" pitchFamily="34" charset="-120"/>
              </a:rPr>
              <a:t>WinRM / SSH · PowerShell</a:t>
            </a:r>
            <a:endParaRPr lang="en-US" sz="950" dirty="0"/>
          </a:p>
        </p:txBody>
      </p:sp>
      <p:sp>
        <p:nvSpPr>
          <p:cNvPr id="41" name="Shape 32"/>
          <p:cNvSpPr/>
          <p:nvPr/>
        </p:nvSpPr>
        <p:spPr>
          <a:xfrm>
            <a:off x="5230368" y="2834640"/>
            <a:ext cx="1216152" cy="182880"/>
          </a:xfrm>
          <a:prstGeom prst="line">
            <a:avLst/>
          </a:prstGeom>
          <a:noFill/>
          <a:ln w="19050">
            <a:solidFill>
              <a:srgbClr val="D92D27"/>
            </a:solidFill>
            <a:prstDash val="solid"/>
            <a:tailEnd type="triangle"/>
          </a:ln>
        </p:spPr>
      </p:sp>
      <p:sp>
        <p:nvSpPr>
          <p:cNvPr id="42" name="Shape 33"/>
          <p:cNvSpPr/>
          <p:nvPr/>
        </p:nvSpPr>
        <p:spPr>
          <a:xfrm>
            <a:off x="6492240" y="3621024"/>
            <a:ext cx="2194560" cy="777240"/>
          </a:xfrm>
          <a:prstGeom prst="roundRect">
            <a:avLst>
              <a:gd name="adj" fmla="val 7059"/>
            </a:avLst>
          </a:prstGeom>
          <a:solidFill>
            <a:srgbClr val="FFFFFF"/>
          </a:solidFill>
          <a:ln w="12700">
            <a:solidFill>
              <a:srgbClr val="D0D4DA"/>
            </a:solidFill>
            <a:prstDash val="solid"/>
          </a:ln>
        </p:spPr>
      </p:sp>
      <p:sp>
        <p:nvSpPr>
          <p:cNvPr id="43" name="Shape 34"/>
          <p:cNvSpPr/>
          <p:nvPr/>
        </p:nvSpPr>
        <p:spPr>
          <a:xfrm>
            <a:off x="6583680" y="3758184"/>
            <a:ext cx="502920" cy="502920"/>
          </a:xfrm>
          <a:prstGeom prst="ellipse">
            <a:avLst/>
          </a:prstGeom>
          <a:solidFill>
            <a:srgbClr val="4A5260"/>
          </a:solidFill>
          <a:ln w="12700">
            <a:solidFill>
              <a:srgbClr val="4A5260"/>
            </a:solidFill>
            <a:prstDash val="solid"/>
          </a:ln>
        </p:spPr>
      </p:sp>
      <p:pic>
        <p:nvPicPr>
          <p:cNvPr id="44" name="Image 7" descr="preencoded.png">    </p:cNvPr>
          <p:cNvPicPr>
            <a:picLocks noChangeAspect="1"/>
          </p:cNvPicPr>
          <p:nvPr/>
        </p:nvPicPr>
        <p:blipFill>
          <a:blip r:embed="rId8"/>
          <a:stretch>
            <a:fillRect/>
          </a:stretch>
        </p:blipFill>
        <p:spPr>
          <a:xfrm>
            <a:off x="6714439" y="3888943"/>
            <a:ext cx="241402" cy="241402"/>
          </a:xfrm>
          <a:prstGeom prst="rect">
            <a:avLst/>
          </a:prstGeom>
        </p:spPr>
      </p:pic>
      <p:sp>
        <p:nvSpPr>
          <p:cNvPr id="45" name="Text 35"/>
          <p:cNvSpPr txBox="1"/>
          <p:nvPr/>
        </p:nvSpPr>
        <p:spPr>
          <a:xfrm>
            <a:off x="7178040" y="3712464"/>
            <a:ext cx="1463040" cy="292608"/>
          </a:xfrm>
          <a:prstGeom prst="rect">
            <a:avLst/>
          </a:prstGeom>
          <a:noFill/>
          <a:ln/>
        </p:spPr>
        <p:txBody>
          <a:bodyPr wrap="square" lIns="0" tIns="0" rIns="0" bIns="0" rtlCol="0" anchor="t"/>
          <a:lstStyle/>
          <a:p>
            <a:pPr indent="0" marL="0">
              <a:buNone/>
            </a:pPr>
            <a:r>
              <a:rPr lang="en-US" sz="1200" b="1" dirty="0">
                <a:solidFill>
                  <a:srgbClr val="1F2328"/>
                </a:solidFill>
                <a:latin typeface="Calibri" pitchFamily="34" charset="0"/>
                <a:ea typeface="Calibri" pitchFamily="34" charset="-122"/>
                <a:cs typeface="Calibri" pitchFamily="34" charset="-120"/>
              </a:rPr>
              <a:t>Network / cloud</a:t>
            </a:r>
            <a:endParaRPr lang="en-US" sz="1200" dirty="0"/>
          </a:p>
        </p:txBody>
      </p:sp>
      <p:sp>
        <p:nvSpPr>
          <p:cNvPr id="46" name="Text 36"/>
          <p:cNvSpPr txBox="1"/>
          <p:nvPr/>
        </p:nvSpPr>
        <p:spPr>
          <a:xfrm>
            <a:off x="7178040" y="4005072"/>
            <a:ext cx="1463040" cy="320040"/>
          </a:xfrm>
          <a:prstGeom prst="rect">
            <a:avLst/>
          </a:prstGeom>
          <a:noFill/>
          <a:ln/>
        </p:spPr>
        <p:txBody>
          <a:bodyPr wrap="square" lIns="0" tIns="0" rIns="0" bIns="0" rtlCol="0" anchor="t"/>
          <a:lstStyle/>
          <a:p>
            <a:pPr indent="0" marL="0">
              <a:buNone/>
            </a:pPr>
            <a:r>
              <a:rPr lang="en-US" sz="950" dirty="0">
                <a:solidFill>
                  <a:srgbClr val="5B6470"/>
                </a:solidFill>
                <a:latin typeface="Calibri" pitchFamily="34" charset="0"/>
                <a:ea typeface="Calibri" pitchFamily="34" charset="-122"/>
                <a:cs typeface="Calibri" pitchFamily="34" charset="-120"/>
              </a:rPr>
              <a:t>SSH / API</a:t>
            </a:r>
            <a:endParaRPr lang="en-US" sz="950" dirty="0"/>
          </a:p>
        </p:txBody>
      </p:sp>
      <p:sp>
        <p:nvSpPr>
          <p:cNvPr id="47" name="Shape 37"/>
          <p:cNvSpPr/>
          <p:nvPr/>
        </p:nvSpPr>
        <p:spPr>
          <a:xfrm>
            <a:off x="5230368" y="2834640"/>
            <a:ext cx="1216152" cy="1170432"/>
          </a:xfrm>
          <a:prstGeom prst="line">
            <a:avLst/>
          </a:prstGeom>
          <a:noFill/>
          <a:ln w="19050">
            <a:solidFill>
              <a:srgbClr val="D92D27"/>
            </a:solidFill>
            <a:prstDash val="solid"/>
            <a:tailEnd type="triangle"/>
          </a:ln>
        </p:spPr>
      </p:sp>
      <p:sp>
        <p:nvSpPr>
          <p:cNvPr id="48" name="Shape 38"/>
          <p:cNvSpPr/>
          <p:nvPr/>
        </p:nvSpPr>
        <p:spPr>
          <a:xfrm>
            <a:off x="3611880" y="2834640"/>
            <a:ext cx="1618488" cy="0"/>
          </a:xfrm>
          <a:prstGeom prst="line">
            <a:avLst/>
          </a:prstGeom>
          <a:noFill/>
          <a:ln w="19050">
            <a:solidFill>
              <a:srgbClr val="D92D27"/>
            </a:solidFill>
            <a:prstDash val="solid"/>
          </a:ln>
        </p:spPr>
      </p:sp>
      <p:sp>
        <p:nvSpPr>
          <p:cNvPr id="49" name="Text 39"/>
          <p:cNvSpPr txBox="1"/>
          <p:nvPr/>
        </p:nvSpPr>
        <p:spPr>
          <a:xfrm>
            <a:off x="5303520" y="4480560"/>
            <a:ext cx="3383280" cy="320040"/>
          </a:xfrm>
          <a:prstGeom prst="rect">
            <a:avLst/>
          </a:prstGeom>
          <a:noFill/>
          <a:ln/>
        </p:spPr>
        <p:txBody>
          <a:bodyPr wrap="square" lIns="0" tIns="0" rIns="0" bIns="0" rtlCol="0" anchor="t"/>
          <a:lstStyle/>
          <a:p>
            <a:pPr algn="r" indent="0" marL="0">
              <a:buNone/>
            </a:pPr>
            <a:r>
              <a:rPr lang="en-US" sz="1100" i="1" dirty="0">
                <a:solidFill>
                  <a:srgbClr val="D92D27"/>
                </a:solidFill>
                <a:latin typeface="Calibri" pitchFamily="34" charset="0"/>
                <a:ea typeface="Calibri" pitchFamily="34" charset="-122"/>
                <a:cs typeface="Calibri" pitchFamily="34" charset="-120"/>
              </a:rPr>
              <a:t>No agent · no database · no daemon on targets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9AA1AA"/>
                </a:solidFill>
                <a:latin typeface="Calibri" pitchFamily="34" charset="0"/>
                <a:ea typeface="Calibri" pitchFamily="34" charset="-122"/>
                <a:cs typeface="Calibri" pitchFamily="34" charset="-120"/>
              </a:rPr>
              <a:t>15</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What happens when you run a task</a:t>
            </a:r>
            <a:endParaRPr lang="en-US" sz="28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B6470"/>
                </a:solidFill>
                <a:latin typeface="Calibri" pitchFamily="34" charset="0"/>
                <a:ea typeface="Calibri" pitchFamily="34" charset="-122"/>
                <a:cs typeface="Calibri" pitchFamily="34" charset="-120"/>
              </a:rPr>
              <a:t>Behind the scenes of every module call</a:t>
            </a:r>
            <a:endParaRPr lang="en-US" sz="1300" dirty="0"/>
          </a:p>
        </p:txBody>
      </p:sp>
      <p:sp>
        <p:nvSpPr>
          <p:cNvPr id="5" name="Shape 3"/>
          <p:cNvSpPr/>
          <p:nvPr/>
        </p:nvSpPr>
        <p:spPr>
          <a:xfrm>
            <a:off x="850392" y="1417320"/>
            <a:ext cx="548640" cy="548640"/>
          </a:xfrm>
          <a:prstGeom prst="ellipse">
            <a:avLst/>
          </a:prstGeom>
          <a:solidFill>
            <a:srgbClr val="D92D27"/>
          </a:solidFill>
          <a:ln w="12700">
            <a:solidFill>
              <a:srgbClr val="D92D27"/>
            </a:solidFill>
            <a:prstDash val="solid"/>
          </a:ln>
        </p:spPr>
      </p:sp>
      <p:sp>
        <p:nvSpPr>
          <p:cNvPr id="6" name="Text 4"/>
          <p:cNvSpPr txBox="1"/>
          <p:nvPr/>
        </p:nvSpPr>
        <p:spPr>
          <a:xfrm>
            <a:off x="850392" y="141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7" name="Shape 5"/>
          <p:cNvSpPr/>
          <p:nvPr/>
        </p:nvSpPr>
        <p:spPr>
          <a:xfrm>
            <a:off x="1444752" y="1691640"/>
            <a:ext cx="758952" cy="914"/>
          </a:xfrm>
          <a:prstGeom prst="line">
            <a:avLst/>
          </a:prstGeom>
          <a:noFill/>
          <a:ln w="19050">
            <a:solidFill>
              <a:srgbClr val="C4C9D0"/>
            </a:solidFill>
            <a:prstDash val="solid"/>
            <a:tailEnd type="triangle"/>
          </a:ln>
        </p:spPr>
      </p:sp>
      <p:sp>
        <p:nvSpPr>
          <p:cNvPr id="8" name="Text 6"/>
          <p:cNvSpPr txBox="1"/>
          <p:nvPr/>
        </p:nvSpPr>
        <p:spPr>
          <a:xfrm>
            <a:off x="457200" y="2103120"/>
            <a:ext cx="1325880" cy="320040"/>
          </a:xfrm>
          <a:prstGeom prst="rect">
            <a:avLst/>
          </a:prstGeom>
          <a:noFill/>
          <a:ln/>
        </p:spPr>
        <p:txBody>
          <a:bodyPr wrap="square" lIns="0" tIns="0" rIns="0" bIns="0" rtlCol="0" anchor="t"/>
          <a:lstStyle/>
          <a:p>
            <a:pPr algn="ctr" indent="0" marL="0">
              <a:buNone/>
            </a:pPr>
            <a:r>
              <a:rPr lang="en-US" sz="1400" b="1" dirty="0">
                <a:solidFill>
                  <a:srgbClr val="1F2328"/>
                </a:solidFill>
                <a:latin typeface="Calibri" pitchFamily="34" charset="0"/>
                <a:ea typeface="Calibri" pitchFamily="34" charset="-122"/>
                <a:cs typeface="Calibri" pitchFamily="34" charset="-120"/>
              </a:rPr>
              <a:t>Read</a:t>
            </a:r>
            <a:endParaRPr lang="en-US" sz="1400" dirty="0"/>
          </a:p>
        </p:txBody>
      </p:sp>
      <p:sp>
        <p:nvSpPr>
          <p:cNvPr id="9" name="Text 7"/>
          <p:cNvSpPr txBox="1"/>
          <p:nvPr/>
        </p:nvSpPr>
        <p:spPr>
          <a:xfrm>
            <a:off x="502920" y="2468880"/>
            <a:ext cx="1234440" cy="1005840"/>
          </a:xfrm>
          <a:prstGeom prst="rect">
            <a:avLst/>
          </a:prstGeom>
          <a:noFill/>
          <a:ln/>
        </p:spPr>
        <p:txBody>
          <a:bodyPr wrap="square" lIns="0" tIns="0" rIns="0" bIns="0" rtlCol="0" anchor="t"/>
          <a:lstStyle/>
          <a:p>
            <a:pPr algn="ctr" indent="0" marL="0">
              <a:buNone/>
            </a:pPr>
            <a:r>
              <a:rPr lang="en-US" sz="1100" dirty="0">
                <a:solidFill>
                  <a:srgbClr val="5B6470"/>
                </a:solidFill>
                <a:latin typeface="Calibri" pitchFamily="34" charset="0"/>
                <a:ea typeface="Calibri" pitchFamily="34" charset="-122"/>
                <a:cs typeface="Calibri" pitchFamily="34" charset="-120"/>
              </a:rPr>
              <a:t>Parse ansible.cfg, inventory, playbook and variables</a:t>
            </a:r>
            <a:endParaRPr lang="en-US" sz="1100" dirty="0"/>
          </a:p>
        </p:txBody>
      </p:sp>
      <p:sp>
        <p:nvSpPr>
          <p:cNvPr id="10" name="Shape 8"/>
          <p:cNvSpPr/>
          <p:nvPr/>
        </p:nvSpPr>
        <p:spPr>
          <a:xfrm>
            <a:off x="2249424" y="1417320"/>
            <a:ext cx="548640" cy="548640"/>
          </a:xfrm>
          <a:prstGeom prst="ellipse">
            <a:avLst/>
          </a:prstGeom>
          <a:solidFill>
            <a:srgbClr val="D92D27"/>
          </a:solidFill>
          <a:ln w="12700">
            <a:solidFill>
              <a:srgbClr val="D92D27"/>
            </a:solidFill>
            <a:prstDash val="solid"/>
          </a:ln>
        </p:spPr>
      </p:sp>
      <p:sp>
        <p:nvSpPr>
          <p:cNvPr id="11" name="Text 9"/>
          <p:cNvSpPr txBox="1"/>
          <p:nvPr/>
        </p:nvSpPr>
        <p:spPr>
          <a:xfrm>
            <a:off x="2249424" y="141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2" name="Shape 10"/>
          <p:cNvSpPr/>
          <p:nvPr/>
        </p:nvSpPr>
        <p:spPr>
          <a:xfrm>
            <a:off x="2843784" y="1691640"/>
            <a:ext cx="758952" cy="914"/>
          </a:xfrm>
          <a:prstGeom prst="line">
            <a:avLst/>
          </a:prstGeom>
          <a:noFill/>
          <a:ln w="19050">
            <a:solidFill>
              <a:srgbClr val="C4C9D0"/>
            </a:solidFill>
            <a:prstDash val="solid"/>
            <a:tailEnd type="triangle"/>
          </a:ln>
        </p:spPr>
      </p:sp>
      <p:sp>
        <p:nvSpPr>
          <p:cNvPr id="13" name="Text 11"/>
          <p:cNvSpPr txBox="1"/>
          <p:nvPr/>
        </p:nvSpPr>
        <p:spPr>
          <a:xfrm>
            <a:off x="1856232" y="2103120"/>
            <a:ext cx="1325880" cy="320040"/>
          </a:xfrm>
          <a:prstGeom prst="rect">
            <a:avLst/>
          </a:prstGeom>
          <a:noFill/>
          <a:ln/>
        </p:spPr>
        <p:txBody>
          <a:bodyPr wrap="square" lIns="0" tIns="0" rIns="0" bIns="0" rtlCol="0" anchor="t"/>
          <a:lstStyle/>
          <a:p>
            <a:pPr algn="ctr" indent="0" marL="0">
              <a:buNone/>
            </a:pPr>
            <a:r>
              <a:rPr lang="en-US" sz="1400" b="1" dirty="0">
                <a:solidFill>
                  <a:srgbClr val="1F2328"/>
                </a:solidFill>
                <a:latin typeface="Calibri" pitchFamily="34" charset="0"/>
                <a:ea typeface="Calibri" pitchFamily="34" charset="-122"/>
                <a:cs typeface="Calibri" pitchFamily="34" charset="-120"/>
              </a:rPr>
              <a:t>Connect</a:t>
            </a:r>
            <a:endParaRPr lang="en-US" sz="1400" dirty="0"/>
          </a:p>
        </p:txBody>
      </p:sp>
      <p:sp>
        <p:nvSpPr>
          <p:cNvPr id="14" name="Text 12"/>
          <p:cNvSpPr txBox="1"/>
          <p:nvPr/>
        </p:nvSpPr>
        <p:spPr>
          <a:xfrm>
            <a:off x="1901952" y="2468880"/>
            <a:ext cx="1234440" cy="1005840"/>
          </a:xfrm>
          <a:prstGeom prst="rect">
            <a:avLst/>
          </a:prstGeom>
          <a:noFill/>
          <a:ln/>
        </p:spPr>
        <p:txBody>
          <a:bodyPr wrap="square" lIns="0" tIns="0" rIns="0" bIns="0" rtlCol="0" anchor="t"/>
          <a:lstStyle/>
          <a:p>
            <a:pPr algn="ctr" indent="0" marL="0">
              <a:buNone/>
            </a:pPr>
            <a:r>
              <a:rPr lang="en-US" sz="1100" dirty="0">
                <a:solidFill>
                  <a:srgbClr val="5B6470"/>
                </a:solidFill>
                <a:latin typeface="Calibri" pitchFamily="34" charset="0"/>
                <a:ea typeface="Calibri" pitchFamily="34" charset="-122"/>
                <a:cs typeface="Calibri" pitchFamily="34" charset="-120"/>
              </a:rPr>
              <a:t>Open SSH to each host (in parallel, 'forks')</a:t>
            </a:r>
            <a:endParaRPr lang="en-US" sz="1100" dirty="0"/>
          </a:p>
        </p:txBody>
      </p:sp>
      <p:sp>
        <p:nvSpPr>
          <p:cNvPr id="15" name="Shape 13"/>
          <p:cNvSpPr/>
          <p:nvPr/>
        </p:nvSpPr>
        <p:spPr>
          <a:xfrm>
            <a:off x="3648456" y="1417320"/>
            <a:ext cx="548640" cy="548640"/>
          </a:xfrm>
          <a:prstGeom prst="ellipse">
            <a:avLst/>
          </a:prstGeom>
          <a:solidFill>
            <a:srgbClr val="D92D27"/>
          </a:solidFill>
          <a:ln w="12700">
            <a:solidFill>
              <a:srgbClr val="D92D27"/>
            </a:solidFill>
            <a:prstDash val="solid"/>
          </a:ln>
        </p:spPr>
      </p:sp>
      <p:sp>
        <p:nvSpPr>
          <p:cNvPr id="16" name="Text 14"/>
          <p:cNvSpPr txBox="1"/>
          <p:nvPr/>
        </p:nvSpPr>
        <p:spPr>
          <a:xfrm>
            <a:off x="3648456" y="141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7" name="Shape 15"/>
          <p:cNvSpPr/>
          <p:nvPr/>
        </p:nvSpPr>
        <p:spPr>
          <a:xfrm>
            <a:off x="4242816" y="1691640"/>
            <a:ext cx="758952" cy="914"/>
          </a:xfrm>
          <a:prstGeom prst="line">
            <a:avLst/>
          </a:prstGeom>
          <a:noFill/>
          <a:ln w="19050">
            <a:solidFill>
              <a:srgbClr val="C4C9D0"/>
            </a:solidFill>
            <a:prstDash val="solid"/>
            <a:tailEnd type="triangle"/>
          </a:ln>
        </p:spPr>
      </p:sp>
      <p:sp>
        <p:nvSpPr>
          <p:cNvPr id="18" name="Text 16"/>
          <p:cNvSpPr txBox="1"/>
          <p:nvPr/>
        </p:nvSpPr>
        <p:spPr>
          <a:xfrm>
            <a:off x="3255264" y="2103120"/>
            <a:ext cx="1325880" cy="320040"/>
          </a:xfrm>
          <a:prstGeom prst="rect">
            <a:avLst/>
          </a:prstGeom>
          <a:noFill/>
          <a:ln/>
        </p:spPr>
        <p:txBody>
          <a:bodyPr wrap="square" lIns="0" tIns="0" rIns="0" bIns="0" rtlCol="0" anchor="t"/>
          <a:lstStyle/>
          <a:p>
            <a:pPr algn="ctr" indent="0" marL="0">
              <a:buNone/>
            </a:pPr>
            <a:r>
              <a:rPr lang="en-US" sz="1400" b="1" dirty="0">
                <a:solidFill>
                  <a:srgbClr val="1F2328"/>
                </a:solidFill>
                <a:latin typeface="Calibri" pitchFamily="34" charset="0"/>
                <a:ea typeface="Calibri" pitchFamily="34" charset="-122"/>
                <a:cs typeface="Calibri" pitchFamily="34" charset="-120"/>
              </a:rPr>
              <a:t>Copy</a:t>
            </a:r>
            <a:endParaRPr lang="en-US" sz="1400" dirty="0"/>
          </a:p>
        </p:txBody>
      </p:sp>
      <p:sp>
        <p:nvSpPr>
          <p:cNvPr id="19" name="Text 17"/>
          <p:cNvSpPr txBox="1"/>
          <p:nvPr/>
        </p:nvSpPr>
        <p:spPr>
          <a:xfrm>
            <a:off x="3300984" y="2468880"/>
            <a:ext cx="1234440" cy="1005840"/>
          </a:xfrm>
          <a:prstGeom prst="rect">
            <a:avLst/>
          </a:prstGeom>
          <a:noFill/>
          <a:ln/>
        </p:spPr>
        <p:txBody>
          <a:bodyPr wrap="square" lIns="0" tIns="0" rIns="0" bIns="0" rtlCol="0" anchor="t"/>
          <a:lstStyle/>
          <a:p>
            <a:pPr algn="ctr" indent="0" marL="0">
              <a:buNone/>
            </a:pPr>
            <a:r>
              <a:rPr lang="en-US" sz="1100" dirty="0">
                <a:solidFill>
                  <a:srgbClr val="5B6470"/>
                </a:solidFill>
                <a:latin typeface="Calibri" pitchFamily="34" charset="0"/>
                <a:ea typeface="Calibri" pitchFamily="34" charset="-122"/>
                <a:cs typeface="Calibri" pitchFamily="34" charset="-120"/>
              </a:rPr>
              <a:t>Push the module (small Python program) to a temp dir</a:t>
            </a:r>
            <a:endParaRPr lang="en-US" sz="1100" dirty="0"/>
          </a:p>
        </p:txBody>
      </p:sp>
      <p:sp>
        <p:nvSpPr>
          <p:cNvPr id="20" name="Shape 18"/>
          <p:cNvSpPr/>
          <p:nvPr/>
        </p:nvSpPr>
        <p:spPr>
          <a:xfrm>
            <a:off x="5047488" y="1417320"/>
            <a:ext cx="548640" cy="548640"/>
          </a:xfrm>
          <a:prstGeom prst="ellipse">
            <a:avLst/>
          </a:prstGeom>
          <a:solidFill>
            <a:srgbClr val="D92D27"/>
          </a:solidFill>
          <a:ln w="12700">
            <a:solidFill>
              <a:srgbClr val="D92D27"/>
            </a:solidFill>
            <a:prstDash val="solid"/>
          </a:ln>
        </p:spPr>
      </p:sp>
      <p:sp>
        <p:nvSpPr>
          <p:cNvPr id="21" name="Text 19"/>
          <p:cNvSpPr txBox="1"/>
          <p:nvPr/>
        </p:nvSpPr>
        <p:spPr>
          <a:xfrm>
            <a:off x="5047488" y="141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2" name="Shape 20"/>
          <p:cNvSpPr/>
          <p:nvPr/>
        </p:nvSpPr>
        <p:spPr>
          <a:xfrm>
            <a:off x="5641848" y="1691640"/>
            <a:ext cx="758952" cy="914"/>
          </a:xfrm>
          <a:prstGeom prst="line">
            <a:avLst/>
          </a:prstGeom>
          <a:noFill/>
          <a:ln w="19050">
            <a:solidFill>
              <a:srgbClr val="C4C9D0"/>
            </a:solidFill>
            <a:prstDash val="solid"/>
            <a:tailEnd type="triangle"/>
          </a:ln>
        </p:spPr>
      </p:sp>
      <p:sp>
        <p:nvSpPr>
          <p:cNvPr id="23" name="Text 21"/>
          <p:cNvSpPr txBox="1"/>
          <p:nvPr/>
        </p:nvSpPr>
        <p:spPr>
          <a:xfrm>
            <a:off x="4654296" y="2103120"/>
            <a:ext cx="1325880" cy="320040"/>
          </a:xfrm>
          <a:prstGeom prst="rect">
            <a:avLst/>
          </a:prstGeom>
          <a:noFill/>
          <a:ln/>
        </p:spPr>
        <p:txBody>
          <a:bodyPr wrap="square" lIns="0" tIns="0" rIns="0" bIns="0" rtlCol="0" anchor="t"/>
          <a:lstStyle/>
          <a:p>
            <a:pPr algn="ctr" indent="0" marL="0">
              <a:buNone/>
            </a:pPr>
            <a:r>
              <a:rPr lang="en-US" sz="1400" b="1" dirty="0">
                <a:solidFill>
                  <a:srgbClr val="1F2328"/>
                </a:solidFill>
                <a:latin typeface="Calibri" pitchFamily="34" charset="0"/>
                <a:ea typeface="Calibri" pitchFamily="34" charset="-122"/>
                <a:cs typeface="Calibri" pitchFamily="34" charset="-120"/>
              </a:rPr>
              <a:t>Execute</a:t>
            </a:r>
            <a:endParaRPr lang="en-US" sz="1400" dirty="0"/>
          </a:p>
        </p:txBody>
      </p:sp>
      <p:sp>
        <p:nvSpPr>
          <p:cNvPr id="24" name="Text 22"/>
          <p:cNvSpPr txBox="1"/>
          <p:nvPr/>
        </p:nvSpPr>
        <p:spPr>
          <a:xfrm>
            <a:off x="4700016" y="2468880"/>
            <a:ext cx="1234440" cy="1005840"/>
          </a:xfrm>
          <a:prstGeom prst="rect">
            <a:avLst/>
          </a:prstGeom>
          <a:noFill/>
          <a:ln/>
        </p:spPr>
        <p:txBody>
          <a:bodyPr wrap="square" lIns="0" tIns="0" rIns="0" bIns="0" rtlCol="0" anchor="t"/>
          <a:lstStyle/>
          <a:p>
            <a:pPr algn="ctr" indent="0" marL="0">
              <a:buNone/>
            </a:pPr>
            <a:r>
              <a:rPr lang="en-US" sz="1100" dirty="0">
                <a:solidFill>
                  <a:srgbClr val="5B6470"/>
                </a:solidFill>
                <a:latin typeface="Calibri" pitchFamily="34" charset="0"/>
                <a:ea typeface="Calibri" pitchFamily="34" charset="-122"/>
                <a:cs typeface="Calibri" pitchFamily="34" charset="-120"/>
              </a:rPr>
              <a:t>Run it on the node — it checks current vs desired state</a:t>
            </a:r>
            <a:endParaRPr lang="en-US" sz="1100" dirty="0"/>
          </a:p>
        </p:txBody>
      </p:sp>
      <p:sp>
        <p:nvSpPr>
          <p:cNvPr id="25" name="Shape 23"/>
          <p:cNvSpPr/>
          <p:nvPr/>
        </p:nvSpPr>
        <p:spPr>
          <a:xfrm>
            <a:off x="6446520" y="1417320"/>
            <a:ext cx="548640" cy="548640"/>
          </a:xfrm>
          <a:prstGeom prst="ellipse">
            <a:avLst/>
          </a:prstGeom>
          <a:solidFill>
            <a:srgbClr val="D92D27"/>
          </a:solidFill>
          <a:ln w="12700">
            <a:solidFill>
              <a:srgbClr val="D92D27"/>
            </a:solidFill>
            <a:prstDash val="solid"/>
          </a:ln>
        </p:spPr>
      </p:sp>
      <p:sp>
        <p:nvSpPr>
          <p:cNvPr id="26" name="Text 24"/>
          <p:cNvSpPr txBox="1"/>
          <p:nvPr/>
        </p:nvSpPr>
        <p:spPr>
          <a:xfrm>
            <a:off x="6446520" y="141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27" name="Shape 25"/>
          <p:cNvSpPr/>
          <p:nvPr/>
        </p:nvSpPr>
        <p:spPr>
          <a:xfrm>
            <a:off x="7040880" y="1691640"/>
            <a:ext cx="758952" cy="914"/>
          </a:xfrm>
          <a:prstGeom prst="line">
            <a:avLst/>
          </a:prstGeom>
          <a:noFill/>
          <a:ln w="19050">
            <a:solidFill>
              <a:srgbClr val="C4C9D0"/>
            </a:solidFill>
            <a:prstDash val="solid"/>
            <a:tailEnd type="triangle"/>
          </a:ln>
        </p:spPr>
      </p:sp>
      <p:sp>
        <p:nvSpPr>
          <p:cNvPr id="28" name="Text 26"/>
          <p:cNvSpPr txBox="1"/>
          <p:nvPr/>
        </p:nvSpPr>
        <p:spPr>
          <a:xfrm>
            <a:off x="6053328" y="2103120"/>
            <a:ext cx="1325880" cy="320040"/>
          </a:xfrm>
          <a:prstGeom prst="rect">
            <a:avLst/>
          </a:prstGeom>
          <a:noFill/>
          <a:ln/>
        </p:spPr>
        <p:txBody>
          <a:bodyPr wrap="square" lIns="0" tIns="0" rIns="0" bIns="0" rtlCol="0" anchor="t"/>
          <a:lstStyle/>
          <a:p>
            <a:pPr algn="ctr" indent="0" marL="0">
              <a:buNone/>
            </a:pPr>
            <a:r>
              <a:rPr lang="en-US" sz="1400" b="1" dirty="0">
                <a:solidFill>
                  <a:srgbClr val="1F2328"/>
                </a:solidFill>
                <a:latin typeface="Calibri" pitchFamily="34" charset="0"/>
                <a:ea typeface="Calibri" pitchFamily="34" charset="-122"/>
                <a:cs typeface="Calibri" pitchFamily="34" charset="-120"/>
              </a:rPr>
              <a:t>Return</a:t>
            </a:r>
            <a:endParaRPr lang="en-US" sz="1400" dirty="0"/>
          </a:p>
        </p:txBody>
      </p:sp>
      <p:sp>
        <p:nvSpPr>
          <p:cNvPr id="29" name="Text 27"/>
          <p:cNvSpPr txBox="1"/>
          <p:nvPr/>
        </p:nvSpPr>
        <p:spPr>
          <a:xfrm>
            <a:off x="6099048" y="2468880"/>
            <a:ext cx="1234440" cy="1005840"/>
          </a:xfrm>
          <a:prstGeom prst="rect">
            <a:avLst/>
          </a:prstGeom>
          <a:noFill/>
          <a:ln/>
        </p:spPr>
        <p:txBody>
          <a:bodyPr wrap="square" lIns="0" tIns="0" rIns="0" bIns="0" rtlCol="0" anchor="t"/>
          <a:lstStyle/>
          <a:p>
            <a:pPr algn="ctr" indent="0" marL="0">
              <a:buNone/>
            </a:pPr>
            <a:r>
              <a:rPr lang="en-US" sz="1100" dirty="0">
                <a:solidFill>
                  <a:srgbClr val="5B6470"/>
                </a:solidFill>
                <a:latin typeface="Calibri" pitchFamily="34" charset="0"/>
                <a:ea typeface="Calibri" pitchFamily="34" charset="-122"/>
                <a:cs typeface="Calibri" pitchFamily="34" charset="-120"/>
              </a:rPr>
              <a:t>Module sends JSON back: ok / changed / failed</a:t>
            </a:r>
            <a:endParaRPr lang="en-US" sz="1100" dirty="0"/>
          </a:p>
        </p:txBody>
      </p:sp>
      <p:sp>
        <p:nvSpPr>
          <p:cNvPr id="30" name="Shape 28"/>
          <p:cNvSpPr/>
          <p:nvPr/>
        </p:nvSpPr>
        <p:spPr>
          <a:xfrm>
            <a:off x="7845552" y="1417320"/>
            <a:ext cx="548640" cy="548640"/>
          </a:xfrm>
          <a:prstGeom prst="ellipse">
            <a:avLst/>
          </a:prstGeom>
          <a:solidFill>
            <a:srgbClr val="D92D27"/>
          </a:solidFill>
          <a:ln w="12700">
            <a:solidFill>
              <a:srgbClr val="D92D27"/>
            </a:solidFill>
            <a:prstDash val="solid"/>
          </a:ln>
        </p:spPr>
      </p:sp>
      <p:sp>
        <p:nvSpPr>
          <p:cNvPr id="31" name="Text 29"/>
          <p:cNvSpPr txBox="1"/>
          <p:nvPr/>
        </p:nvSpPr>
        <p:spPr>
          <a:xfrm>
            <a:off x="7845552" y="141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6</a:t>
            </a:r>
            <a:endParaRPr lang="en-US" sz="1800" dirty="0"/>
          </a:p>
        </p:txBody>
      </p:sp>
      <p:sp>
        <p:nvSpPr>
          <p:cNvPr id="32" name="Text 30"/>
          <p:cNvSpPr txBox="1"/>
          <p:nvPr/>
        </p:nvSpPr>
        <p:spPr>
          <a:xfrm>
            <a:off x="7452360" y="2103120"/>
            <a:ext cx="1325880" cy="320040"/>
          </a:xfrm>
          <a:prstGeom prst="rect">
            <a:avLst/>
          </a:prstGeom>
          <a:noFill/>
          <a:ln/>
        </p:spPr>
        <p:txBody>
          <a:bodyPr wrap="square" lIns="0" tIns="0" rIns="0" bIns="0" rtlCol="0" anchor="t"/>
          <a:lstStyle/>
          <a:p>
            <a:pPr algn="ctr" indent="0" marL="0">
              <a:buNone/>
            </a:pPr>
            <a:r>
              <a:rPr lang="en-US" sz="1400" b="1" dirty="0">
                <a:solidFill>
                  <a:srgbClr val="1F2328"/>
                </a:solidFill>
                <a:latin typeface="Calibri" pitchFamily="34" charset="0"/>
                <a:ea typeface="Calibri" pitchFamily="34" charset="-122"/>
                <a:cs typeface="Calibri" pitchFamily="34" charset="-120"/>
              </a:rPr>
              <a:t>Clean up</a:t>
            </a:r>
            <a:endParaRPr lang="en-US" sz="1400" dirty="0"/>
          </a:p>
        </p:txBody>
      </p:sp>
      <p:sp>
        <p:nvSpPr>
          <p:cNvPr id="33" name="Text 31"/>
          <p:cNvSpPr txBox="1"/>
          <p:nvPr/>
        </p:nvSpPr>
        <p:spPr>
          <a:xfrm>
            <a:off x="7498080" y="2468880"/>
            <a:ext cx="1234440" cy="1005840"/>
          </a:xfrm>
          <a:prstGeom prst="rect">
            <a:avLst/>
          </a:prstGeom>
          <a:noFill/>
          <a:ln/>
        </p:spPr>
        <p:txBody>
          <a:bodyPr wrap="square" lIns="0" tIns="0" rIns="0" bIns="0" rtlCol="0" anchor="t"/>
          <a:lstStyle/>
          <a:p>
            <a:pPr algn="ctr" indent="0" marL="0">
              <a:buNone/>
            </a:pPr>
            <a:r>
              <a:rPr lang="en-US" sz="1100" dirty="0">
                <a:solidFill>
                  <a:srgbClr val="5B6470"/>
                </a:solidFill>
                <a:latin typeface="Calibri" pitchFamily="34" charset="0"/>
                <a:ea typeface="Calibri" pitchFamily="34" charset="-122"/>
                <a:cs typeface="Calibri" pitchFamily="34" charset="-120"/>
              </a:rPr>
              <a:t>Remove temp files; move to the next task</a:t>
            </a:r>
            <a:endParaRPr lang="en-US" sz="1100" dirty="0"/>
          </a:p>
        </p:txBody>
      </p:sp>
      <p:sp>
        <p:nvSpPr>
          <p:cNvPr id="34" name="Shape 32"/>
          <p:cNvSpPr/>
          <p:nvPr/>
        </p:nvSpPr>
        <p:spPr>
          <a:xfrm>
            <a:off x="457200" y="3703320"/>
            <a:ext cx="8229600" cy="868680"/>
          </a:xfrm>
          <a:prstGeom prst="roundRect">
            <a:avLst>
              <a:gd name="adj" fmla="val 8421"/>
            </a:avLst>
          </a:prstGeom>
          <a:solidFill>
            <a:srgbClr val="F2F3F5"/>
          </a:solidFill>
          <a:ln w="12700">
            <a:solidFill>
              <a:srgbClr val="F2F3F5"/>
            </a:solidFill>
            <a:prstDash val="solid"/>
          </a:ln>
        </p:spPr>
      </p:sp>
      <p:sp>
        <p:nvSpPr>
          <p:cNvPr id="35" name="Text 33"/>
          <p:cNvSpPr txBox="1"/>
          <p:nvPr/>
        </p:nvSpPr>
        <p:spPr>
          <a:xfrm>
            <a:off x="685800" y="3749040"/>
            <a:ext cx="7772400" cy="777240"/>
          </a:xfrm>
          <a:prstGeom prst="rect">
            <a:avLst/>
          </a:prstGeom>
          <a:noFill/>
          <a:ln/>
        </p:spPr>
        <p:txBody>
          <a:bodyPr wrap="square" lIns="0" tIns="0" rIns="0" bIns="0" rtlCol="0" anchor="ctr"/>
          <a:lstStyle/>
          <a:p>
            <a:pPr indent="0" marL="0">
              <a:buNone/>
            </a:pPr>
            <a:r>
              <a:rPr lang="en-US" sz="1250" b="1" dirty="0">
                <a:solidFill>
                  <a:srgbClr val="D92D27"/>
                </a:solidFill>
                <a:latin typeface="Calibri" pitchFamily="34" charset="0"/>
                <a:ea typeface="Calibri" pitchFamily="34" charset="-122"/>
                <a:cs typeface="Calibri" pitchFamily="34" charset="-120"/>
              </a:rPr>
              <a:t>Tip: </a:t>
            </a:r>
            <a:pPr indent="0" marL="0">
              <a:buNone/>
            </a:pPr>
            <a:r>
              <a:rPr lang="en-US" sz="1250" dirty="0">
                <a:solidFill>
                  <a:srgbClr val="1F2328"/>
                </a:solidFill>
                <a:latin typeface="Calibri" pitchFamily="34" charset="0"/>
                <a:ea typeface="Calibri" pitchFamily="34" charset="-122"/>
                <a:cs typeface="Calibri" pitchFamily="34" charset="-120"/>
              </a:rPr>
              <a:t>run with -vvv to watch these steps live. pipelining = True in ansible.cfg skips the copy step and speeds things up; by default Ansible works on 5 hosts at a time (forks = 5).</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9AA1AA"/>
                </a:solidFill>
                <a:latin typeface="Calibri" pitchFamily="34" charset="0"/>
                <a:ea typeface="Calibri" pitchFamily="34" charset="-122"/>
                <a:cs typeface="Calibri" pitchFamily="34" charset="-120"/>
              </a:rPr>
              <a:t>16</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Terminologies (1/2) — the building blocks</a:t>
            </a:r>
            <a:endParaRPr lang="en-US" sz="2800" dirty="0"/>
          </a:p>
        </p:txBody>
      </p:sp>
      <p:sp>
        <p:nvSpPr>
          <p:cNvPr id="4" name="Shape 2"/>
          <p:cNvSpPr/>
          <p:nvPr/>
        </p:nvSpPr>
        <p:spPr>
          <a:xfrm>
            <a:off x="457200" y="1051560"/>
            <a:ext cx="4023360" cy="1051560"/>
          </a:xfrm>
          <a:prstGeom prst="roundRect">
            <a:avLst>
              <a:gd name="adj" fmla="val 6957"/>
            </a:avLst>
          </a:prstGeom>
          <a:solidFill>
            <a:srgbClr val="F2F3F5"/>
          </a:solidFill>
          <a:ln w="12700">
            <a:solidFill>
              <a:srgbClr val="F2F3F5"/>
            </a:solidFill>
            <a:prstDash val="solid"/>
          </a:ln>
        </p:spPr>
      </p:sp>
      <p:sp>
        <p:nvSpPr>
          <p:cNvPr id="5" name="Shape 3"/>
          <p:cNvSpPr/>
          <p:nvPr/>
        </p:nvSpPr>
        <p:spPr>
          <a:xfrm>
            <a:off x="640080" y="1298448"/>
            <a:ext cx="548640" cy="548640"/>
          </a:xfrm>
          <a:prstGeom prst="ellipse">
            <a:avLst/>
          </a:prstGeom>
          <a:solidFill>
            <a:srgbClr val="D92D27"/>
          </a:solidFill>
          <a:ln w="12700">
            <a:solidFill>
              <a:srgbClr val="D92D27"/>
            </a:solidFill>
            <a:prstDash val="solid"/>
          </a:ln>
        </p:spPr>
      </p:sp>
      <p:pic>
        <p:nvPicPr>
          <p:cNvPr id="6" name="Image 0" descr="preencoded.png">    </p:cNvPr>
          <p:cNvPicPr>
            <a:picLocks noChangeAspect="1"/>
          </p:cNvPicPr>
          <p:nvPr/>
        </p:nvPicPr>
        <p:blipFill>
          <a:blip r:embed="rId1"/>
          <a:stretch>
            <a:fillRect/>
          </a:stretch>
        </p:blipFill>
        <p:spPr>
          <a:xfrm>
            <a:off x="782726" y="1441094"/>
            <a:ext cx="263347" cy="263347"/>
          </a:xfrm>
          <a:prstGeom prst="rect">
            <a:avLst/>
          </a:prstGeom>
        </p:spPr>
      </p:pic>
      <p:sp>
        <p:nvSpPr>
          <p:cNvPr id="7" name="Text 4"/>
          <p:cNvSpPr txBox="1"/>
          <p:nvPr/>
        </p:nvSpPr>
        <p:spPr>
          <a:xfrm>
            <a:off x="1325880" y="1170432"/>
            <a:ext cx="3017520" cy="320040"/>
          </a:xfrm>
          <a:prstGeom prst="rect">
            <a:avLst/>
          </a:prstGeom>
          <a:noFill/>
          <a:ln/>
        </p:spPr>
        <p:txBody>
          <a:bodyPr wrap="square" lIns="0" tIns="0" rIns="0" bIns="0" rtlCol="0" anchor="t"/>
          <a:lstStyle/>
          <a:p>
            <a:pPr indent="0" marL="0">
              <a:buNone/>
            </a:pPr>
            <a:r>
              <a:rPr lang="en-US" sz="1400" b="1" dirty="0">
                <a:solidFill>
                  <a:srgbClr val="1F2328"/>
                </a:solidFill>
                <a:latin typeface="Calibri" pitchFamily="34" charset="0"/>
                <a:ea typeface="Calibri" pitchFamily="34" charset="-122"/>
                <a:cs typeface="Calibri" pitchFamily="34" charset="-120"/>
              </a:rPr>
              <a:t>Control node</a:t>
            </a:r>
            <a:endParaRPr lang="en-US" sz="1400" dirty="0"/>
          </a:p>
        </p:txBody>
      </p:sp>
      <p:sp>
        <p:nvSpPr>
          <p:cNvPr id="8" name="Text 5"/>
          <p:cNvSpPr txBox="1"/>
          <p:nvPr/>
        </p:nvSpPr>
        <p:spPr>
          <a:xfrm>
            <a:off x="1325880" y="1481328"/>
            <a:ext cx="3063240" cy="594360"/>
          </a:xfrm>
          <a:prstGeom prst="rect">
            <a:avLst/>
          </a:prstGeom>
          <a:noFill/>
          <a:ln/>
        </p:spPr>
        <p:txBody>
          <a:bodyPr wrap="square" lIns="0" tIns="0" rIns="0" bIns="0" rtlCol="0" anchor="t"/>
          <a:lstStyle/>
          <a:p>
            <a:pPr indent="0" marL="0">
              <a:buNone/>
            </a:pPr>
            <a:r>
              <a:rPr lang="en-US" sz="1150" dirty="0">
                <a:solidFill>
                  <a:srgbClr val="5B6470"/>
                </a:solidFill>
                <a:latin typeface="Calibri" pitchFamily="34" charset="0"/>
                <a:ea typeface="Calibri" pitchFamily="34" charset="-122"/>
                <a:cs typeface="Calibri" pitchFamily="34" charset="-120"/>
              </a:rPr>
              <a:t>Machine where Ansible is installed and run from. Linux/macOS (WSL on Windows).</a:t>
            </a:r>
            <a:endParaRPr lang="en-US" sz="1150" dirty="0"/>
          </a:p>
        </p:txBody>
      </p:sp>
      <p:sp>
        <p:nvSpPr>
          <p:cNvPr id="9" name="Shape 6"/>
          <p:cNvSpPr/>
          <p:nvPr/>
        </p:nvSpPr>
        <p:spPr>
          <a:xfrm>
            <a:off x="4663440" y="1051560"/>
            <a:ext cx="4023360" cy="1051560"/>
          </a:xfrm>
          <a:prstGeom prst="roundRect">
            <a:avLst>
              <a:gd name="adj" fmla="val 6957"/>
            </a:avLst>
          </a:prstGeom>
          <a:solidFill>
            <a:srgbClr val="F2F3F5"/>
          </a:solidFill>
          <a:ln w="12700">
            <a:solidFill>
              <a:srgbClr val="F2F3F5"/>
            </a:solidFill>
            <a:prstDash val="solid"/>
          </a:ln>
        </p:spPr>
      </p:sp>
      <p:sp>
        <p:nvSpPr>
          <p:cNvPr id="10" name="Shape 7"/>
          <p:cNvSpPr/>
          <p:nvPr/>
        </p:nvSpPr>
        <p:spPr>
          <a:xfrm>
            <a:off x="4846320" y="1298448"/>
            <a:ext cx="548640" cy="548640"/>
          </a:xfrm>
          <a:prstGeom prst="ellipse">
            <a:avLst/>
          </a:prstGeom>
          <a:solidFill>
            <a:srgbClr val="D92D27"/>
          </a:solidFill>
          <a:ln w="12700">
            <a:solidFill>
              <a:srgbClr val="D92D27"/>
            </a:solidFill>
            <a:prstDash val="solid"/>
          </a:ln>
        </p:spPr>
      </p:sp>
      <p:pic>
        <p:nvPicPr>
          <p:cNvPr id="11" name="Image 1" descr="preencoded.png">    </p:cNvPr>
          <p:cNvPicPr>
            <a:picLocks noChangeAspect="1"/>
          </p:cNvPicPr>
          <p:nvPr/>
        </p:nvPicPr>
        <p:blipFill>
          <a:blip r:embed="rId2"/>
          <a:stretch>
            <a:fillRect/>
          </a:stretch>
        </p:blipFill>
        <p:spPr>
          <a:xfrm>
            <a:off x="4988966" y="1441094"/>
            <a:ext cx="263347" cy="263347"/>
          </a:xfrm>
          <a:prstGeom prst="rect">
            <a:avLst/>
          </a:prstGeom>
        </p:spPr>
      </p:pic>
      <p:sp>
        <p:nvSpPr>
          <p:cNvPr id="12" name="Text 8"/>
          <p:cNvSpPr txBox="1"/>
          <p:nvPr/>
        </p:nvSpPr>
        <p:spPr>
          <a:xfrm>
            <a:off x="5532120" y="1170432"/>
            <a:ext cx="3017520" cy="320040"/>
          </a:xfrm>
          <a:prstGeom prst="rect">
            <a:avLst/>
          </a:prstGeom>
          <a:noFill/>
          <a:ln/>
        </p:spPr>
        <p:txBody>
          <a:bodyPr wrap="square" lIns="0" tIns="0" rIns="0" bIns="0" rtlCol="0" anchor="t"/>
          <a:lstStyle/>
          <a:p>
            <a:pPr indent="0" marL="0">
              <a:buNone/>
            </a:pPr>
            <a:r>
              <a:rPr lang="en-US" sz="1400" b="1" dirty="0">
                <a:solidFill>
                  <a:srgbClr val="1F2328"/>
                </a:solidFill>
                <a:latin typeface="Calibri" pitchFamily="34" charset="0"/>
                <a:ea typeface="Calibri" pitchFamily="34" charset="-122"/>
                <a:cs typeface="Calibri" pitchFamily="34" charset="-120"/>
              </a:rPr>
              <a:t>Managed node / host</a:t>
            </a:r>
            <a:endParaRPr lang="en-US" sz="1400" dirty="0"/>
          </a:p>
        </p:txBody>
      </p:sp>
      <p:sp>
        <p:nvSpPr>
          <p:cNvPr id="13" name="Text 9"/>
          <p:cNvSpPr txBox="1"/>
          <p:nvPr/>
        </p:nvSpPr>
        <p:spPr>
          <a:xfrm>
            <a:off x="5532120" y="1481328"/>
            <a:ext cx="3063240" cy="594360"/>
          </a:xfrm>
          <a:prstGeom prst="rect">
            <a:avLst/>
          </a:prstGeom>
          <a:noFill/>
          <a:ln/>
        </p:spPr>
        <p:txBody>
          <a:bodyPr wrap="square" lIns="0" tIns="0" rIns="0" bIns="0" rtlCol="0" anchor="t"/>
          <a:lstStyle/>
          <a:p>
            <a:pPr indent="0" marL="0">
              <a:buNone/>
            </a:pPr>
            <a:r>
              <a:rPr lang="en-US" sz="1150" dirty="0">
                <a:solidFill>
                  <a:srgbClr val="5B6470"/>
                </a:solidFill>
                <a:latin typeface="Calibri" pitchFamily="34" charset="0"/>
                <a:ea typeface="Calibri" pitchFamily="34" charset="-122"/>
                <a:cs typeface="Calibri" pitchFamily="34" charset="-120"/>
              </a:rPr>
              <a:t>Any machine Ansible configures. Needs SSH + Python (Linux) or WinRM (Windows).</a:t>
            </a:r>
            <a:endParaRPr lang="en-US" sz="1150" dirty="0"/>
          </a:p>
        </p:txBody>
      </p:sp>
      <p:sp>
        <p:nvSpPr>
          <p:cNvPr id="14" name="Shape 10"/>
          <p:cNvSpPr/>
          <p:nvPr/>
        </p:nvSpPr>
        <p:spPr>
          <a:xfrm>
            <a:off x="457200" y="2240280"/>
            <a:ext cx="4023360" cy="1051560"/>
          </a:xfrm>
          <a:prstGeom prst="roundRect">
            <a:avLst>
              <a:gd name="adj" fmla="val 6957"/>
            </a:avLst>
          </a:prstGeom>
          <a:solidFill>
            <a:srgbClr val="F2F3F5"/>
          </a:solidFill>
          <a:ln w="12700">
            <a:solidFill>
              <a:srgbClr val="F2F3F5"/>
            </a:solidFill>
            <a:prstDash val="solid"/>
          </a:ln>
        </p:spPr>
      </p:sp>
      <p:sp>
        <p:nvSpPr>
          <p:cNvPr id="15" name="Shape 11"/>
          <p:cNvSpPr/>
          <p:nvPr/>
        </p:nvSpPr>
        <p:spPr>
          <a:xfrm>
            <a:off x="640080" y="2487168"/>
            <a:ext cx="548640" cy="548640"/>
          </a:xfrm>
          <a:prstGeom prst="ellipse">
            <a:avLst/>
          </a:prstGeom>
          <a:solidFill>
            <a:srgbClr val="D92D27"/>
          </a:solidFill>
          <a:ln w="12700">
            <a:solidFill>
              <a:srgbClr val="D92D27"/>
            </a:solidFill>
            <a:prstDash val="solid"/>
          </a:ln>
        </p:spPr>
      </p:sp>
      <p:pic>
        <p:nvPicPr>
          <p:cNvPr id="16" name="Image 2" descr="preencoded.png">    </p:cNvPr>
          <p:cNvPicPr>
            <a:picLocks noChangeAspect="1"/>
          </p:cNvPicPr>
          <p:nvPr/>
        </p:nvPicPr>
        <p:blipFill>
          <a:blip r:embed="rId3"/>
          <a:stretch>
            <a:fillRect/>
          </a:stretch>
        </p:blipFill>
        <p:spPr>
          <a:xfrm>
            <a:off x="782726" y="2629814"/>
            <a:ext cx="263347" cy="263347"/>
          </a:xfrm>
          <a:prstGeom prst="rect">
            <a:avLst/>
          </a:prstGeom>
        </p:spPr>
      </p:pic>
      <p:sp>
        <p:nvSpPr>
          <p:cNvPr id="17" name="Text 12"/>
          <p:cNvSpPr txBox="1"/>
          <p:nvPr/>
        </p:nvSpPr>
        <p:spPr>
          <a:xfrm>
            <a:off x="1325880" y="2359152"/>
            <a:ext cx="3017520" cy="320040"/>
          </a:xfrm>
          <a:prstGeom prst="rect">
            <a:avLst/>
          </a:prstGeom>
          <a:noFill/>
          <a:ln/>
        </p:spPr>
        <p:txBody>
          <a:bodyPr wrap="square" lIns="0" tIns="0" rIns="0" bIns="0" rtlCol="0" anchor="t"/>
          <a:lstStyle/>
          <a:p>
            <a:pPr indent="0" marL="0">
              <a:buNone/>
            </a:pPr>
            <a:r>
              <a:rPr lang="en-US" sz="1400" b="1" dirty="0">
                <a:solidFill>
                  <a:srgbClr val="1F2328"/>
                </a:solidFill>
                <a:latin typeface="Calibri" pitchFamily="34" charset="0"/>
                <a:ea typeface="Calibri" pitchFamily="34" charset="-122"/>
                <a:cs typeface="Calibri" pitchFamily="34" charset="-120"/>
              </a:rPr>
              <a:t>Inventory</a:t>
            </a:r>
            <a:endParaRPr lang="en-US" sz="1400" dirty="0"/>
          </a:p>
        </p:txBody>
      </p:sp>
      <p:sp>
        <p:nvSpPr>
          <p:cNvPr id="18" name="Text 13"/>
          <p:cNvSpPr txBox="1"/>
          <p:nvPr/>
        </p:nvSpPr>
        <p:spPr>
          <a:xfrm>
            <a:off x="1325880" y="2670048"/>
            <a:ext cx="3063240" cy="594360"/>
          </a:xfrm>
          <a:prstGeom prst="rect">
            <a:avLst/>
          </a:prstGeom>
          <a:noFill/>
          <a:ln/>
        </p:spPr>
        <p:txBody>
          <a:bodyPr wrap="square" lIns="0" tIns="0" rIns="0" bIns="0" rtlCol="0" anchor="t"/>
          <a:lstStyle/>
          <a:p>
            <a:pPr indent="0" marL="0">
              <a:buNone/>
            </a:pPr>
            <a:r>
              <a:rPr lang="en-US" sz="1150" dirty="0">
                <a:solidFill>
                  <a:srgbClr val="5B6470"/>
                </a:solidFill>
                <a:latin typeface="Calibri" pitchFamily="34" charset="0"/>
                <a:ea typeface="Calibri" pitchFamily="34" charset="-122"/>
                <a:cs typeface="Calibri" pitchFamily="34" charset="-120"/>
              </a:rPr>
              <a:t>List of managed nodes, organised into groups (INI or YAML), static or dynamic.</a:t>
            </a:r>
            <a:endParaRPr lang="en-US" sz="1150" dirty="0"/>
          </a:p>
        </p:txBody>
      </p:sp>
      <p:sp>
        <p:nvSpPr>
          <p:cNvPr id="19" name="Shape 14"/>
          <p:cNvSpPr/>
          <p:nvPr/>
        </p:nvSpPr>
        <p:spPr>
          <a:xfrm>
            <a:off x="4663440" y="2240280"/>
            <a:ext cx="4023360" cy="1051560"/>
          </a:xfrm>
          <a:prstGeom prst="roundRect">
            <a:avLst>
              <a:gd name="adj" fmla="val 6957"/>
            </a:avLst>
          </a:prstGeom>
          <a:solidFill>
            <a:srgbClr val="F2F3F5"/>
          </a:solidFill>
          <a:ln w="12700">
            <a:solidFill>
              <a:srgbClr val="F2F3F5"/>
            </a:solidFill>
            <a:prstDash val="solid"/>
          </a:ln>
        </p:spPr>
      </p:sp>
      <p:sp>
        <p:nvSpPr>
          <p:cNvPr id="20" name="Shape 15"/>
          <p:cNvSpPr/>
          <p:nvPr/>
        </p:nvSpPr>
        <p:spPr>
          <a:xfrm>
            <a:off x="4846320" y="2487168"/>
            <a:ext cx="548640" cy="548640"/>
          </a:xfrm>
          <a:prstGeom prst="ellipse">
            <a:avLst/>
          </a:prstGeom>
          <a:solidFill>
            <a:srgbClr val="D92D27"/>
          </a:solidFill>
          <a:ln w="12700">
            <a:solidFill>
              <a:srgbClr val="D92D27"/>
            </a:solidFill>
            <a:prstDash val="solid"/>
          </a:ln>
        </p:spPr>
      </p:sp>
      <p:pic>
        <p:nvPicPr>
          <p:cNvPr id="21" name="Image 3" descr="preencoded.png">    </p:cNvPr>
          <p:cNvPicPr>
            <a:picLocks noChangeAspect="1"/>
          </p:cNvPicPr>
          <p:nvPr/>
        </p:nvPicPr>
        <p:blipFill>
          <a:blip r:embed="rId4"/>
          <a:stretch>
            <a:fillRect/>
          </a:stretch>
        </p:blipFill>
        <p:spPr>
          <a:xfrm>
            <a:off x="4988966" y="2629814"/>
            <a:ext cx="263347" cy="263347"/>
          </a:xfrm>
          <a:prstGeom prst="rect">
            <a:avLst/>
          </a:prstGeom>
        </p:spPr>
      </p:pic>
      <p:sp>
        <p:nvSpPr>
          <p:cNvPr id="22" name="Text 16"/>
          <p:cNvSpPr txBox="1"/>
          <p:nvPr/>
        </p:nvSpPr>
        <p:spPr>
          <a:xfrm>
            <a:off x="5532120" y="2359152"/>
            <a:ext cx="3017520" cy="320040"/>
          </a:xfrm>
          <a:prstGeom prst="rect">
            <a:avLst/>
          </a:prstGeom>
          <a:noFill/>
          <a:ln/>
        </p:spPr>
        <p:txBody>
          <a:bodyPr wrap="square" lIns="0" tIns="0" rIns="0" bIns="0" rtlCol="0" anchor="t"/>
          <a:lstStyle/>
          <a:p>
            <a:pPr indent="0" marL="0">
              <a:buNone/>
            </a:pPr>
            <a:r>
              <a:rPr lang="en-US" sz="1400" b="1" dirty="0">
                <a:solidFill>
                  <a:srgbClr val="1F2328"/>
                </a:solidFill>
                <a:latin typeface="Calibri" pitchFamily="34" charset="0"/>
                <a:ea typeface="Calibri" pitchFamily="34" charset="-122"/>
                <a:cs typeface="Calibri" pitchFamily="34" charset="-120"/>
              </a:rPr>
              <a:t>Module</a:t>
            </a:r>
            <a:endParaRPr lang="en-US" sz="1400" dirty="0"/>
          </a:p>
        </p:txBody>
      </p:sp>
      <p:sp>
        <p:nvSpPr>
          <p:cNvPr id="23" name="Text 17"/>
          <p:cNvSpPr txBox="1"/>
          <p:nvPr/>
        </p:nvSpPr>
        <p:spPr>
          <a:xfrm>
            <a:off x="5532120" y="2670048"/>
            <a:ext cx="3063240" cy="594360"/>
          </a:xfrm>
          <a:prstGeom prst="rect">
            <a:avLst/>
          </a:prstGeom>
          <a:noFill/>
          <a:ln/>
        </p:spPr>
        <p:txBody>
          <a:bodyPr wrap="square" lIns="0" tIns="0" rIns="0" bIns="0" rtlCol="0" anchor="t"/>
          <a:lstStyle/>
          <a:p>
            <a:pPr indent="0" marL="0">
              <a:buNone/>
            </a:pPr>
            <a:r>
              <a:rPr lang="en-US" sz="1150" dirty="0">
                <a:solidFill>
                  <a:srgbClr val="5B6470"/>
                </a:solidFill>
                <a:latin typeface="Calibri" pitchFamily="34" charset="0"/>
                <a:ea typeface="Calibri" pitchFamily="34" charset="-122"/>
                <a:cs typeface="Calibri" pitchFamily="34" charset="-120"/>
              </a:rPr>
              <a:t>Unit of work Ansible ships to a host, e.g. apt, copy, service, user.</a:t>
            </a:r>
            <a:endParaRPr lang="en-US" sz="1150" dirty="0"/>
          </a:p>
        </p:txBody>
      </p:sp>
      <p:sp>
        <p:nvSpPr>
          <p:cNvPr id="24" name="Shape 18"/>
          <p:cNvSpPr/>
          <p:nvPr/>
        </p:nvSpPr>
        <p:spPr>
          <a:xfrm>
            <a:off x="457200" y="3429000"/>
            <a:ext cx="4023360" cy="1051560"/>
          </a:xfrm>
          <a:prstGeom prst="roundRect">
            <a:avLst>
              <a:gd name="adj" fmla="val 6957"/>
            </a:avLst>
          </a:prstGeom>
          <a:solidFill>
            <a:srgbClr val="F2F3F5"/>
          </a:solidFill>
          <a:ln w="12700">
            <a:solidFill>
              <a:srgbClr val="F2F3F5"/>
            </a:solidFill>
            <a:prstDash val="solid"/>
          </a:ln>
        </p:spPr>
      </p:sp>
      <p:sp>
        <p:nvSpPr>
          <p:cNvPr id="25" name="Shape 19"/>
          <p:cNvSpPr/>
          <p:nvPr/>
        </p:nvSpPr>
        <p:spPr>
          <a:xfrm>
            <a:off x="640080" y="3675888"/>
            <a:ext cx="548640" cy="548640"/>
          </a:xfrm>
          <a:prstGeom prst="ellipse">
            <a:avLst/>
          </a:prstGeom>
          <a:solidFill>
            <a:srgbClr val="D92D27"/>
          </a:solidFill>
          <a:ln w="12700">
            <a:solidFill>
              <a:srgbClr val="D92D27"/>
            </a:solidFill>
            <a:prstDash val="solid"/>
          </a:ln>
        </p:spPr>
      </p:sp>
      <p:pic>
        <p:nvPicPr>
          <p:cNvPr id="26" name="Image 4" descr="preencoded.png">    </p:cNvPr>
          <p:cNvPicPr>
            <a:picLocks noChangeAspect="1"/>
          </p:cNvPicPr>
          <p:nvPr/>
        </p:nvPicPr>
        <p:blipFill>
          <a:blip r:embed="rId5"/>
          <a:stretch>
            <a:fillRect/>
          </a:stretch>
        </p:blipFill>
        <p:spPr>
          <a:xfrm>
            <a:off x="782726" y="3818534"/>
            <a:ext cx="263347" cy="263347"/>
          </a:xfrm>
          <a:prstGeom prst="rect">
            <a:avLst/>
          </a:prstGeom>
        </p:spPr>
      </p:pic>
      <p:sp>
        <p:nvSpPr>
          <p:cNvPr id="27" name="Text 20"/>
          <p:cNvSpPr txBox="1"/>
          <p:nvPr/>
        </p:nvSpPr>
        <p:spPr>
          <a:xfrm>
            <a:off x="1325880" y="3547872"/>
            <a:ext cx="3017520" cy="320040"/>
          </a:xfrm>
          <a:prstGeom prst="rect">
            <a:avLst/>
          </a:prstGeom>
          <a:noFill/>
          <a:ln/>
        </p:spPr>
        <p:txBody>
          <a:bodyPr wrap="square" lIns="0" tIns="0" rIns="0" bIns="0" rtlCol="0" anchor="t"/>
          <a:lstStyle/>
          <a:p>
            <a:pPr indent="0" marL="0">
              <a:buNone/>
            </a:pPr>
            <a:r>
              <a:rPr lang="en-US" sz="1400" b="1" dirty="0">
                <a:solidFill>
                  <a:srgbClr val="1F2328"/>
                </a:solidFill>
                <a:latin typeface="Calibri" pitchFamily="34" charset="0"/>
                <a:ea typeface="Calibri" pitchFamily="34" charset="-122"/>
                <a:cs typeface="Calibri" pitchFamily="34" charset="-120"/>
              </a:rPr>
              <a:t>Task</a:t>
            </a:r>
            <a:endParaRPr lang="en-US" sz="1400" dirty="0"/>
          </a:p>
        </p:txBody>
      </p:sp>
      <p:sp>
        <p:nvSpPr>
          <p:cNvPr id="28" name="Text 21"/>
          <p:cNvSpPr txBox="1"/>
          <p:nvPr/>
        </p:nvSpPr>
        <p:spPr>
          <a:xfrm>
            <a:off x="1325880" y="3858768"/>
            <a:ext cx="3063240" cy="594360"/>
          </a:xfrm>
          <a:prstGeom prst="rect">
            <a:avLst/>
          </a:prstGeom>
          <a:noFill/>
          <a:ln/>
        </p:spPr>
        <p:txBody>
          <a:bodyPr wrap="square" lIns="0" tIns="0" rIns="0" bIns="0" rtlCol="0" anchor="t"/>
          <a:lstStyle/>
          <a:p>
            <a:pPr indent="0" marL="0">
              <a:buNone/>
            </a:pPr>
            <a:r>
              <a:rPr lang="en-US" sz="1150" dirty="0">
                <a:solidFill>
                  <a:srgbClr val="5B6470"/>
                </a:solidFill>
                <a:latin typeface="Calibri" pitchFamily="34" charset="0"/>
                <a:ea typeface="Calibri" pitchFamily="34" charset="-122"/>
                <a:cs typeface="Calibri" pitchFamily="34" charset="-120"/>
              </a:rPr>
              <a:t>One call to a module with arguments, plus a descriptive name.</a:t>
            </a:r>
            <a:endParaRPr lang="en-US" sz="1150" dirty="0"/>
          </a:p>
        </p:txBody>
      </p:sp>
      <p:sp>
        <p:nvSpPr>
          <p:cNvPr id="29" name="Shape 22"/>
          <p:cNvSpPr/>
          <p:nvPr/>
        </p:nvSpPr>
        <p:spPr>
          <a:xfrm>
            <a:off x="4663440" y="3429000"/>
            <a:ext cx="4023360" cy="1051560"/>
          </a:xfrm>
          <a:prstGeom prst="roundRect">
            <a:avLst>
              <a:gd name="adj" fmla="val 6957"/>
            </a:avLst>
          </a:prstGeom>
          <a:solidFill>
            <a:srgbClr val="F2F3F5"/>
          </a:solidFill>
          <a:ln w="12700">
            <a:solidFill>
              <a:srgbClr val="F2F3F5"/>
            </a:solidFill>
            <a:prstDash val="solid"/>
          </a:ln>
        </p:spPr>
      </p:sp>
      <p:sp>
        <p:nvSpPr>
          <p:cNvPr id="30" name="Shape 23"/>
          <p:cNvSpPr/>
          <p:nvPr/>
        </p:nvSpPr>
        <p:spPr>
          <a:xfrm>
            <a:off x="4846320" y="3675888"/>
            <a:ext cx="548640" cy="548640"/>
          </a:xfrm>
          <a:prstGeom prst="ellipse">
            <a:avLst/>
          </a:prstGeom>
          <a:solidFill>
            <a:srgbClr val="D92D27"/>
          </a:solidFill>
          <a:ln w="12700">
            <a:solidFill>
              <a:srgbClr val="D92D27"/>
            </a:solidFill>
            <a:prstDash val="solid"/>
          </a:ln>
        </p:spPr>
      </p:sp>
      <p:pic>
        <p:nvPicPr>
          <p:cNvPr id="31" name="Image 5" descr="preencoded.png">    </p:cNvPr>
          <p:cNvPicPr>
            <a:picLocks noChangeAspect="1"/>
          </p:cNvPicPr>
          <p:nvPr/>
        </p:nvPicPr>
        <p:blipFill>
          <a:blip r:embed="rId6"/>
          <a:stretch>
            <a:fillRect/>
          </a:stretch>
        </p:blipFill>
        <p:spPr>
          <a:xfrm>
            <a:off x="4988966" y="3818534"/>
            <a:ext cx="263347" cy="263347"/>
          </a:xfrm>
          <a:prstGeom prst="rect">
            <a:avLst/>
          </a:prstGeom>
        </p:spPr>
      </p:pic>
      <p:sp>
        <p:nvSpPr>
          <p:cNvPr id="32" name="Text 24"/>
          <p:cNvSpPr txBox="1"/>
          <p:nvPr/>
        </p:nvSpPr>
        <p:spPr>
          <a:xfrm>
            <a:off x="5532120" y="3547872"/>
            <a:ext cx="3017520" cy="320040"/>
          </a:xfrm>
          <a:prstGeom prst="rect">
            <a:avLst/>
          </a:prstGeom>
          <a:noFill/>
          <a:ln/>
        </p:spPr>
        <p:txBody>
          <a:bodyPr wrap="square" lIns="0" tIns="0" rIns="0" bIns="0" rtlCol="0" anchor="t"/>
          <a:lstStyle/>
          <a:p>
            <a:pPr indent="0" marL="0">
              <a:buNone/>
            </a:pPr>
            <a:r>
              <a:rPr lang="en-US" sz="1400" b="1" dirty="0">
                <a:solidFill>
                  <a:srgbClr val="1F2328"/>
                </a:solidFill>
                <a:latin typeface="Calibri" pitchFamily="34" charset="0"/>
                <a:ea typeface="Calibri" pitchFamily="34" charset="-122"/>
                <a:cs typeface="Calibri" pitchFamily="34" charset="-120"/>
              </a:rPr>
              <a:t>Play / Playbook</a:t>
            </a:r>
            <a:endParaRPr lang="en-US" sz="1400" dirty="0"/>
          </a:p>
        </p:txBody>
      </p:sp>
      <p:sp>
        <p:nvSpPr>
          <p:cNvPr id="33" name="Text 25"/>
          <p:cNvSpPr txBox="1"/>
          <p:nvPr/>
        </p:nvSpPr>
        <p:spPr>
          <a:xfrm>
            <a:off x="5532120" y="3858768"/>
            <a:ext cx="3063240" cy="594360"/>
          </a:xfrm>
          <a:prstGeom prst="rect">
            <a:avLst/>
          </a:prstGeom>
          <a:noFill/>
          <a:ln/>
        </p:spPr>
        <p:txBody>
          <a:bodyPr wrap="square" lIns="0" tIns="0" rIns="0" bIns="0" rtlCol="0" anchor="t"/>
          <a:lstStyle/>
          <a:p>
            <a:pPr indent="0" marL="0">
              <a:buNone/>
            </a:pPr>
            <a:r>
              <a:rPr lang="en-US" sz="1150" dirty="0">
                <a:solidFill>
                  <a:srgbClr val="5B6470"/>
                </a:solidFill>
                <a:latin typeface="Calibri" pitchFamily="34" charset="0"/>
                <a:ea typeface="Calibri" pitchFamily="34" charset="-122"/>
                <a:cs typeface="Calibri" pitchFamily="34" charset="-120"/>
              </a:rPr>
              <a:t>A play maps hosts to tasks. A playbook is a YAML file holding one or more plays.</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9AA1AA"/>
                </a:solidFill>
                <a:latin typeface="Calibri" pitchFamily="34" charset="0"/>
                <a:ea typeface="Calibri" pitchFamily="34" charset="-122"/>
                <a:cs typeface="Calibri" pitchFamily="34" charset="-120"/>
              </a:rPr>
              <a:t>17</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Terminologies (2/2) — the power features</a:t>
            </a:r>
            <a:endParaRPr lang="en-US" sz="2800" dirty="0"/>
          </a:p>
        </p:txBody>
      </p:sp>
      <p:sp>
        <p:nvSpPr>
          <p:cNvPr id="4" name="Shape 2"/>
          <p:cNvSpPr/>
          <p:nvPr/>
        </p:nvSpPr>
        <p:spPr>
          <a:xfrm>
            <a:off x="457200" y="1097280"/>
            <a:ext cx="1371600" cy="685800"/>
          </a:xfrm>
          <a:prstGeom prst="roundRect">
            <a:avLst>
              <a:gd name="adj" fmla="val 8000"/>
            </a:avLst>
          </a:prstGeom>
          <a:solidFill>
            <a:srgbClr val="D92D27"/>
          </a:solidFill>
          <a:ln w="12700">
            <a:solidFill>
              <a:srgbClr val="D92D27"/>
            </a:solidFill>
            <a:prstDash val="solid"/>
          </a:ln>
        </p:spPr>
      </p:sp>
      <p:sp>
        <p:nvSpPr>
          <p:cNvPr id="5" name="Text 3"/>
          <p:cNvSpPr txBox="1"/>
          <p:nvPr/>
        </p:nvSpPr>
        <p:spPr>
          <a:xfrm>
            <a:off x="457200" y="1097280"/>
            <a:ext cx="1371600" cy="6858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Variables</a:t>
            </a:r>
            <a:endParaRPr lang="en-US" sz="1250" dirty="0"/>
          </a:p>
        </p:txBody>
      </p:sp>
      <p:sp>
        <p:nvSpPr>
          <p:cNvPr id="6" name="Shape 4"/>
          <p:cNvSpPr/>
          <p:nvPr/>
        </p:nvSpPr>
        <p:spPr>
          <a:xfrm>
            <a:off x="1874520" y="1097280"/>
            <a:ext cx="2606040" cy="685800"/>
          </a:xfrm>
          <a:prstGeom prst="roundRect">
            <a:avLst>
              <a:gd name="adj" fmla="val 10667"/>
            </a:avLst>
          </a:prstGeom>
          <a:solidFill>
            <a:srgbClr val="F2F3F5"/>
          </a:solidFill>
          <a:ln w="12700">
            <a:solidFill>
              <a:srgbClr val="F2F3F5"/>
            </a:solidFill>
            <a:prstDash val="solid"/>
          </a:ln>
        </p:spPr>
      </p:sp>
      <p:sp>
        <p:nvSpPr>
          <p:cNvPr id="7" name="Text 5"/>
          <p:cNvSpPr txBox="1"/>
          <p:nvPr/>
        </p:nvSpPr>
        <p:spPr>
          <a:xfrm>
            <a:off x="2011680" y="1097280"/>
            <a:ext cx="2377440" cy="685800"/>
          </a:xfrm>
          <a:prstGeom prst="rect">
            <a:avLst/>
          </a:prstGeom>
          <a:noFill/>
          <a:ln/>
        </p:spPr>
        <p:txBody>
          <a:bodyPr wrap="square" lIns="0" tIns="0" rIns="0" bIns="0" rtlCol="0" anchor="ctr"/>
          <a:lstStyle/>
          <a:p>
            <a:pPr indent="0" marL="0">
              <a:buNone/>
            </a:pPr>
            <a:r>
              <a:rPr lang="en-US" sz="1100" dirty="0">
                <a:solidFill>
                  <a:srgbClr val="1F2328"/>
                </a:solidFill>
                <a:latin typeface="Calibri" pitchFamily="34" charset="0"/>
                <a:ea typeface="Calibri" pitchFamily="34" charset="-122"/>
                <a:cs typeface="Calibri" pitchFamily="34" charset="-120"/>
              </a:rPr>
              <a:t>Values that change per host/group/environment: http_port: 80</a:t>
            </a:r>
            <a:endParaRPr lang="en-US" sz="1100" dirty="0"/>
          </a:p>
        </p:txBody>
      </p:sp>
      <p:sp>
        <p:nvSpPr>
          <p:cNvPr id="8" name="Shape 6"/>
          <p:cNvSpPr/>
          <p:nvPr/>
        </p:nvSpPr>
        <p:spPr>
          <a:xfrm>
            <a:off x="4663440" y="1097280"/>
            <a:ext cx="1371600" cy="685800"/>
          </a:xfrm>
          <a:prstGeom prst="roundRect">
            <a:avLst>
              <a:gd name="adj" fmla="val 8000"/>
            </a:avLst>
          </a:prstGeom>
          <a:solidFill>
            <a:srgbClr val="D92D27"/>
          </a:solidFill>
          <a:ln w="12700">
            <a:solidFill>
              <a:srgbClr val="D92D27"/>
            </a:solidFill>
            <a:prstDash val="solid"/>
          </a:ln>
        </p:spPr>
      </p:sp>
      <p:sp>
        <p:nvSpPr>
          <p:cNvPr id="9" name="Text 7"/>
          <p:cNvSpPr txBox="1"/>
          <p:nvPr/>
        </p:nvSpPr>
        <p:spPr>
          <a:xfrm>
            <a:off x="4663440" y="1097280"/>
            <a:ext cx="1371600" cy="6858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Facts</a:t>
            </a:r>
            <a:endParaRPr lang="en-US" sz="1250" dirty="0"/>
          </a:p>
        </p:txBody>
      </p:sp>
      <p:sp>
        <p:nvSpPr>
          <p:cNvPr id="10" name="Shape 8"/>
          <p:cNvSpPr/>
          <p:nvPr/>
        </p:nvSpPr>
        <p:spPr>
          <a:xfrm>
            <a:off x="6080760" y="1097280"/>
            <a:ext cx="2606040" cy="685800"/>
          </a:xfrm>
          <a:prstGeom prst="roundRect">
            <a:avLst>
              <a:gd name="adj" fmla="val 10667"/>
            </a:avLst>
          </a:prstGeom>
          <a:solidFill>
            <a:srgbClr val="F2F3F5"/>
          </a:solidFill>
          <a:ln w="12700">
            <a:solidFill>
              <a:srgbClr val="F2F3F5"/>
            </a:solidFill>
            <a:prstDash val="solid"/>
          </a:ln>
        </p:spPr>
      </p:sp>
      <p:sp>
        <p:nvSpPr>
          <p:cNvPr id="11" name="Text 9"/>
          <p:cNvSpPr txBox="1"/>
          <p:nvPr/>
        </p:nvSpPr>
        <p:spPr>
          <a:xfrm>
            <a:off x="6217920" y="1097280"/>
            <a:ext cx="2377440" cy="685800"/>
          </a:xfrm>
          <a:prstGeom prst="rect">
            <a:avLst/>
          </a:prstGeom>
          <a:noFill/>
          <a:ln/>
        </p:spPr>
        <p:txBody>
          <a:bodyPr wrap="square" lIns="0" tIns="0" rIns="0" bIns="0" rtlCol="0" anchor="ctr"/>
          <a:lstStyle/>
          <a:p>
            <a:pPr indent="0" marL="0">
              <a:buNone/>
            </a:pPr>
            <a:r>
              <a:rPr lang="en-US" sz="1100" dirty="0">
                <a:solidFill>
                  <a:srgbClr val="1F2328"/>
                </a:solidFill>
                <a:latin typeface="Calibri" pitchFamily="34" charset="0"/>
                <a:ea typeface="Calibri" pitchFamily="34" charset="-122"/>
                <a:cs typeface="Calibri" pitchFamily="34" charset="-120"/>
              </a:rPr>
              <a:t>Info Ansible discovers about a host (OS, IP, RAM) via the setup module</a:t>
            </a:r>
            <a:endParaRPr lang="en-US" sz="1100" dirty="0"/>
          </a:p>
        </p:txBody>
      </p:sp>
      <p:sp>
        <p:nvSpPr>
          <p:cNvPr id="12" name="Shape 10"/>
          <p:cNvSpPr/>
          <p:nvPr/>
        </p:nvSpPr>
        <p:spPr>
          <a:xfrm>
            <a:off x="457200" y="1965960"/>
            <a:ext cx="1371600" cy="685800"/>
          </a:xfrm>
          <a:prstGeom prst="roundRect">
            <a:avLst>
              <a:gd name="adj" fmla="val 8000"/>
            </a:avLst>
          </a:prstGeom>
          <a:solidFill>
            <a:srgbClr val="D92D27"/>
          </a:solidFill>
          <a:ln w="12700">
            <a:solidFill>
              <a:srgbClr val="D92D27"/>
            </a:solidFill>
            <a:prstDash val="solid"/>
          </a:ln>
        </p:spPr>
      </p:sp>
      <p:sp>
        <p:nvSpPr>
          <p:cNvPr id="13" name="Text 11"/>
          <p:cNvSpPr txBox="1"/>
          <p:nvPr/>
        </p:nvSpPr>
        <p:spPr>
          <a:xfrm>
            <a:off x="457200" y="1965960"/>
            <a:ext cx="1371600" cy="6858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Handlers</a:t>
            </a:r>
            <a:endParaRPr lang="en-US" sz="1250" dirty="0"/>
          </a:p>
        </p:txBody>
      </p:sp>
      <p:sp>
        <p:nvSpPr>
          <p:cNvPr id="14" name="Shape 12"/>
          <p:cNvSpPr/>
          <p:nvPr/>
        </p:nvSpPr>
        <p:spPr>
          <a:xfrm>
            <a:off x="1874520" y="1965960"/>
            <a:ext cx="2606040" cy="685800"/>
          </a:xfrm>
          <a:prstGeom prst="roundRect">
            <a:avLst>
              <a:gd name="adj" fmla="val 10667"/>
            </a:avLst>
          </a:prstGeom>
          <a:solidFill>
            <a:srgbClr val="F2F3F5"/>
          </a:solidFill>
          <a:ln w="12700">
            <a:solidFill>
              <a:srgbClr val="F2F3F5"/>
            </a:solidFill>
            <a:prstDash val="solid"/>
          </a:ln>
        </p:spPr>
      </p:sp>
      <p:sp>
        <p:nvSpPr>
          <p:cNvPr id="15" name="Text 13"/>
          <p:cNvSpPr txBox="1"/>
          <p:nvPr/>
        </p:nvSpPr>
        <p:spPr>
          <a:xfrm>
            <a:off x="2011680" y="1965960"/>
            <a:ext cx="2377440" cy="685800"/>
          </a:xfrm>
          <a:prstGeom prst="rect">
            <a:avLst/>
          </a:prstGeom>
          <a:noFill/>
          <a:ln/>
        </p:spPr>
        <p:txBody>
          <a:bodyPr wrap="square" lIns="0" tIns="0" rIns="0" bIns="0" rtlCol="0" anchor="ctr"/>
          <a:lstStyle/>
          <a:p>
            <a:pPr indent="0" marL="0">
              <a:buNone/>
            </a:pPr>
            <a:r>
              <a:rPr lang="en-US" sz="1100" dirty="0">
                <a:solidFill>
                  <a:srgbClr val="1F2328"/>
                </a:solidFill>
                <a:latin typeface="Calibri" pitchFamily="34" charset="0"/>
                <a:ea typeface="Calibri" pitchFamily="34" charset="-122"/>
                <a:cs typeface="Calibri" pitchFamily="34" charset="-120"/>
              </a:rPr>
              <a:t>Tasks that run only when notified by a change — e.g. restart nginx</a:t>
            </a:r>
            <a:endParaRPr lang="en-US" sz="1100" dirty="0"/>
          </a:p>
        </p:txBody>
      </p:sp>
      <p:sp>
        <p:nvSpPr>
          <p:cNvPr id="16" name="Shape 14"/>
          <p:cNvSpPr/>
          <p:nvPr/>
        </p:nvSpPr>
        <p:spPr>
          <a:xfrm>
            <a:off x="4663440" y="1965960"/>
            <a:ext cx="1371600" cy="685800"/>
          </a:xfrm>
          <a:prstGeom prst="roundRect">
            <a:avLst>
              <a:gd name="adj" fmla="val 8000"/>
            </a:avLst>
          </a:prstGeom>
          <a:solidFill>
            <a:srgbClr val="D92D27"/>
          </a:solidFill>
          <a:ln w="12700">
            <a:solidFill>
              <a:srgbClr val="D92D27"/>
            </a:solidFill>
            <a:prstDash val="solid"/>
          </a:ln>
        </p:spPr>
      </p:sp>
      <p:sp>
        <p:nvSpPr>
          <p:cNvPr id="17" name="Text 15"/>
          <p:cNvSpPr txBox="1"/>
          <p:nvPr/>
        </p:nvSpPr>
        <p:spPr>
          <a:xfrm>
            <a:off x="4663440" y="1965960"/>
            <a:ext cx="1371600" cy="6858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Templates</a:t>
            </a:r>
            <a:endParaRPr lang="en-US" sz="1250" dirty="0"/>
          </a:p>
        </p:txBody>
      </p:sp>
      <p:sp>
        <p:nvSpPr>
          <p:cNvPr id="18" name="Shape 16"/>
          <p:cNvSpPr/>
          <p:nvPr/>
        </p:nvSpPr>
        <p:spPr>
          <a:xfrm>
            <a:off x="6080760" y="1965960"/>
            <a:ext cx="2606040" cy="685800"/>
          </a:xfrm>
          <a:prstGeom prst="roundRect">
            <a:avLst>
              <a:gd name="adj" fmla="val 10667"/>
            </a:avLst>
          </a:prstGeom>
          <a:solidFill>
            <a:srgbClr val="F2F3F5"/>
          </a:solidFill>
          <a:ln w="12700">
            <a:solidFill>
              <a:srgbClr val="F2F3F5"/>
            </a:solidFill>
            <a:prstDash val="solid"/>
          </a:ln>
        </p:spPr>
      </p:sp>
      <p:sp>
        <p:nvSpPr>
          <p:cNvPr id="19" name="Text 17"/>
          <p:cNvSpPr txBox="1"/>
          <p:nvPr/>
        </p:nvSpPr>
        <p:spPr>
          <a:xfrm>
            <a:off x="6217920" y="1965960"/>
            <a:ext cx="2377440" cy="685800"/>
          </a:xfrm>
          <a:prstGeom prst="rect">
            <a:avLst/>
          </a:prstGeom>
          <a:noFill/>
          <a:ln/>
        </p:spPr>
        <p:txBody>
          <a:bodyPr wrap="square" lIns="0" tIns="0" rIns="0" bIns="0" rtlCol="0" anchor="ctr"/>
          <a:lstStyle/>
          <a:p>
            <a:pPr indent="0" marL="0">
              <a:buNone/>
            </a:pPr>
            <a:r>
              <a:rPr lang="en-US" sz="1100" dirty="0">
                <a:solidFill>
                  <a:srgbClr val="1F2328"/>
                </a:solidFill>
                <a:latin typeface="Calibri" pitchFamily="34" charset="0"/>
                <a:ea typeface="Calibri" pitchFamily="34" charset="-122"/>
                <a:cs typeface="Calibri" pitchFamily="34" charset="-120"/>
              </a:rPr>
              <a:t>Jinja2 files (.j2) rendered with variables into real config files</a:t>
            </a:r>
            <a:endParaRPr lang="en-US" sz="1100" dirty="0"/>
          </a:p>
        </p:txBody>
      </p:sp>
      <p:sp>
        <p:nvSpPr>
          <p:cNvPr id="20" name="Shape 18"/>
          <p:cNvSpPr/>
          <p:nvPr/>
        </p:nvSpPr>
        <p:spPr>
          <a:xfrm>
            <a:off x="457200" y="2834640"/>
            <a:ext cx="1371600" cy="685800"/>
          </a:xfrm>
          <a:prstGeom prst="roundRect">
            <a:avLst>
              <a:gd name="adj" fmla="val 8000"/>
            </a:avLst>
          </a:prstGeom>
          <a:solidFill>
            <a:srgbClr val="D92D27"/>
          </a:solidFill>
          <a:ln w="12700">
            <a:solidFill>
              <a:srgbClr val="D92D27"/>
            </a:solidFill>
            <a:prstDash val="solid"/>
          </a:ln>
        </p:spPr>
      </p:sp>
      <p:sp>
        <p:nvSpPr>
          <p:cNvPr id="21" name="Text 19"/>
          <p:cNvSpPr txBox="1"/>
          <p:nvPr/>
        </p:nvSpPr>
        <p:spPr>
          <a:xfrm>
            <a:off x="457200" y="2834640"/>
            <a:ext cx="1371600" cy="6858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Roles</a:t>
            </a:r>
            <a:endParaRPr lang="en-US" sz="1250" dirty="0"/>
          </a:p>
        </p:txBody>
      </p:sp>
      <p:sp>
        <p:nvSpPr>
          <p:cNvPr id="22" name="Shape 20"/>
          <p:cNvSpPr/>
          <p:nvPr/>
        </p:nvSpPr>
        <p:spPr>
          <a:xfrm>
            <a:off x="1874520" y="2834640"/>
            <a:ext cx="2606040" cy="685800"/>
          </a:xfrm>
          <a:prstGeom prst="roundRect">
            <a:avLst>
              <a:gd name="adj" fmla="val 10667"/>
            </a:avLst>
          </a:prstGeom>
          <a:solidFill>
            <a:srgbClr val="F2F3F5"/>
          </a:solidFill>
          <a:ln w="12700">
            <a:solidFill>
              <a:srgbClr val="F2F3F5"/>
            </a:solidFill>
            <a:prstDash val="solid"/>
          </a:ln>
        </p:spPr>
      </p:sp>
      <p:sp>
        <p:nvSpPr>
          <p:cNvPr id="23" name="Text 21"/>
          <p:cNvSpPr txBox="1"/>
          <p:nvPr/>
        </p:nvSpPr>
        <p:spPr>
          <a:xfrm>
            <a:off x="2011680" y="2834640"/>
            <a:ext cx="2377440" cy="685800"/>
          </a:xfrm>
          <a:prstGeom prst="rect">
            <a:avLst/>
          </a:prstGeom>
          <a:noFill/>
          <a:ln/>
        </p:spPr>
        <p:txBody>
          <a:bodyPr wrap="square" lIns="0" tIns="0" rIns="0" bIns="0" rtlCol="0" anchor="ctr"/>
          <a:lstStyle/>
          <a:p>
            <a:pPr indent="0" marL="0">
              <a:buNone/>
            </a:pPr>
            <a:r>
              <a:rPr lang="en-US" sz="1100" dirty="0">
                <a:solidFill>
                  <a:srgbClr val="1F2328"/>
                </a:solidFill>
                <a:latin typeface="Calibri" pitchFamily="34" charset="0"/>
                <a:ea typeface="Calibri" pitchFamily="34" charset="-122"/>
                <a:cs typeface="Calibri" pitchFamily="34" charset="-120"/>
              </a:rPr>
              <a:t>Standard folder layout to package tasks, handlers, templates, vars for reuse</a:t>
            </a:r>
            <a:endParaRPr lang="en-US" sz="1100" dirty="0"/>
          </a:p>
        </p:txBody>
      </p:sp>
      <p:sp>
        <p:nvSpPr>
          <p:cNvPr id="24" name="Shape 22"/>
          <p:cNvSpPr/>
          <p:nvPr/>
        </p:nvSpPr>
        <p:spPr>
          <a:xfrm>
            <a:off x="4663440" y="2834640"/>
            <a:ext cx="1371600" cy="685800"/>
          </a:xfrm>
          <a:prstGeom prst="roundRect">
            <a:avLst>
              <a:gd name="adj" fmla="val 8000"/>
            </a:avLst>
          </a:prstGeom>
          <a:solidFill>
            <a:srgbClr val="D92D27"/>
          </a:solidFill>
          <a:ln w="12700">
            <a:solidFill>
              <a:srgbClr val="D92D27"/>
            </a:solidFill>
            <a:prstDash val="solid"/>
          </a:ln>
        </p:spPr>
      </p:sp>
      <p:sp>
        <p:nvSpPr>
          <p:cNvPr id="25" name="Text 23"/>
          <p:cNvSpPr txBox="1"/>
          <p:nvPr/>
        </p:nvSpPr>
        <p:spPr>
          <a:xfrm>
            <a:off x="4663440" y="2834640"/>
            <a:ext cx="1371600" cy="6858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Collections</a:t>
            </a:r>
            <a:endParaRPr lang="en-US" sz="1250" dirty="0"/>
          </a:p>
        </p:txBody>
      </p:sp>
      <p:sp>
        <p:nvSpPr>
          <p:cNvPr id="26" name="Shape 24"/>
          <p:cNvSpPr/>
          <p:nvPr/>
        </p:nvSpPr>
        <p:spPr>
          <a:xfrm>
            <a:off x="6080760" y="2834640"/>
            <a:ext cx="2606040" cy="685800"/>
          </a:xfrm>
          <a:prstGeom prst="roundRect">
            <a:avLst>
              <a:gd name="adj" fmla="val 10667"/>
            </a:avLst>
          </a:prstGeom>
          <a:solidFill>
            <a:srgbClr val="F2F3F5"/>
          </a:solidFill>
          <a:ln w="12700">
            <a:solidFill>
              <a:srgbClr val="F2F3F5"/>
            </a:solidFill>
            <a:prstDash val="solid"/>
          </a:ln>
        </p:spPr>
      </p:sp>
      <p:sp>
        <p:nvSpPr>
          <p:cNvPr id="27" name="Text 25"/>
          <p:cNvSpPr txBox="1"/>
          <p:nvPr/>
        </p:nvSpPr>
        <p:spPr>
          <a:xfrm>
            <a:off x="6217920" y="2834640"/>
            <a:ext cx="2377440" cy="685800"/>
          </a:xfrm>
          <a:prstGeom prst="rect">
            <a:avLst/>
          </a:prstGeom>
          <a:noFill/>
          <a:ln/>
        </p:spPr>
        <p:txBody>
          <a:bodyPr wrap="square" lIns="0" tIns="0" rIns="0" bIns="0" rtlCol="0" anchor="ctr"/>
          <a:lstStyle/>
          <a:p>
            <a:pPr indent="0" marL="0">
              <a:buNone/>
            </a:pPr>
            <a:r>
              <a:rPr lang="en-US" sz="1100" dirty="0">
                <a:solidFill>
                  <a:srgbClr val="1F2328"/>
                </a:solidFill>
                <a:latin typeface="Calibri" pitchFamily="34" charset="0"/>
                <a:ea typeface="Calibri" pitchFamily="34" charset="-122"/>
                <a:cs typeface="Calibri" pitchFamily="34" charset="-120"/>
              </a:rPr>
              <a:t>Distribution format bundling modules, roles &amp; plugins: ansible.posix</a:t>
            </a:r>
            <a:endParaRPr lang="en-US" sz="1100" dirty="0"/>
          </a:p>
        </p:txBody>
      </p:sp>
      <p:sp>
        <p:nvSpPr>
          <p:cNvPr id="28" name="Shape 26"/>
          <p:cNvSpPr/>
          <p:nvPr/>
        </p:nvSpPr>
        <p:spPr>
          <a:xfrm>
            <a:off x="457200" y="3703320"/>
            <a:ext cx="1371600" cy="685800"/>
          </a:xfrm>
          <a:prstGeom prst="roundRect">
            <a:avLst>
              <a:gd name="adj" fmla="val 8000"/>
            </a:avLst>
          </a:prstGeom>
          <a:solidFill>
            <a:srgbClr val="D92D27"/>
          </a:solidFill>
          <a:ln w="12700">
            <a:solidFill>
              <a:srgbClr val="D92D27"/>
            </a:solidFill>
            <a:prstDash val="solid"/>
          </a:ln>
        </p:spPr>
      </p:sp>
      <p:sp>
        <p:nvSpPr>
          <p:cNvPr id="29" name="Text 27"/>
          <p:cNvSpPr txBox="1"/>
          <p:nvPr/>
        </p:nvSpPr>
        <p:spPr>
          <a:xfrm>
            <a:off x="457200" y="3703320"/>
            <a:ext cx="1371600" cy="6858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Ansible Galaxy</a:t>
            </a:r>
            <a:endParaRPr lang="en-US" sz="1250" dirty="0"/>
          </a:p>
        </p:txBody>
      </p:sp>
      <p:sp>
        <p:nvSpPr>
          <p:cNvPr id="30" name="Shape 28"/>
          <p:cNvSpPr/>
          <p:nvPr/>
        </p:nvSpPr>
        <p:spPr>
          <a:xfrm>
            <a:off x="1874520" y="3703320"/>
            <a:ext cx="2606040" cy="685800"/>
          </a:xfrm>
          <a:prstGeom prst="roundRect">
            <a:avLst>
              <a:gd name="adj" fmla="val 10667"/>
            </a:avLst>
          </a:prstGeom>
          <a:solidFill>
            <a:srgbClr val="F2F3F5"/>
          </a:solidFill>
          <a:ln w="12700">
            <a:solidFill>
              <a:srgbClr val="F2F3F5"/>
            </a:solidFill>
            <a:prstDash val="solid"/>
          </a:ln>
        </p:spPr>
      </p:sp>
      <p:sp>
        <p:nvSpPr>
          <p:cNvPr id="31" name="Text 29"/>
          <p:cNvSpPr txBox="1"/>
          <p:nvPr/>
        </p:nvSpPr>
        <p:spPr>
          <a:xfrm>
            <a:off x="2011680" y="3703320"/>
            <a:ext cx="2377440" cy="685800"/>
          </a:xfrm>
          <a:prstGeom prst="rect">
            <a:avLst/>
          </a:prstGeom>
          <a:noFill/>
          <a:ln/>
        </p:spPr>
        <p:txBody>
          <a:bodyPr wrap="square" lIns="0" tIns="0" rIns="0" bIns="0" rtlCol="0" anchor="ctr"/>
          <a:lstStyle/>
          <a:p>
            <a:pPr indent="0" marL="0">
              <a:buNone/>
            </a:pPr>
            <a:r>
              <a:rPr lang="en-US" sz="1100" dirty="0">
                <a:solidFill>
                  <a:srgbClr val="1F2328"/>
                </a:solidFill>
                <a:latin typeface="Calibri" pitchFamily="34" charset="0"/>
                <a:ea typeface="Calibri" pitchFamily="34" charset="-122"/>
                <a:cs typeface="Calibri" pitchFamily="34" charset="-120"/>
              </a:rPr>
              <a:t>Public hub to find and share roles and collections</a:t>
            </a:r>
            <a:endParaRPr lang="en-US" sz="1100" dirty="0"/>
          </a:p>
        </p:txBody>
      </p:sp>
      <p:sp>
        <p:nvSpPr>
          <p:cNvPr id="32" name="Shape 30"/>
          <p:cNvSpPr/>
          <p:nvPr/>
        </p:nvSpPr>
        <p:spPr>
          <a:xfrm>
            <a:off x="4663440" y="3703320"/>
            <a:ext cx="1371600" cy="685800"/>
          </a:xfrm>
          <a:prstGeom prst="roundRect">
            <a:avLst>
              <a:gd name="adj" fmla="val 8000"/>
            </a:avLst>
          </a:prstGeom>
          <a:solidFill>
            <a:srgbClr val="D92D27"/>
          </a:solidFill>
          <a:ln w="12700">
            <a:solidFill>
              <a:srgbClr val="D92D27"/>
            </a:solidFill>
            <a:prstDash val="solid"/>
          </a:ln>
        </p:spPr>
      </p:sp>
      <p:sp>
        <p:nvSpPr>
          <p:cNvPr id="33" name="Text 31"/>
          <p:cNvSpPr txBox="1"/>
          <p:nvPr/>
        </p:nvSpPr>
        <p:spPr>
          <a:xfrm>
            <a:off x="4663440" y="3703320"/>
            <a:ext cx="1371600" cy="6858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Vault</a:t>
            </a:r>
            <a:endParaRPr lang="en-US" sz="1250" dirty="0"/>
          </a:p>
        </p:txBody>
      </p:sp>
      <p:sp>
        <p:nvSpPr>
          <p:cNvPr id="34" name="Shape 32"/>
          <p:cNvSpPr/>
          <p:nvPr/>
        </p:nvSpPr>
        <p:spPr>
          <a:xfrm>
            <a:off x="6080760" y="3703320"/>
            <a:ext cx="2606040" cy="685800"/>
          </a:xfrm>
          <a:prstGeom prst="roundRect">
            <a:avLst>
              <a:gd name="adj" fmla="val 10667"/>
            </a:avLst>
          </a:prstGeom>
          <a:solidFill>
            <a:srgbClr val="F2F3F5"/>
          </a:solidFill>
          <a:ln w="12700">
            <a:solidFill>
              <a:srgbClr val="F2F3F5"/>
            </a:solidFill>
            <a:prstDash val="solid"/>
          </a:ln>
        </p:spPr>
      </p:sp>
      <p:sp>
        <p:nvSpPr>
          <p:cNvPr id="35" name="Text 33"/>
          <p:cNvSpPr txBox="1"/>
          <p:nvPr/>
        </p:nvSpPr>
        <p:spPr>
          <a:xfrm>
            <a:off x="6217920" y="3703320"/>
            <a:ext cx="2377440" cy="685800"/>
          </a:xfrm>
          <a:prstGeom prst="rect">
            <a:avLst/>
          </a:prstGeom>
          <a:noFill/>
          <a:ln/>
        </p:spPr>
        <p:txBody>
          <a:bodyPr wrap="square" lIns="0" tIns="0" rIns="0" bIns="0" rtlCol="0" anchor="ctr"/>
          <a:lstStyle/>
          <a:p>
            <a:pPr indent="0" marL="0">
              <a:buNone/>
            </a:pPr>
            <a:r>
              <a:rPr lang="en-US" sz="1100" dirty="0">
                <a:solidFill>
                  <a:srgbClr val="1F2328"/>
                </a:solidFill>
                <a:latin typeface="Calibri" pitchFamily="34" charset="0"/>
                <a:ea typeface="Calibri" pitchFamily="34" charset="-122"/>
                <a:cs typeface="Calibri" pitchFamily="34" charset="-120"/>
              </a:rPr>
              <a:t>Built-in encryption for passwords, keys and other secrets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9AA1AA"/>
                </a:solidFill>
                <a:latin typeface="Calibri" pitchFamily="34" charset="0"/>
                <a:ea typeface="Calibri" pitchFamily="34" charset="-122"/>
                <a:cs typeface="Calibri" pitchFamily="34" charset="-120"/>
              </a:rPr>
              <a:t>18</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Inventory — telling Ansible which hosts exist</a:t>
            </a:r>
            <a:endParaRPr lang="en-US" sz="28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B6470"/>
                </a:solidFill>
                <a:latin typeface="Calibri" pitchFamily="34" charset="0"/>
                <a:ea typeface="Calibri" pitchFamily="34" charset="-122"/>
                <a:cs typeface="Calibri" pitchFamily="34" charset="-120"/>
              </a:rPr>
              <a:t>Same lab inventory in two formats</a:t>
            </a:r>
            <a:endParaRPr lang="en-US" sz="1300" dirty="0"/>
          </a:p>
        </p:txBody>
      </p:sp>
      <p:sp>
        <p:nvSpPr>
          <p:cNvPr id="5" name="Text 3"/>
          <p:cNvSpPr txBox="1"/>
          <p:nvPr/>
        </p:nvSpPr>
        <p:spPr>
          <a:xfrm>
            <a:off x="457200" y="1188720"/>
            <a:ext cx="3931920" cy="274320"/>
          </a:xfrm>
          <a:prstGeom prst="rect">
            <a:avLst/>
          </a:prstGeom>
          <a:noFill/>
          <a:ln/>
        </p:spPr>
        <p:txBody>
          <a:bodyPr wrap="square" lIns="0" tIns="0" rIns="0" bIns="0" rtlCol="0" anchor="t"/>
          <a:lstStyle/>
          <a:p>
            <a:pPr indent="0" marL="0">
              <a:buNone/>
            </a:pPr>
            <a:r>
              <a:rPr lang="en-US" sz="1200" b="1" dirty="0">
                <a:solidFill>
                  <a:srgbClr val="5B6470"/>
                </a:solidFill>
                <a:latin typeface="Calibri" pitchFamily="34" charset="0"/>
                <a:ea typeface="Calibri" pitchFamily="34" charset="-122"/>
                <a:cs typeface="Calibri" pitchFamily="34" charset="-120"/>
              </a:rPr>
              <a:t>INI  ·  inventory/wsl.ini</a:t>
            </a:r>
            <a:endParaRPr lang="en-US" sz="1200" dirty="0"/>
          </a:p>
        </p:txBody>
      </p:sp>
      <p:sp>
        <p:nvSpPr>
          <p:cNvPr id="6" name="Shape 4"/>
          <p:cNvSpPr/>
          <p:nvPr/>
        </p:nvSpPr>
        <p:spPr>
          <a:xfrm>
            <a:off x="457200" y="1508760"/>
            <a:ext cx="4023360" cy="2194560"/>
          </a:xfrm>
          <a:prstGeom prst="roundRect">
            <a:avLst>
              <a:gd name="adj" fmla="val 2500"/>
            </a:avLst>
          </a:prstGeom>
          <a:solidFill>
            <a:srgbClr val="1E2229"/>
          </a:solidFill>
          <a:ln w="12700">
            <a:solidFill>
              <a:srgbClr val="1E2229"/>
            </a:solidFill>
            <a:prstDash val="solid"/>
          </a:ln>
        </p:spPr>
      </p:sp>
      <p:sp>
        <p:nvSpPr>
          <p:cNvPr id="7" name="Text 5"/>
          <p:cNvSpPr txBox="1"/>
          <p:nvPr/>
        </p:nvSpPr>
        <p:spPr>
          <a:xfrm>
            <a:off x="594360" y="1618488"/>
            <a:ext cx="3749040" cy="1975104"/>
          </a:xfrm>
          <a:prstGeom prst="rect">
            <a:avLst/>
          </a:prstGeom>
          <a:noFill/>
          <a:ln/>
        </p:spPr>
        <p:txBody>
          <a:bodyPr wrap="square" lIns="0" tIns="0" rIns="0" bIns="0" rtlCol="0" anchor="t"/>
          <a:lstStyle/>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[webservers]</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web1 ansible_host=127.0.0.1 ansible_port=2221</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web2 ansible_host=127.0.0.1 ansible_port=2222</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[dbservers]</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db1  ansible_host=127.0.0.1 ansible_port=2223</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[lab:children]     </a:t>
            </a:r>
            <a:pPr indent="0" marL="0">
              <a:lnSpc>
                <a:spcPct val="100000"/>
              </a:lnSpc>
              <a:buNone/>
            </a:pPr>
            <a:r>
              <a:rPr lang="en-US" sz="950" dirty="0">
                <a:solidFill>
                  <a:srgbClr val="8B949E"/>
                </a:solidFill>
                <a:latin typeface="Courier New" pitchFamily="34" charset="0"/>
                <a:ea typeface="Courier New" pitchFamily="34" charset="-122"/>
                <a:cs typeface="Courier New" pitchFamily="34" charset="-120"/>
              </a:rPr>
              <a:t># group of groups</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webservers</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dbservers</a:t>
            </a:r>
            <a:endParaRPr lang="en-US" sz="950" dirty="0"/>
          </a:p>
        </p:txBody>
      </p:sp>
      <p:sp>
        <p:nvSpPr>
          <p:cNvPr id="8" name="Text 6"/>
          <p:cNvSpPr txBox="1"/>
          <p:nvPr/>
        </p:nvSpPr>
        <p:spPr>
          <a:xfrm>
            <a:off x="4663440" y="1188720"/>
            <a:ext cx="3931920" cy="274320"/>
          </a:xfrm>
          <a:prstGeom prst="rect">
            <a:avLst/>
          </a:prstGeom>
          <a:noFill/>
          <a:ln/>
        </p:spPr>
        <p:txBody>
          <a:bodyPr wrap="square" lIns="0" tIns="0" rIns="0" bIns="0" rtlCol="0" anchor="t"/>
          <a:lstStyle/>
          <a:p>
            <a:pPr indent="0" marL="0">
              <a:buNone/>
            </a:pPr>
            <a:r>
              <a:rPr lang="en-US" sz="1200" b="1" dirty="0">
                <a:solidFill>
                  <a:srgbClr val="5B6470"/>
                </a:solidFill>
                <a:latin typeface="Calibri" pitchFamily="34" charset="0"/>
                <a:ea typeface="Calibri" pitchFamily="34" charset="-122"/>
                <a:cs typeface="Calibri" pitchFamily="34" charset="-120"/>
              </a:rPr>
              <a:t>YAML  ·  inventory/lab.yml</a:t>
            </a:r>
            <a:endParaRPr lang="en-US" sz="1200" dirty="0"/>
          </a:p>
        </p:txBody>
      </p:sp>
      <p:sp>
        <p:nvSpPr>
          <p:cNvPr id="9" name="Shape 7"/>
          <p:cNvSpPr/>
          <p:nvPr/>
        </p:nvSpPr>
        <p:spPr>
          <a:xfrm>
            <a:off x="4663440" y="1508760"/>
            <a:ext cx="4023360" cy="2194560"/>
          </a:xfrm>
          <a:prstGeom prst="roundRect">
            <a:avLst>
              <a:gd name="adj" fmla="val 2500"/>
            </a:avLst>
          </a:prstGeom>
          <a:solidFill>
            <a:srgbClr val="1E2229"/>
          </a:solidFill>
          <a:ln w="12700">
            <a:solidFill>
              <a:srgbClr val="1E2229"/>
            </a:solidFill>
            <a:prstDash val="solid"/>
          </a:ln>
        </p:spPr>
      </p:sp>
      <p:sp>
        <p:nvSpPr>
          <p:cNvPr id="10" name="Text 8"/>
          <p:cNvSpPr txBox="1"/>
          <p:nvPr/>
        </p:nvSpPr>
        <p:spPr>
          <a:xfrm>
            <a:off x="4800600" y="1618488"/>
            <a:ext cx="3749040" cy="1975104"/>
          </a:xfrm>
          <a:prstGeom prst="rect">
            <a:avLst/>
          </a:prstGeom>
          <a:noFill/>
          <a:ln/>
        </p:spPr>
        <p:txBody>
          <a:bodyPr wrap="square" lIns="0" tIns="0" rIns="0" bIns="0" rtlCol="0" anchor="t"/>
          <a:lstStyle/>
          <a:p>
            <a:pPr indent="0" marL="0">
              <a:lnSpc>
                <a:spcPct val="100000"/>
              </a:lnSpc>
              <a:buNone/>
            </a:pP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all:</a:t>
            </a:r>
            <a:pPr indent="0" marL="0">
              <a:lnSpc>
                <a:spcPct val="100000"/>
              </a:lnSpc>
              <a:buNone/>
            </a:pP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children:</a:t>
            </a:r>
            <a:pPr indent="0" marL="0">
              <a:lnSpc>
                <a:spcPct val="100000"/>
              </a:lnSpc>
              <a:buNone/>
            </a:pP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lab:</a:t>
            </a:r>
            <a:pPr indent="0" marL="0">
              <a:lnSpc>
                <a:spcPct val="100000"/>
              </a:lnSpc>
              <a:buNone/>
            </a:pP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children:</a:t>
            </a:r>
            <a:pPr indent="0" marL="0">
              <a:lnSpc>
                <a:spcPct val="100000"/>
              </a:lnSpc>
              <a:buNone/>
            </a:pP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webservers:</a:t>
            </a:r>
            <a:pPr indent="0" marL="0">
              <a:lnSpc>
                <a:spcPct val="100000"/>
              </a:lnSpc>
              <a:buNone/>
            </a:pP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hosts:</a:t>
            </a:r>
            <a:pPr indent="0" marL="0">
              <a:lnSpc>
                <a:spcPct val="100000"/>
              </a:lnSpc>
              <a:buNone/>
            </a:pP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web1:</a:t>
            </a:r>
            <a:pPr indent="0" marL="0">
              <a:lnSpc>
                <a:spcPct val="100000"/>
              </a:lnSpc>
              <a:buNone/>
            </a:pP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web2:</a:t>
            </a:r>
            <a:pPr indent="0" marL="0">
              <a:lnSpc>
                <a:spcPct val="100000"/>
              </a:lnSpc>
              <a:buNone/>
            </a:pP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dbservers:</a:t>
            </a:r>
            <a:pPr indent="0" marL="0">
              <a:lnSpc>
                <a:spcPct val="100000"/>
              </a:lnSpc>
              <a:buNone/>
            </a:pP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hosts:</a:t>
            </a:r>
            <a:pPr indent="0" marL="0">
              <a:lnSpc>
                <a:spcPct val="100000"/>
              </a:lnSpc>
              <a:buNone/>
            </a:pP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db1:</a:t>
            </a:r>
            <a:pPr indent="0" marL="0">
              <a:lnSpc>
                <a:spcPct val="100000"/>
              </a:lnSpc>
              <a:buNone/>
            </a:pPr>
            <a:endParaRPr lang="en-US" sz="950" dirty="0"/>
          </a:p>
        </p:txBody>
      </p:sp>
      <p:sp>
        <p:nvSpPr>
          <p:cNvPr id="11" name="Shape 9"/>
          <p:cNvSpPr/>
          <p:nvPr/>
        </p:nvSpPr>
        <p:spPr>
          <a:xfrm>
            <a:off x="457200" y="3886200"/>
            <a:ext cx="8229600" cy="731520"/>
          </a:xfrm>
          <a:prstGeom prst="roundRect">
            <a:avLst>
              <a:gd name="adj" fmla="val 10000"/>
            </a:avLst>
          </a:prstGeom>
          <a:solidFill>
            <a:srgbClr val="F2F3F5"/>
          </a:solidFill>
          <a:ln w="12700">
            <a:solidFill>
              <a:srgbClr val="F2F3F5"/>
            </a:solidFill>
            <a:prstDash val="solid"/>
          </a:ln>
        </p:spPr>
      </p:sp>
      <p:sp>
        <p:nvSpPr>
          <p:cNvPr id="12" name="Text 10"/>
          <p:cNvSpPr txBox="1"/>
          <p:nvPr/>
        </p:nvSpPr>
        <p:spPr>
          <a:xfrm>
            <a:off x="640080" y="3931920"/>
            <a:ext cx="7863840" cy="640080"/>
          </a:xfrm>
          <a:prstGeom prst="rect">
            <a:avLst/>
          </a:prstGeom>
          <a:noFill/>
          <a:ln/>
        </p:spPr>
        <p:txBody>
          <a:bodyPr wrap="square" lIns="0" tIns="0" rIns="0" bIns="0" rtlCol="0" anchor="ctr"/>
          <a:lstStyle/>
          <a:p>
            <a:pPr indent="0" marL="0">
              <a:buNone/>
            </a:pPr>
            <a:r>
              <a:rPr lang="en-US" sz="1150" b="1" dirty="0">
                <a:solidFill>
                  <a:srgbClr val="1F2328"/>
                </a:solidFill>
                <a:latin typeface="Calibri" pitchFamily="34" charset="0"/>
                <a:ea typeface="Calibri" pitchFamily="34" charset="-122"/>
                <a:cs typeface="Calibri" pitchFamily="34" charset="-120"/>
              </a:rPr>
              <a:t>Built-in groups: </a:t>
            </a:r>
            <a:pPr indent="0" marL="0">
              <a:buNone/>
            </a:pPr>
            <a:r>
              <a:rPr lang="en-US" sz="1150" dirty="0">
                <a:solidFill>
                  <a:srgbClr val="1F2328"/>
                </a:solidFill>
                <a:latin typeface="Calibri" pitchFamily="34" charset="0"/>
                <a:ea typeface="Calibri" pitchFamily="34" charset="-122"/>
                <a:cs typeface="Calibri" pitchFamily="34" charset="-120"/>
              </a:rPr>
              <a:t>all and ungrouped.   </a:t>
            </a:r>
            <a:pPr indent="0" marL="0">
              <a:buNone/>
            </a:pPr>
            <a:r>
              <a:rPr lang="en-US" sz="1150" b="1" dirty="0">
                <a:solidFill>
                  <a:srgbClr val="1F2328"/>
                </a:solidFill>
                <a:latin typeface="Calibri" pitchFamily="34" charset="0"/>
                <a:ea typeface="Calibri" pitchFamily="34" charset="-122"/>
                <a:cs typeface="Calibri" pitchFamily="34" charset="-120"/>
              </a:rPr>
              <a:t>Patterns: </a:t>
            </a:r>
            <a:pPr indent="0" marL="0">
              <a:buNone/>
            </a:pPr>
            <a:r>
              <a:rPr lang="en-US" sz="1150" dirty="0">
                <a:solidFill>
                  <a:srgbClr val="1F2328"/>
                </a:solidFill>
                <a:latin typeface="Calibri" pitchFamily="34" charset="0"/>
                <a:ea typeface="Calibri" pitchFamily="34" charset="-122"/>
                <a:cs typeface="Calibri" pitchFamily="34" charset="-120"/>
              </a:rPr>
              <a:t>web1 · webservers · webservers:dbservers · all:!db1.   </a:t>
            </a:r>
            <a:pPr indent="0" marL="0">
              <a:buNone/>
            </a:pPr>
            <a:r>
              <a:rPr lang="en-US" sz="1150" b="1" dirty="0">
                <a:solidFill>
                  <a:srgbClr val="1F2328"/>
                </a:solidFill>
                <a:latin typeface="Calibri" pitchFamily="34" charset="0"/>
                <a:ea typeface="Calibri" pitchFamily="34" charset="-122"/>
                <a:cs typeface="Calibri" pitchFamily="34" charset="-120"/>
              </a:rPr>
              <a:t>Dynamic inventory </a:t>
            </a:r>
            <a:pPr indent="0" marL="0">
              <a:buNone/>
            </a:pPr>
            <a:r>
              <a:rPr lang="en-US" sz="1150" dirty="0">
                <a:solidFill>
                  <a:srgbClr val="1F2328"/>
                </a:solidFill>
                <a:latin typeface="Calibri" pitchFamily="34" charset="0"/>
                <a:ea typeface="Calibri" pitchFamily="34" charset="-122"/>
                <a:cs typeface="Calibri" pitchFamily="34" charset="-120"/>
              </a:rPr>
              <a:t>plugins pull hosts from AWS, Azure, VMware…</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9AA1AA"/>
                </a:solidFill>
                <a:latin typeface="Calibri" pitchFamily="34" charset="0"/>
                <a:ea typeface="Calibri" pitchFamily="34" charset="-122"/>
                <a:cs typeface="Calibri" pitchFamily="34" charset="-120"/>
              </a:rPr>
              <a:t>19</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Where variables live</a:t>
            </a:r>
            <a:endParaRPr lang="en-US" sz="28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B6470"/>
                </a:solidFill>
                <a:latin typeface="Calibri" pitchFamily="34" charset="0"/>
                <a:ea typeface="Calibri" pitchFamily="34" charset="-122"/>
                <a:cs typeface="Calibri" pitchFamily="34" charset="-120"/>
              </a:rPr>
              <a:t>Simplified precedence — the more specific wins</a:t>
            </a:r>
            <a:endParaRPr lang="en-US" sz="1300" dirty="0"/>
          </a:p>
        </p:txBody>
      </p:sp>
      <p:sp>
        <p:nvSpPr>
          <p:cNvPr id="5" name="Shape 3"/>
          <p:cNvSpPr/>
          <p:nvPr/>
        </p:nvSpPr>
        <p:spPr>
          <a:xfrm>
            <a:off x="457200" y="1371600"/>
            <a:ext cx="2651760" cy="384048"/>
          </a:xfrm>
          <a:prstGeom prst="roundRect">
            <a:avLst>
              <a:gd name="adj" fmla="val 11905"/>
            </a:avLst>
          </a:prstGeom>
          <a:solidFill>
            <a:srgbClr val="D92D27"/>
          </a:solidFill>
          <a:ln w="12700">
            <a:solidFill>
              <a:srgbClr val="D92D27"/>
            </a:solidFill>
            <a:prstDash val="solid"/>
          </a:ln>
        </p:spPr>
      </p:sp>
      <p:sp>
        <p:nvSpPr>
          <p:cNvPr id="6" name="Text 4"/>
          <p:cNvSpPr txBox="1"/>
          <p:nvPr/>
        </p:nvSpPr>
        <p:spPr>
          <a:xfrm>
            <a:off x="594360" y="1371600"/>
            <a:ext cx="2468880" cy="384048"/>
          </a:xfrm>
          <a:prstGeom prst="rect">
            <a:avLst/>
          </a:prstGeom>
          <a:noFill/>
          <a:ln/>
        </p:spPr>
        <p:txBody>
          <a:bodyPr wrap="square" lIns="0" tIns="0" rIns="0" bIns="0" rtlCol="0" anchor="ctr"/>
          <a:lstStyle/>
          <a:p>
            <a:pPr indent="0" marL="0">
              <a:buNone/>
            </a:pPr>
            <a:r>
              <a:rPr lang="en-US" sz="1100" b="1" dirty="0">
                <a:solidFill>
                  <a:srgbClr val="FFFFFF"/>
                </a:solidFill>
                <a:latin typeface="Courier New" pitchFamily="34" charset="0"/>
                <a:ea typeface="Courier New" pitchFamily="34" charset="-122"/>
                <a:cs typeface="Courier New" pitchFamily="34" charset="-120"/>
              </a:rPr>
              <a:t>Extra vars   -e "x=1"</a:t>
            </a:r>
            <a:endParaRPr lang="en-US" sz="1100" dirty="0"/>
          </a:p>
        </p:txBody>
      </p:sp>
      <p:sp>
        <p:nvSpPr>
          <p:cNvPr id="7" name="Text 5"/>
          <p:cNvSpPr txBox="1"/>
          <p:nvPr/>
        </p:nvSpPr>
        <p:spPr>
          <a:xfrm>
            <a:off x="3200400" y="1371600"/>
            <a:ext cx="1188720" cy="384048"/>
          </a:xfrm>
          <a:prstGeom prst="rect">
            <a:avLst/>
          </a:prstGeom>
          <a:noFill/>
          <a:ln/>
        </p:spPr>
        <p:txBody>
          <a:bodyPr wrap="square" lIns="0" tIns="0" rIns="0" bIns="0"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always wins</a:t>
            </a:r>
            <a:endParaRPr lang="en-US" sz="1000" dirty="0"/>
          </a:p>
        </p:txBody>
      </p:sp>
      <p:sp>
        <p:nvSpPr>
          <p:cNvPr id="8" name="Shape 6"/>
          <p:cNvSpPr/>
          <p:nvPr/>
        </p:nvSpPr>
        <p:spPr>
          <a:xfrm>
            <a:off x="457200" y="1819656"/>
            <a:ext cx="2852928" cy="384048"/>
          </a:xfrm>
          <a:prstGeom prst="roundRect">
            <a:avLst>
              <a:gd name="adj" fmla="val 11905"/>
            </a:avLst>
          </a:prstGeom>
          <a:solidFill>
            <a:srgbClr val="DE4A45"/>
          </a:solidFill>
          <a:ln w="12700">
            <a:solidFill>
              <a:srgbClr val="DE4A45"/>
            </a:solidFill>
            <a:prstDash val="solid"/>
          </a:ln>
        </p:spPr>
      </p:sp>
      <p:sp>
        <p:nvSpPr>
          <p:cNvPr id="9" name="Text 7"/>
          <p:cNvSpPr txBox="1"/>
          <p:nvPr/>
        </p:nvSpPr>
        <p:spPr>
          <a:xfrm>
            <a:off x="594360" y="1819656"/>
            <a:ext cx="2670048" cy="384048"/>
          </a:xfrm>
          <a:prstGeom prst="rect">
            <a:avLst/>
          </a:prstGeom>
          <a:noFill/>
          <a:ln/>
        </p:spPr>
        <p:txBody>
          <a:bodyPr wrap="square" lIns="0" tIns="0" rIns="0" bIns="0" rtlCol="0" anchor="ctr"/>
          <a:lstStyle/>
          <a:p>
            <a:pPr indent="0" marL="0">
              <a:buNone/>
            </a:pPr>
            <a:r>
              <a:rPr lang="en-US" sz="1100" b="1" dirty="0">
                <a:solidFill>
                  <a:srgbClr val="FFFFFF"/>
                </a:solidFill>
                <a:latin typeface="Courier New" pitchFamily="34" charset="0"/>
                <a:ea typeface="Courier New" pitchFamily="34" charset="-122"/>
                <a:cs typeface="Courier New" pitchFamily="34" charset="-120"/>
              </a:rPr>
              <a:t>Task / block vars</a:t>
            </a:r>
            <a:endParaRPr lang="en-US" sz="1100" dirty="0"/>
          </a:p>
        </p:txBody>
      </p:sp>
      <p:sp>
        <p:nvSpPr>
          <p:cNvPr id="10" name="Shape 8"/>
          <p:cNvSpPr/>
          <p:nvPr/>
        </p:nvSpPr>
        <p:spPr>
          <a:xfrm>
            <a:off x="457200" y="2267712"/>
            <a:ext cx="3054096" cy="384048"/>
          </a:xfrm>
          <a:prstGeom prst="roundRect">
            <a:avLst>
              <a:gd name="adj" fmla="val 11905"/>
            </a:avLst>
          </a:prstGeom>
          <a:solidFill>
            <a:srgbClr val="E36763"/>
          </a:solidFill>
          <a:ln w="12700">
            <a:solidFill>
              <a:srgbClr val="E36763"/>
            </a:solidFill>
            <a:prstDash val="solid"/>
          </a:ln>
        </p:spPr>
      </p:sp>
      <p:sp>
        <p:nvSpPr>
          <p:cNvPr id="11" name="Text 9"/>
          <p:cNvSpPr txBox="1"/>
          <p:nvPr/>
        </p:nvSpPr>
        <p:spPr>
          <a:xfrm>
            <a:off x="594360" y="2267712"/>
            <a:ext cx="2871216" cy="384048"/>
          </a:xfrm>
          <a:prstGeom prst="rect">
            <a:avLst/>
          </a:prstGeom>
          <a:noFill/>
          <a:ln/>
        </p:spPr>
        <p:txBody>
          <a:bodyPr wrap="square" lIns="0" tIns="0" rIns="0" bIns="0" rtlCol="0" anchor="ctr"/>
          <a:lstStyle/>
          <a:p>
            <a:pPr indent="0" marL="0">
              <a:buNone/>
            </a:pPr>
            <a:r>
              <a:rPr lang="en-US" sz="1100" b="1" dirty="0">
                <a:solidFill>
                  <a:srgbClr val="FFFFFF"/>
                </a:solidFill>
                <a:latin typeface="Courier New" pitchFamily="34" charset="0"/>
                <a:ea typeface="Courier New" pitchFamily="34" charset="-122"/>
                <a:cs typeface="Courier New" pitchFamily="34" charset="-120"/>
              </a:rPr>
              <a:t>Play vars &amp; vars_files</a:t>
            </a:r>
            <a:endParaRPr lang="en-US" sz="1100" dirty="0"/>
          </a:p>
        </p:txBody>
      </p:sp>
      <p:sp>
        <p:nvSpPr>
          <p:cNvPr id="12" name="Shape 10"/>
          <p:cNvSpPr/>
          <p:nvPr/>
        </p:nvSpPr>
        <p:spPr>
          <a:xfrm>
            <a:off x="457200" y="2715768"/>
            <a:ext cx="3255264" cy="384048"/>
          </a:xfrm>
          <a:prstGeom prst="roundRect">
            <a:avLst>
              <a:gd name="adj" fmla="val 11905"/>
            </a:avLst>
          </a:prstGeom>
          <a:solidFill>
            <a:srgbClr val="E88581"/>
          </a:solidFill>
          <a:ln w="12700">
            <a:solidFill>
              <a:srgbClr val="E88581"/>
            </a:solidFill>
            <a:prstDash val="solid"/>
          </a:ln>
        </p:spPr>
      </p:sp>
      <p:sp>
        <p:nvSpPr>
          <p:cNvPr id="13" name="Text 11"/>
          <p:cNvSpPr txBox="1"/>
          <p:nvPr/>
        </p:nvSpPr>
        <p:spPr>
          <a:xfrm>
            <a:off x="594360" y="2715768"/>
            <a:ext cx="3072384" cy="384048"/>
          </a:xfrm>
          <a:prstGeom prst="rect">
            <a:avLst/>
          </a:prstGeom>
          <a:noFill/>
          <a:ln/>
        </p:spPr>
        <p:txBody>
          <a:bodyPr wrap="square" lIns="0" tIns="0" rIns="0" bIns="0" rtlCol="0" anchor="ctr"/>
          <a:lstStyle/>
          <a:p>
            <a:pPr indent="0" marL="0">
              <a:buNone/>
            </a:pPr>
            <a:r>
              <a:rPr lang="en-US" sz="1100" b="1" dirty="0">
                <a:solidFill>
                  <a:srgbClr val="FFFFFF"/>
                </a:solidFill>
                <a:latin typeface="Courier New" pitchFamily="34" charset="0"/>
                <a:ea typeface="Courier New" pitchFamily="34" charset="-122"/>
                <a:cs typeface="Courier New" pitchFamily="34" charset="-120"/>
              </a:rPr>
              <a:t>host_vars/db1.yml</a:t>
            </a:r>
            <a:endParaRPr lang="en-US" sz="1100" dirty="0"/>
          </a:p>
        </p:txBody>
      </p:sp>
      <p:sp>
        <p:nvSpPr>
          <p:cNvPr id="14" name="Text 12"/>
          <p:cNvSpPr txBox="1"/>
          <p:nvPr/>
        </p:nvSpPr>
        <p:spPr>
          <a:xfrm>
            <a:off x="3803904" y="2715768"/>
            <a:ext cx="1188720" cy="384048"/>
          </a:xfrm>
          <a:prstGeom prst="rect">
            <a:avLst/>
          </a:prstGeom>
          <a:noFill/>
          <a:ln/>
        </p:spPr>
        <p:txBody>
          <a:bodyPr wrap="square" lIns="0" tIns="0" rIns="0" bIns="0"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one host</a:t>
            </a:r>
            <a:endParaRPr lang="en-US" sz="1000" dirty="0"/>
          </a:p>
        </p:txBody>
      </p:sp>
      <p:sp>
        <p:nvSpPr>
          <p:cNvPr id="15" name="Shape 13"/>
          <p:cNvSpPr/>
          <p:nvPr/>
        </p:nvSpPr>
        <p:spPr>
          <a:xfrm>
            <a:off x="457200" y="3163824"/>
            <a:ext cx="3456432" cy="384048"/>
          </a:xfrm>
          <a:prstGeom prst="roundRect">
            <a:avLst>
              <a:gd name="adj" fmla="val 11905"/>
            </a:avLst>
          </a:prstGeom>
          <a:solidFill>
            <a:srgbClr val="EDA29F"/>
          </a:solidFill>
          <a:ln w="12700">
            <a:solidFill>
              <a:srgbClr val="EDA29F"/>
            </a:solidFill>
            <a:prstDash val="solid"/>
          </a:ln>
        </p:spPr>
      </p:sp>
      <p:sp>
        <p:nvSpPr>
          <p:cNvPr id="16" name="Text 14"/>
          <p:cNvSpPr txBox="1"/>
          <p:nvPr/>
        </p:nvSpPr>
        <p:spPr>
          <a:xfrm>
            <a:off x="594360" y="3163824"/>
            <a:ext cx="3273552" cy="384048"/>
          </a:xfrm>
          <a:prstGeom prst="rect">
            <a:avLst/>
          </a:prstGeom>
          <a:noFill/>
          <a:ln/>
        </p:spPr>
        <p:txBody>
          <a:bodyPr wrap="square" lIns="0" tIns="0" rIns="0" bIns="0" rtlCol="0" anchor="ctr"/>
          <a:lstStyle/>
          <a:p>
            <a:pPr indent="0" marL="0">
              <a:buNone/>
            </a:pPr>
            <a:r>
              <a:rPr lang="en-US" sz="1100" b="1" dirty="0">
                <a:solidFill>
                  <a:srgbClr val="1F2328"/>
                </a:solidFill>
                <a:latin typeface="Courier New" pitchFamily="34" charset="0"/>
                <a:ea typeface="Courier New" pitchFamily="34" charset="-122"/>
                <a:cs typeface="Courier New" pitchFamily="34" charset="-120"/>
              </a:rPr>
              <a:t>group_vars/webservers.yml</a:t>
            </a:r>
            <a:endParaRPr lang="en-US" sz="1100" dirty="0"/>
          </a:p>
        </p:txBody>
      </p:sp>
      <p:sp>
        <p:nvSpPr>
          <p:cNvPr id="17" name="Text 15"/>
          <p:cNvSpPr txBox="1"/>
          <p:nvPr/>
        </p:nvSpPr>
        <p:spPr>
          <a:xfrm>
            <a:off x="4005072" y="3163824"/>
            <a:ext cx="1188720" cy="384048"/>
          </a:xfrm>
          <a:prstGeom prst="rect">
            <a:avLst/>
          </a:prstGeom>
          <a:noFill/>
          <a:ln/>
        </p:spPr>
        <p:txBody>
          <a:bodyPr wrap="square" lIns="0" tIns="0" rIns="0" bIns="0"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one group</a:t>
            </a:r>
            <a:endParaRPr lang="en-US" sz="1000" dirty="0"/>
          </a:p>
        </p:txBody>
      </p:sp>
      <p:sp>
        <p:nvSpPr>
          <p:cNvPr id="18" name="Shape 16"/>
          <p:cNvSpPr/>
          <p:nvPr/>
        </p:nvSpPr>
        <p:spPr>
          <a:xfrm>
            <a:off x="457200" y="3611880"/>
            <a:ext cx="3657600" cy="384048"/>
          </a:xfrm>
          <a:prstGeom prst="roundRect">
            <a:avLst>
              <a:gd name="adj" fmla="val 11905"/>
            </a:avLst>
          </a:prstGeom>
          <a:solidFill>
            <a:srgbClr val="F2C0BD"/>
          </a:solidFill>
          <a:ln w="12700">
            <a:solidFill>
              <a:srgbClr val="F2C0BD"/>
            </a:solidFill>
            <a:prstDash val="solid"/>
          </a:ln>
        </p:spPr>
      </p:sp>
      <p:sp>
        <p:nvSpPr>
          <p:cNvPr id="19" name="Text 17"/>
          <p:cNvSpPr txBox="1"/>
          <p:nvPr/>
        </p:nvSpPr>
        <p:spPr>
          <a:xfrm>
            <a:off x="594360" y="3611880"/>
            <a:ext cx="3474720" cy="384048"/>
          </a:xfrm>
          <a:prstGeom prst="rect">
            <a:avLst/>
          </a:prstGeom>
          <a:noFill/>
          <a:ln/>
        </p:spPr>
        <p:txBody>
          <a:bodyPr wrap="square" lIns="0" tIns="0" rIns="0" bIns="0" rtlCol="0" anchor="ctr"/>
          <a:lstStyle/>
          <a:p>
            <a:pPr indent="0" marL="0">
              <a:buNone/>
            </a:pPr>
            <a:r>
              <a:rPr lang="en-US" sz="1100" b="1" dirty="0">
                <a:solidFill>
                  <a:srgbClr val="1F2328"/>
                </a:solidFill>
                <a:latin typeface="Courier New" pitchFamily="34" charset="0"/>
                <a:ea typeface="Courier New" pitchFamily="34" charset="-122"/>
                <a:cs typeface="Courier New" pitchFamily="34" charset="-120"/>
              </a:rPr>
              <a:t>group_vars/all.yml</a:t>
            </a:r>
            <a:endParaRPr lang="en-US" sz="1100" dirty="0"/>
          </a:p>
        </p:txBody>
      </p:sp>
      <p:sp>
        <p:nvSpPr>
          <p:cNvPr id="20" name="Text 18"/>
          <p:cNvSpPr txBox="1"/>
          <p:nvPr/>
        </p:nvSpPr>
        <p:spPr>
          <a:xfrm>
            <a:off x="4206240" y="3611880"/>
            <a:ext cx="1188720" cy="384048"/>
          </a:xfrm>
          <a:prstGeom prst="rect">
            <a:avLst/>
          </a:prstGeom>
          <a:noFill/>
          <a:ln/>
        </p:spPr>
        <p:txBody>
          <a:bodyPr wrap="square" lIns="0" tIns="0" rIns="0" bIns="0"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every host</a:t>
            </a:r>
            <a:endParaRPr lang="en-US" sz="1000" dirty="0"/>
          </a:p>
        </p:txBody>
      </p:sp>
      <p:sp>
        <p:nvSpPr>
          <p:cNvPr id="21" name="Shape 19"/>
          <p:cNvSpPr/>
          <p:nvPr/>
        </p:nvSpPr>
        <p:spPr>
          <a:xfrm>
            <a:off x="457200" y="4059936"/>
            <a:ext cx="3858768" cy="384048"/>
          </a:xfrm>
          <a:prstGeom prst="roundRect">
            <a:avLst>
              <a:gd name="adj" fmla="val 11905"/>
            </a:avLst>
          </a:prstGeom>
          <a:solidFill>
            <a:srgbClr val="F7DDDB"/>
          </a:solidFill>
          <a:ln w="12700">
            <a:solidFill>
              <a:srgbClr val="F7DDDB"/>
            </a:solidFill>
            <a:prstDash val="solid"/>
          </a:ln>
        </p:spPr>
      </p:sp>
      <p:sp>
        <p:nvSpPr>
          <p:cNvPr id="22" name="Text 20"/>
          <p:cNvSpPr txBox="1"/>
          <p:nvPr/>
        </p:nvSpPr>
        <p:spPr>
          <a:xfrm>
            <a:off x="594360" y="4059936"/>
            <a:ext cx="3675888" cy="384048"/>
          </a:xfrm>
          <a:prstGeom prst="rect">
            <a:avLst/>
          </a:prstGeom>
          <a:noFill/>
          <a:ln/>
        </p:spPr>
        <p:txBody>
          <a:bodyPr wrap="square" lIns="0" tIns="0" rIns="0" bIns="0" rtlCol="0" anchor="ctr"/>
          <a:lstStyle/>
          <a:p>
            <a:pPr indent="0" marL="0">
              <a:buNone/>
            </a:pPr>
            <a:r>
              <a:rPr lang="en-US" sz="1100" b="1" dirty="0">
                <a:solidFill>
                  <a:srgbClr val="1F2328"/>
                </a:solidFill>
                <a:latin typeface="Courier New" pitchFamily="34" charset="0"/>
                <a:ea typeface="Courier New" pitchFamily="34" charset="-122"/>
                <a:cs typeface="Courier New" pitchFamily="34" charset="-120"/>
              </a:rPr>
              <a:t>Role defaults/main.yml</a:t>
            </a:r>
            <a:endParaRPr lang="en-US" sz="1100" dirty="0"/>
          </a:p>
        </p:txBody>
      </p:sp>
      <p:sp>
        <p:nvSpPr>
          <p:cNvPr id="23" name="Text 21"/>
          <p:cNvSpPr txBox="1"/>
          <p:nvPr/>
        </p:nvSpPr>
        <p:spPr>
          <a:xfrm>
            <a:off x="4407408" y="4059936"/>
            <a:ext cx="1188720" cy="384048"/>
          </a:xfrm>
          <a:prstGeom prst="rect">
            <a:avLst/>
          </a:prstGeom>
          <a:noFill/>
          <a:ln/>
        </p:spPr>
        <p:txBody>
          <a:bodyPr wrap="square" lIns="0" tIns="0" rIns="0" bIns="0"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easiest to override</a:t>
            </a:r>
            <a:endParaRPr lang="en-US" sz="1000" dirty="0"/>
          </a:p>
        </p:txBody>
      </p:sp>
      <p:sp>
        <p:nvSpPr>
          <p:cNvPr id="24" name="Text 22"/>
          <p:cNvSpPr txBox="1"/>
          <p:nvPr/>
        </p:nvSpPr>
        <p:spPr>
          <a:xfrm>
            <a:off x="457200" y="1161288"/>
            <a:ext cx="914400" cy="182880"/>
          </a:xfrm>
          <a:prstGeom prst="rect">
            <a:avLst/>
          </a:prstGeom>
          <a:noFill/>
          <a:ln/>
        </p:spPr>
        <p:txBody>
          <a:bodyPr wrap="square" lIns="0" tIns="0" rIns="0" bIns="0" rtlCol="0" anchor="t"/>
          <a:lstStyle/>
          <a:p>
            <a:pPr indent="0" marL="0">
              <a:buNone/>
            </a:pPr>
            <a:r>
              <a:rPr lang="en-US" sz="900" b="1" dirty="0">
                <a:solidFill>
                  <a:srgbClr val="D92D27"/>
                </a:solidFill>
                <a:latin typeface="Calibri" pitchFamily="34" charset="0"/>
                <a:ea typeface="Calibri" pitchFamily="34" charset="-122"/>
                <a:cs typeface="Calibri" pitchFamily="34" charset="-120"/>
              </a:rPr>
              <a:t>HIGH</a:t>
            </a:r>
            <a:endParaRPr lang="en-US" sz="900" dirty="0"/>
          </a:p>
        </p:txBody>
      </p:sp>
      <p:sp>
        <p:nvSpPr>
          <p:cNvPr id="25" name="Text 23"/>
          <p:cNvSpPr txBox="1"/>
          <p:nvPr/>
        </p:nvSpPr>
        <p:spPr>
          <a:xfrm>
            <a:off x="457200" y="4526280"/>
            <a:ext cx="914400" cy="182880"/>
          </a:xfrm>
          <a:prstGeom prst="rect">
            <a:avLst/>
          </a:prstGeom>
          <a:noFill/>
          <a:ln/>
        </p:spPr>
        <p:txBody>
          <a:bodyPr wrap="square" lIns="0" tIns="0" rIns="0" bIns="0" rtlCol="0" anchor="t"/>
          <a:lstStyle/>
          <a:p>
            <a:pPr indent="0" marL="0">
              <a:buNone/>
            </a:pPr>
            <a:r>
              <a:rPr lang="en-US" sz="900" b="1" dirty="0">
                <a:solidFill>
                  <a:srgbClr val="5B6470"/>
                </a:solidFill>
                <a:latin typeface="Calibri" pitchFamily="34" charset="0"/>
                <a:ea typeface="Calibri" pitchFamily="34" charset="-122"/>
                <a:cs typeface="Calibri" pitchFamily="34" charset="-120"/>
              </a:rPr>
              <a:t>LOW</a:t>
            </a:r>
            <a:endParaRPr lang="en-US" sz="900" dirty="0"/>
          </a:p>
        </p:txBody>
      </p:sp>
      <p:sp>
        <p:nvSpPr>
          <p:cNvPr id="26" name="Shape 24"/>
          <p:cNvSpPr/>
          <p:nvPr/>
        </p:nvSpPr>
        <p:spPr>
          <a:xfrm>
            <a:off x="5669280" y="1371600"/>
            <a:ext cx="3017520" cy="2743200"/>
          </a:xfrm>
          <a:prstGeom prst="roundRect">
            <a:avLst>
              <a:gd name="adj" fmla="val 2000"/>
            </a:avLst>
          </a:prstGeom>
          <a:solidFill>
            <a:srgbClr val="1E2229"/>
          </a:solidFill>
          <a:ln w="12700">
            <a:solidFill>
              <a:srgbClr val="1E2229"/>
            </a:solidFill>
            <a:prstDash val="solid"/>
          </a:ln>
        </p:spPr>
      </p:sp>
      <p:sp>
        <p:nvSpPr>
          <p:cNvPr id="27" name="Text 25"/>
          <p:cNvSpPr txBox="1"/>
          <p:nvPr/>
        </p:nvSpPr>
        <p:spPr>
          <a:xfrm>
            <a:off x="5806440" y="1481328"/>
            <a:ext cx="2743200" cy="2523744"/>
          </a:xfrm>
          <a:prstGeom prst="rect">
            <a:avLst/>
          </a:prstGeom>
          <a:noFill/>
          <a:ln/>
        </p:spPr>
        <p:txBody>
          <a:bodyPr wrap="square" lIns="0" tIns="0" rIns="0" bIns="0" rtlCol="0" anchor="t"/>
          <a:lstStyle/>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8B949E"/>
                </a:solidFill>
                <a:latin typeface="Courier New" pitchFamily="34" charset="0"/>
                <a:ea typeface="Courier New" pitchFamily="34" charset="-122"/>
                <a:cs typeface="Courier New" pitchFamily="34" charset="-120"/>
              </a:rPr>
              <a:t># group_vars/webservers.yml</a:t>
            </a:r>
            <a:endParaRPr lang="en-US" sz="950" dirty="0"/>
          </a:p>
          <a:p>
            <a:pPr indent="0" marL="0">
              <a:lnSpc>
                <a:spcPct val="100000"/>
              </a:lnSpc>
              <a:buNone/>
            </a:pP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http_port:</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80</a:t>
            </a:r>
            <a:endParaRPr lang="en-US" sz="950" dirty="0"/>
          </a:p>
          <a:p>
            <a:pPr indent="0" marL="0">
              <a:lnSpc>
                <a:spcPct val="100000"/>
              </a:lnSpc>
              <a:buNone/>
            </a:pP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page_title:</a:t>
            </a:r>
            <a:pPr indent="0" marL="0">
              <a:lnSpc>
                <a:spcPct val="100000"/>
              </a:lnSpc>
              <a:buNone/>
            </a:pPr>
            <a:r>
              <a:rPr lang="en-US" sz="950" dirty="0">
                <a:solidFill>
                  <a:srgbClr val="F2C67C"/>
                </a:solidFill>
                <a:latin typeface="Courier New" pitchFamily="34" charset="0"/>
                <a:ea typeface="Courier New" pitchFamily="34" charset="-122"/>
                <a:cs typeface="Courier New" pitchFamily="34" charset="-120"/>
              </a:rPr>
              <a:t> "Hello from Ansible"</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8B949E"/>
                </a:solidFill>
                <a:latin typeface="Courier New" pitchFamily="34" charset="0"/>
                <a:ea typeface="Courier New" pitchFamily="34" charset="-122"/>
                <a:cs typeface="Courier New" pitchFamily="34" charset="-120"/>
              </a:rPr>
              <a:t># host_vars/db1.yml</a:t>
            </a:r>
            <a:endParaRPr lang="en-US" sz="950" dirty="0"/>
          </a:p>
          <a:p>
            <a:pPr indent="0" marL="0">
              <a:lnSpc>
                <a:spcPct val="100000"/>
              </a:lnSpc>
              <a:buNone/>
            </a:pP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server_role:</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database</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8B949E"/>
                </a:solidFill>
                <a:latin typeface="Courier New" pitchFamily="34" charset="0"/>
                <a:ea typeface="Courier New" pitchFamily="34" charset="-122"/>
                <a:cs typeface="Courier New" pitchFamily="34" charset="-120"/>
              </a:rPr>
              <a:t># use it anywhere (Jinja2)</a:t>
            </a:r>
            <a:endParaRPr lang="en-US" sz="950" dirty="0"/>
          </a:p>
          <a:p>
            <a:pPr indent="0" marL="0">
              <a:lnSpc>
                <a:spcPct val="100000"/>
              </a:lnSpc>
              <a:buNone/>
            </a:pP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msg:</a:t>
            </a:r>
            <a:pPr indent="0" marL="0">
              <a:lnSpc>
                <a:spcPct val="100000"/>
              </a:lnSpc>
              <a:buNone/>
            </a:pPr>
            <a:r>
              <a:rPr lang="en-US" sz="950" dirty="0">
                <a:solidFill>
                  <a:srgbClr val="F2C67C"/>
                </a:solidFill>
                <a:latin typeface="Courier New" pitchFamily="34" charset="0"/>
                <a:ea typeface="Courier New" pitchFamily="34" charset="-122"/>
                <a:cs typeface="Courier New" pitchFamily="34" charset="-120"/>
              </a:rPr>
              <a:t> "Port is {{ http_port }}"</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6181D"/>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20</a:t>
            </a:r>
            <a:endParaRPr lang="en-US" sz="900" dirty="0"/>
          </a:p>
        </p:txBody>
      </p:sp>
      <p:sp>
        <p:nvSpPr>
          <p:cNvPr id="3" name="Shape 1"/>
          <p:cNvSpPr/>
          <p:nvPr/>
        </p:nvSpPr>
        <p:spPr>
          <a:xfrm>
            <a:off x="4023360" y="1188720"/>
            <a:ext cx="1097280" cy="1097280"/>
          </a:xfrm>
          <a:prstGeom prst="ellipse">
            <a:avLst/>
          </a:prstGeom>
          <a:solidFill>
            <a:srgbClr val="D92D27"/>
          </a:solidFill>
          <a:ln w="12700">
            <a:solidFill>
              <a:srgbClr val="D92D27"/>
            </a:solidFill>
            <a:prstDash val="solid"/>
          </a:ln>
        </p:spPr>
      </p:sp>
      <p:pic>
        <p:nvPicPr>
          <p:cNvPr id="4" name="Image 0" descr="preencoded.png">    </p:cNvPr>
          <p:cNvPicPr>
            <a:picLocks noChangeAspect="1"/>
          </p:cNvPicPr>
          <p:nvPr/>
        </p:nvPicPr>
        <p:blipFill>
          <a:blip r:embed="rId1"/>
          <a:stretch>
            <a:fillRect/>
          </a:stretch>
        </p:blipFill>
        <p:spPr>
          <a:xfrm>
            <a:off x="4308653" y="1474013"/>
            <a:ext cx="526694" cy="526694"/>
          </a:xfrm>
          <a:prstGeom prst="rect">
            <a:avLst/>
          </a:prstGeom>
        </p:spPr>
      </p:pic>
      <p:sp>
        <p:nvSpPr>
          <p:cNvPr id="5" name="Text 2"/>
          <p:cNvSpPr txBox="1"/>
          <p:nvPr/>
        </p:nvSpPr>
        <p:spPr>
          <a:xfrm>
            <a:off x="457200" y="2514600"/>
            <a:ext cx="8229600" cy="731520"/>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5-minute break</a:t>
            </a:r>
            <a:endParaRPr lang="en-US" sz="3600" dirty="0"/>
          </a:p>
        </p:txBody>
      </p:sp>
      <p:sp>
        <p:nvSpPr>
          <p:cNvPr id="6" name="Text 3"/>
          <p:cNvSpPr txBox="1"/>
          <p:nvPr/>
        </p:nvSpPr>
        <p:spPr>
          <a:xfrm>
            <a:off x="457200" y="3291840"/>
            <a:ext cx="8229600" cy="457200"/>
          </a:xfrm>
          <a:prstGeom prst="rect">
            <a:avLst/>
          </a:prstGeom>
          <a:noFill/>
          <a:ln/>
        </p:spPr>
        <p:txBody>
          <a:bodyPr wrap="square" lIns="0" tIns="0" rIns="0" bIns="0" rtlCol="0" anchor="ctr"/>
          <a:lstStyle/>
          <a:p>
            <a:pPr algn="ctr" indent="0" marL="0">
              <a:buNone/>
            </a:pPr>
            <a:r>
              <a:rPr lang="en-US" sz="1500" dirty="0">
                <a:solidFill>
                  <a:srgbClr val="B8BEC7"/>
                </a:solidFill>
                <a:latin typeface="Courier New" pitchFamily="34" charset="0"/>
                <a:ea typeface="Courier New" pitchFamily="34" charset="-122"/>
                <a:cs typeface="Courier New" pitchFamily="34" charset="-120"/>
              </a:rPr>
              <a:t>While you wait:  docker ps   ·   ansible all -m ping</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6181D"/>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21</a:t>
            </a:r>
            <a:endParaRPr lang="en-US" sz="900" dirty="0"/>
          </a:p>
        </p:txBody>
      </p:sp>
      <p:sp>
        <p:nvSpPr>
          <p:cNvPr id="3" name="Text 1"/>
          <p:cNvSpPr txBox="1"/>
          <p:nvPr/>
        </p:nvSpPr>
        <p:spPr>
          <a:xfrm>
            <a:off x="457200" y="685800"/>
            <a:ext cx="2743200" cy="1280160"/>
          </a:xfrm>
          <a:prstGeom prst="rect">
            <a:avLst/>
          </a:prstGeom>
          <a:noFill/>
          <a:ln/>
        </p:spPr>
        <p:txBody>
          <a:bodyPr wrap="square" lIns="0" tIns="0" rIns="0" bIns="0" rtlCol="0" anchor="ctr"/>
          <a:lstStyle/>
          <a:p>
            <a:pPr indent="0" marL="0">
              <a:buNone/>
            </a:pPr>
            <a:r>
              <a:rPr lang="en-US" sz="9600" b="1" dirty="0">
                <a:solidFill>
                  <a:srgbClr val="D92D27"/>
                </a:solidFill>
                <a:latin typeface="Arial" pitchFamily="34" charset="0"/>
                <a:ea typeface="Arial" pitchFamily="34" charset="-122"/>
                <a:cs typeface="Arial" pitchFamily="34" charset="-120"/>
              </a:rPr>
              <a:t>04</a:t>
            </a:r>
            <a:endParaRPr lang="en-US" sz="9600" dirty="0"/>
          </a:p>
        </p:txBody>
      </p:sp>
      <p:sp>
        <p:nvSpPr>
          <p:cNvPr id="4" name="Text 2"/>
          <p:cNvSpPr txBox="1"/>
          <p:nvPr/>
        </p:nvSpPr>
        <p:spPr>
          <a:xfrm>
            <a:off x="457200" y="2011680"/>
            <a:ext cx="8046720" cy="1234440"/>
          </a:xfrm>
          <a:prstGeom prst="rect">
            <a:avLst/>
          </a:prstGeom>
          <a:noFill/>
          <a:ln/>
        </p:spPr>
        <p:txBody>
          <a:bodyPr wrap="square" lIns="0" tIns="0" rIns="0" bIns="0" rtlCol="0" anchor="b"/>
          <a:lstStyle/>
          <a:p>
            <a:pPr indent="0" marL="0">
              <a:buNone/>
            </a:pPr>
            <a:r>
              <a:rPr lang="en-US" sz="3600" b="1" dirty="0">
                <a:solidFill>
                  <a:srgbClr val="FFFFFF"/>
                </a:solidFill>
                <a:latin typeface="Arial" pitchFamily="34" charset="0"/>
                <a:ea typeface="Arial" pitchFamily="34" charset="-122"/>
                <a:cs typeface="Arial" pitchFamily="34" charset="-120"/>
              </a:rPr>
              <a:t>Playbook structure</a:t>
            </a:r>
            <a:endParaRPr lang="en-US" sz="3600" dirty="0"/>
          </a:p>
        </p:txBody>
      </p:sp>
      <p:sp>
        <p:nvSpPr>
          <p:cNvPr id="5" name="Text 3"/>
          <p:cNvSpPr txBox="1"/>
          <p:nvPr/>
        </p:nvSpPr>
        <p:spPr>
          <a:xfrm>
            <a:off x="457200" y="3291840"/>
            <a:ext cx="7772400" cy="457200"/>
          </a:xfrm>
          <a:prstGeom prst="rect">
            <a:avLst/>
          </a:prstGeom>
          <a:noFill/>
          <a:ln/>
        </p:spPr>
        <p:txBody>
          <a:bodyPr wrap="square" lIns="0" tIns="0" rIns="0" bIns="0" rtlCol="0" anchor="ctr"/>
          <a:lstStyle/>
          <a:p>
            <a:pPr indent="0" marL="0">
              <a:buNone/>
            </a:pPr>
            <a:r>
              <a:rPr lang="en-US" sz="1600" dirty="0">
                <a:solidFill>
                  <a:srgbClr val="B8BEC7"/>
                </a:solidFill>
                <a:latin typeface="Calibri" pitchFamily="34" charset="0"/>
                <a:ea typeface="Calibri" pitchFamily="34" charset="-122"/>
                <a:cs typeface="Calibri" pitchFamily="34" charset="-120"/>
              </a:rPr>
              <a:t>YAML, plays, tasks, handlers, templates and roles</a:t>
            </a:r>
            <a:endParaRPr lang="en-US" sz="1600" dirty="0"/>
          </a:p>
        </p:txBody>
      </p:sp>
      <p:sp>
        <p:nvSpPr>
          <p:cNvPr id="6" name="Shape 4"/>
          <p:cNvSpPr/>
          <p:nvPr/>
        </p:nvSpPr>
        <p:spPr>
          <a:xfrm>
            <a:off x="457200" y="4023360"/>
            <a:ext cx="1371600" cy="365760"/>
          </a:xfrm>
          <a:prstGeom prst="roundRect">
            <a:avLst>
              <a:gd name="adj" fmla="val 50000"/>
            </a:avLst>
          </a:prstGeom>
          <a:solidFill>
            <a:srgbClr val="2A2E36"/>
          </a:solidFill>
          <a:ln w="12700">
            <a:solidFill>
              <a:srgbClr val="2A2E36"/>
            </a:solidFill>
            <a:prstDash val="solid"/>
          </a:ln>
        </p:spPr>
      </p:sp>
      <p:sp>
        <p:nvSpPr>
          <p:cNvPr id="7" name="Text 5"/>
          <p:cNvSpPr txBox="1"/>
          <p:nvPr/>
        </p:nvSpPr>
        <p:spPr>
          <a:xfrm>
            <a:off x="457200" y="4023360"/>
            <a:ext cx="137160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 20 min</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9AA1AA"/>
                </a:solidFill>
                <a:latin typeface="Calibri" pitchFamily="34" charset="0"/>
                <a:ea typeface="Calibri" pitchFamily="34" charset="-122"/>
                <a:cs typeface="Calibri" pitchFamily="34" charset="-120"/>
              </a:rPr>
              <a:t>22</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YAML in five minutes</a:t>
            </a:r>
            <a:endParaRPr lang="en-US" sz="28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B6470"/>
                </a:solidFill>
                <a:latin typeface="Calibri" pitchFamily="34" charset="0"/>
                <a:ea typeface="Calibri" pitchFamily="34" charset="-122"/>
                <a:cs typeface="Calibri" pitchFamily="34" charset="-120"/>
              </a:rPr>
              <a:t>Playbooks are YAML — get these rules right and most errors disappear</a:t>
            </a:r>
            <a:endParaRPr lang="en-US" sz="1300" dirty="0"/>
          </a:p>
        </p:txBody>
      </p:sp>
      <p:sp>
        <p:nvSpPr>
          <p:cNvPr id="5" name="Shape 3"/>
          <p:cNvSpPr/>
          <p:nvPr/>
        </p:nvSpPr>
        <p:spPr>
          <a:xfrm>
            <a:off x="457200" y="1234440"/>
            <a:ext cx="4297680" cy="3383280"/>
          </a:xfrm>
          <a:prstGeom prst="roundRect">
            <a:avLst>
              <a:gd name="adj" fmla="val 1622"/>
            </a:avLst>
          </a:prstGeom>
          <a:solidFill>
            <a:srgbClr val="1E2229"/>
          </a:solidFill>
          <a:ln w="12700">
            <a:solidFill>
              <a:srgbClr val="1E2229"/>
            </a:solidFill>
            <a:prstDash val="solid"/>
          </a:ln>
        </p:spPr>
      </p:sp>
      <p:sp>
        <p:nvSpPr>
          <p:cNvPr id="6" name="Text 4"/>
          <p:cNvSpPr txBox="1"/>
          <p:nvPr/>
        </p:nvSpPr>
        <p:spPr>
          <a:xfrm>
            <a:off x="594360" y="1344168"/>
            <a:ext cx="4023360" cy="3163824"/>
          </a:xfrm>
          <a:prstGeom prst="rect">
            <a:avLst/>
          </a:prstGeom>
          <a:noFill/>
          <a:ln/>
        </p:spPr>
        <p:txBody>
          <a:bodyPr wrap="square" lIns="0" tIns="0" rIns="0" bIns="0" rtlCol="0" anchor="t"/>
          <a:lstStyle/>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1000" dirty="0">
                <a:solidFill>
                  <a:srgbClr val="8B949E"/>
                </a:solidFill>
                <a:latin typeface="Courier New" pitchFamily="34" charset="0"/>
                <a:ea typeface="Courier New" pitchFamily="34" charset="-122"/>
                <a:cs typeface="Courier New" pitchFamily="34" charset="-120"/>
              </a:rPr>
              <a:t># optional document start</a:t>
            </a:r>
            <a:endParaRPr lang="en-US" sz="1000" dirty="0"/>
          </a:p>
          <a:p>
            <a:pPr indent="0" marL="0">
              <a:lnSpc>
                <a:spcPct val="100000"/>
              </a:lnSpc>
              <a:buNone/>
            </a:pPr>
            <a:pPr indent="0" marL="0">
              <a:lnSpc>
                <a:spcPct val="100000"/>
              </a:lnSpc>
              <a:buNone/>
            </a:pPr>
            <a:r>
              <a:rPr lang="en-US" sz="1000" dirty="0">
                <a:solidFill>
                  <a:srgbClr val="7EC8E3"/>
                </a:solidFill>
                <a:latin typeface="Courier New" pitchFamily="34" charset="0"/>
                <a:ea typeface="Courier New" pitchFamily="34" charset="-122"/>
                <a:cs typeface="Courier New" pitchFamily="34" charset="-120"/>
              </a:rPr>
              <a:t>name:</a:t>
            </a:r>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Alice             </a:t>
            </a:r>
            <a:pPr indent="0" marL="0">
              <a:lnSpc>
                <a:spcPct val="100000"/>
              </a:lnSpc>
              <a:buNone/>
            </a:pPr>
            <a:r>
              <a:rPr lang="en-US" sz="1000" dirty="0">
                <a:solidFill>
                  <a:srgbClr val="8B949E"/>
                </a:solidFill>
                <a:latin typeface="Courier New" pitchFamily="34" charset="0"/>
                <a:ea typeface="Courier New" pitchFamily="34" charset="-122"/>
                <a:cs typeface="Courier New" pitchFamily="34" charset="-120"/>
              </a:rPr>
              <a:t># key: value (mapping)</a:t>
            </a:r>
            <a:endParaRPr lang="en-US" sz="1000" dirty="0"/>
          </a:p>
          <a:p>
            <a:pPr indent="0" marL="0">
              <a:lnSpc>
                <a:spcPct val="100000"/>
              </a:lnSpc>
              <a:buNone/>
            </a:pPr>
            <a:pPr indent="0" marL="0">
              <a:lnSpc>
                <a:spcPct val="100000"/>
              </a:lnSpc>
              <a:buNone/>
            </a:pPr>
            <a:r>
              <a:rPr lang="en-US" sz="1000" dirty="0">
                <a:solidFill>
                  <a:srgbClr val="7EC8E3"/>
                </a:solidFill>
                <a:latin typeface="Courier New" pitchFamily="34" charset="0"/>
                <a:ea typeface="Courier New" pitchFamily="34" charset="-122"/>
                <a:cs typeface="Courier New" pitchFamily="34" charset="-120"/>
              </a:rPr>
              <a:t>age:</a:t>
            </a:r>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25</a:t>
            </a:r>
            <a:endParaRPr lang="en-US" sz="1000" dirty="0"/>
          </a:p>
          <a:p>
            <a:pPr indent="0" marL="0">
              <a:lnSpc>
                <a:spcPct val="100000"/>
              </a:lnSpc>
              <a:buNone/>
            </a:pPr>
            <a:pPr indent="0" marL="0">
              <a:lnSpc>
                <a:spcPct val="100000"/>
              </a:lnSpc>
              <a:buNone/>
            </a:pPr>
            <a:r>
              <a:rPr lang="en-US" sz="1000" dirty="0">
                <a:solidFill>
                  <a:srgbClr val="7EC8E3"/>
                </a:solidFill>
                <a:latin typeface="Courier New" pitchFamily="34" charset="0"/>
                <a:ea typeface="Courier New" pitchFamily="34" charset="-122"/>
                <a:cs typeface="Courier New" pitchFamily="34" charset="-120"/>
              </a:rPr>
              <a:t>is_admin:</a:t>
            </a:r>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true          </a:t>
            </a:r>
            <a:pPr indent="0" marL="0">
              <a:lnSpc>
                <a:spcPct val="100000"/>
              </a:lnSpc>
              <a:buNone/>
            </a:pPr>
            <a:r>
              <a:rPr lang="en-US" sz="1000" dirty="0">
                <a:solidFill>
                  <a:srgbClr val="8B949E"/>
                </a:solidFill>
                <a:latin typeface="Courier New" pitchFamily="34" charset="0"/>
                <a:ea typeface="Courier New" pitchFamily="34" charset="-122"/>
                <a:cs typeface="Courier New" pitchFamily="34" charset="-120"/>
              </a:rPr>
              <a:t># booleans: true / false</a:t>
            </a:r>
            <a:endParaRPr lang="en-US" sz="1000" dirty="0"/>
          </a:p>
          <a:p>
            <a:pPr indent="0" marL="0">
              <a:lnSpc>
                <a:spcPct val="100000"/>
              </a:lnSpc>
              <a:buNone/>
            </a:pPr>
            <a:pPr indent="0" marL="0">
              <a:lnSpc>
                <a:spcPct val="100000"/>
              </a:lnSpc>
              <a:buNone/>
            </a:pPr>
            <a:r>
              <a:rPr lang="en-US" sz="1000" dirty="0">
                <a:solidFill>
                  <a:srgbClr val="7EC8E3"/>
                </a:solidFill>
                <a:latin typeface="Courier New" pitchFamily="34" charset="0"/>
                <a:ea typeface="Courier New" pitchFamily="34" charset="-122"/>
                <a:cs typeface="Courier New" pitchFamily="34" charset="-120"/>
              </a:rPr>
              <a:t>packages:</a:t>
            </a:r>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1000" dirty="0">
                <a:solidFill>
                  <a:srgbClr val="8B949E"/>
                </a:solidFill>
                <a:latin typeface="Courier New" pitchFamily="34" charset="0"/>
                <a:ea typeface="Courier New" pitchFamily="34" charset="-122"/>
                <a:cs typeface="Courier New" pitchFamily="34" charset="-120"/>
              </a:rPr>
              <a:t># a list (sequence)</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 nginx</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 curl</a:t>
            </a:r>
            <a:endParaRPr lang="en-US" sz="1000" dirty="0"/>
          </a:p>
          <a:p>
            <a:pPr indent="0" marL="0">
              <a:lnSpc>
                <a:spcPct val="100000"/>
              </a:lnSpc>
              <a:buNone/>
            </a:pPr>
            <a:pPr indent="0" marL="0">
              <a:lnSpc>
                <a:spcPct val="100000"/>
              </a:lnSpc>
              <a:buNone/>
            </a:pPr>
            <a:r>
              <a:rPr lang="en-US" sz="1000" dirty="0">
                <a:solidFill>
                  <a:srgbClr val="7EC8E3"/>
                </a:solidFill>
                <a:latin typeface="Courier New" pitchFamily="34" charset="0"/>
                <a:ea typeface="Courier New" pitchFamily="34" charset="-122"/>
                <a:cs typeface="Courier New" pitchFamily="34" charset="-120"/>
              </a:rPr>
              <a:t>user:</a:t>
            </a:r>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1000" dirty="0">
                <a:solidFill>
                  <a:srgbClr val="8B949E"/>
                </a:solidFill>
                <a:latin typeface="Courier New" pitchFamily="34" charset="0"/>
                <a:ea typeface="Courier New" pitchFamily="34" charset="-122"/>
                <a:cs typeface="Courier New" pitchFamily="34" charset="-120"/>
              </a:rPr>
              <a:t># nested mapping</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1000" dirty="0">
                <a:solidFill>
                  <a:srgbClr val="7EC8E3"/>
                </a:solidFill>
                <a:latin typeface="Courier New" pitchFamily="34" charset="0"/>
                <a:ea typeface="Courier New" pitchFamily="34" charset="-122"/>
                <a:cs typeface="Courier New" pitchFamily="34" charset="-120"/>
              </a:rPr>
              <a:t>name:</a:t>
            </a:r>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bob</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1000" dirty="0">
                <a:solidFill>
                  <a:srgbClr val="7EC8E3"/>
                </a:solidFill>
                <a:latin typeface="Courier New" pitchFamily="34" charset="0"/>
                <a:ea typeface="Courier New" pitchFamily="34" charset="-122"/>
                <a:cs typeface="Courier New" pitchFamily="34" charset="-120"/>
              </a:rPr>
              <a:t>shell:</a:t>
            </a:r>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/bin/bash</a:t>
            </a:r>
            <a:endParaRPr lang="en-US" sz="1000" dirty="0"/>
          </a:p>
          <a:p>
            <a:pPr indent="0" marL="0">
              <a:lnSpc>
                <a:spcPct val="100000"/>
              </a:lnSpc>
              <a:buNone/>
            </a:pPr>
            <a:pPr indent="0" marL="0">
              <a:lnSpc>
                <a:spcPct val="100000"/>
              </a:lnSpc>
              <a:buNone/>
            </a:pPr>
            <a:r>
              <a:rPr lang="en-US" sz="1000" dirty="0">
                <a:solidFill>
                  <a:srgbClr val="7EC8E3"/>
                </a:solidFill>
                <a:latin typeface="Courier New" pitchFamily="34" charset="0"/>
                <a:ea typeface="Courier New" pitchFamily="34" charset="-122"/>
                <a:cs typeface="Courier New" pitchFamily="34" charset="-120"/>
              </a:rPr>
              <a:t>inline_list:</a:t>
            </a:r>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[a, b, c]</a:t>
            </a:r>
            <a:endParaRPr lang="en-US" sz="1000" dirty="0"/>
          </a:p>
          <a:p>
            <a:pPr indent="0" marL="0">
              <a:lnSpc>
                <a:spcPct val="100000"/>
              </a:lnSpc>
              <a:buNone/>
            </a:pPr>
            <a:pPr indent="0" marL="0">
              <a:lnSpc>
                <a:spcPct val="100000"/>
              </a:lnSpc>
              <a:buNone/>
            </a:pPr>
            <a:r>
              <a:rPr lang="en-US" sz="1000" dirty="0">
                <a:solidFill>
                  <a:srgbClr val="7EC8E3"/>
                </a:solidFill>
                <a:latin typeface="Courier New" pitchFamily="34" charset="0"/>
                <a:ea typeface="Courier New" pitchFamily="34" charset="-122"/>
                <a:cs typeface="Courier New" pitchFamily="34" charset="-120"/>
              </a:rPr>
              <a:t>inline_map:</a:t>
            </a:r>
            <a:pPr indent="0" marL="0">
              <a:lnSpc>
                <a:spcPct val="100000"/>
              </a:lnSpc>
              <a:buNone/>
            </a:pPr>
            <a:r>
              <a:rPr lang="en-US" sz="1000" dirty="0">
                <a:solidFill>
                  <a:srgbClr val="F2C67C"/>
                </a:solidFill>
                <a:latin typeface="Courier New" pitchFamily="34" charset="0"/>
                <a:ea typeface="Courier New" pitchFamily="34" charset="-122"/>
                <a:cs typeface="Courier New" pitchFamily="34" charset="-120"/>
              </a:rPr>
              <a:t> { k: v }</a:t>
            </a:r>
            <a:endParaRPr lang="en-US" sz="1000" dirty="0"/>
          </a:p>
          <a:p>
            <a:pPr indent="0" marL="0">
              <a:lnSpc>
                <a:spcPct val="100000"/>
              </a:lnSpc>
              <a:buNone/>
            </a:pPr>
            <a:pPr indent="0" marL="0">
              <a:lnSpc>
                <a:spcPct val="100000"/>
              </a:lnSpc>
              <a:buNone/>
            </a:pPr>
            <a:r>
              <a:rPr lang="en-US" sz="1000" dirty="0">
                <a:solidFill>
                  <a:srgbClr val="7EC8E3"/>
                </a:solidFill>
                <a:latin typeface="Courier New" pitchFamily="34" charset="0"/>
                <a:ea typeface="Courier New" pitchFamily="34" charset="-122"/>
                <a:cs typeface="Courier New" pitchFamily="34" charset="-120"/>
              </a:rPr>
              <a:t>message:</a:t>
            </a:r>
            <a:pPr indent="0" marL="0">
              <a:lnSpc>
                <a:spcPct val="100000"/>
              </a:lnSpc>
              <a:buNone/>
            </a:pPr>
            <a:r>
              <a:rPr lang="en-US" sz="1000" dirty="0">
                <a:solidFill>
                  <a:srgbClr val="F2C67C"/>
                </a:solidFill>
                <a:latin typeface="Courier New" pitchFamily="34" charset="0"/>
                <a:ea typeface="Courier New" pitchFamily="34" charset="-122"/>
                <a:cs typeface="Courier New" pitchFamily="34" charset="-120"/>
              </a:rPr>
              <a:t> "Use quotes for {{ vars }} and : chars"</a:t>
            </a:r>
            <a:endParaRPr lang="en-US" sz="1000" dirty="0"/>
          </a:p>
          <a:p>
            <a:pPr indent="0" marL="0">
              <a:lnSpc>
                <a:spcPct val="100000"/>
              </a:lnSpc>
              <a:buNone/>
            </a:pPr>
            <a:pPr indent="0" marL="0">
              <a:lnSpc>
                <a:spcPct val="100000"/>
              </a:lnSpc>
              <a:buNone/>
            </a:pPr>
            <a:r>
              <a:rPr lang="en-US" sz="1000" dirty="0">
                <a:solidFill>
                  <a:srgbClr val="7EC8E3"/>
                </a:solidFill>
                <a:latin typeface="Courier New" pitchFamily="34" charset="0"/>
                <a:ea typeface="Courier New" pitchFamily="34" charset="-122"/>
                <a:cs typeface="Courier New" pitchFamily="34" charset="-120"/>
              </a:rPr>
              <a:t>multi:</a:t>
            </a:r>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                </a:t>
            </a:r>
            <a:pPr indent="0" marL="0">
              <a:lnSpc>
                <a:spcPct val="100000"/>
              </a:lnSpc>
              <a:buNone/>
            </a:pPr>
            <a:r>
              <a:rPr lang="en-US" sz="1000" dirty="0">
                <a:solidFill>
                  <a:srgbClr val="8B949E"/>
                </a:solidFill>
                <a:latin typeface="Courier New" pitchFamily="34" charset="0"/>
                <a:ea typeface="Courier New" pitchFamily="34" charset="-122"/>
                <a:cs typeface="Courier New" pitchFamily="34" charset="-120"/>
              </a:rPr>
              <a:t># keep line breaks</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line one</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line two</a:t>
            </a:r>
            <a:endParaRPr lang="en-US" sz="1000" dirty="0"/>
          </a:p>
        </p:txBody>
      </p:sp>
      <p:sp>
        <p:nvSpPr>
          <p:cNvPr id="7" name="Shape 5"/>
          <p:cNvSpPr/>
          <p:nvPr/>
        </p:nvSpPr>
        <p:spPr>
          <a:xfrm>
            <a:off x="5074920" y="1280160"/>
            <a:ext cx="411480" cy="411480"/>
          </a:xfrm>
          <a:prstGeom prst="ellipse">
            <a:avLst/>
          </a:prstGeom>
          <a:solidFill>
            <a:srgbClr val="D92D27"/>
          </a:solidFill>
          <a:ln w="12700">
            <a:solidFill>
              <a:srgbClr val="D92D27"/>
            </a:solidFill>
            <a:prstDash val="solid"/>
          </a:ln>
        </p:spPr>
      </p:sp>
      <p:pic>
        <p:nvPicPr>
          <p:cNvPr id="8" name="Image 0" descr="preencoded.png">    </p:cNvPr>
          <p:cNvPicPr>
            <a:picLocks noChangeAspect="1"/>
          </p:cNvPicPr>
          <p:nvPr/>
        </p:nvPicPr>
        <p:blipFill>
          <a:blip r:embed="rId1"/>
          <a:stretch>
            <a:fillRect/>
          </a:stretch>
        </p:blipFill>
        <p:spPr>
          <a:xfrm>
            <a:off x="5181905" y="1387145"/>
            <a:ext cx="197510" cy="197510"/>
          </a:xfrm>
          <a:prstGeom prst="rect">
            <a:avLst/>
          </a:prstGeom>
        </p:spPr>
      </p:pic>
      <p:sp>
        <p:nvSpPr>
          <p:cNvPr id="9" name="Text 6"/>
          <p:cNvSpPr txBox="1"/>
          <p:nvPr/>
        </p:nvSpPr>
        <p:spPr>
          <a:xfrm>
            <a:off x="5623560" y="1280160"/>
            <a:ext cx="3108960" cy="411480"/>
          </a:xfrm>
          <a:prstGeom prst="rect">
            <a:avLst/>
          </a:prstGeom>
          <a:noFill/>
          <a:ln/>
        </p:spPr>
        <p:txBody>
          <a:bodyPr wrap="square" lIns="0" tIns="0" rIns="0" bIns="0" rtlCol="0" anchor="ctr"/>
          <a:lstStyle/>
          <a:p>
            <a:pPr indent="0" marL="0">
              <a:buNone/>
            </a:pPr>
            <a:r>
              <a:rPr lang="en-US" sz="1300" dirty="0">
                <a:solidFill>
                  <a:srgbClr val="1F2328"/>
                </a:solidFill>
                <a:latin typeface="Calibri" pitchFamily="34" charset="0"/>
                <a:ea typeface="Calibri" pitchFamily="34" charset="-122"/>
                <a:cs typeface="Calibri" pitchFamily="34" charset="-120"/>
              </a:rPr>
              <a:t>Spaces only — never tabs</a:t>
            </a:r>
            <a:endParaRPr lang="en-US" sz="1300" dirty="0"/>
          </a:p>
        </p:txBody>
      </p:sp>
      <p:sp>
        <p:nvSpPr>
          <p:cNvPr id="10" name="Shape 7"/>
          <p:cNvSpPr/>
          <p:nvPr/>
        </p:nvSpPr>
        <p:spPr>
          <a:xfrm>
            <a:off x="5074920" y="1828800"/>
            <a:ext cx="411480" cy="411480"/>
          </a:xfrm>
          <a:prstGeom prst="ellipse">
            <a:avLst/>
          </a:prstGeom>
          <a:solidFill>
            <a:srgbClr val="1F2328"/>
          </a:solidFill>
          <a:ln w="12700">
            <a:solidFill>
              <a:srgbClr val="1F2328"/>
            </a:solidFill>
            <a:prstDash val="solid"/>
          </a:ln>
        </p:spPr>
      </p:sp>
      <p:pic>
        <p:nvPicPr>
          <p:cNvPr id="11" name="Image 1" descr="preencoded.png">    </p:cNvPr>
          <p:cNvPicPr>
            <a:picLocks noChangeAspect="1"/>
          </p:cNvPicPr>
          <p:nvPr/>
        </p:nvPicPr>
        <p:blipFill>
          <a:blip r:embed="rId2"/>
          <a:stretch>
            <a:fillRect/>
          </a:stretch>
        </p:blipFill>
        <p:spPr>
          <a:xfrm>
            <a:off x="5181905" y="1935785"/>
            <a:ext cx="197510" cy="197510"/>
          </a:xfrm>
          <a:prstGeom prst="rect">
            <a:avLst/>
          </a:prstGeom>
        </p:spPr>
      </p:pic>
      <p:sp>
        <p:nvSpPr>
          <p:cNvPr id="12" name="Text 8"/>
          <p:cNvSpPr txBox="1"/>
          <p:nvPr/>
        </p:nvSpPr>
        <p:spPr>
          <a:xfrm>
            <a:off x="5623560" y="1828800"/>
            <a:ext cx="3108960" cy="411480"/>
          </a:xfrm>
          <a:prstGeom prst="rect">
            <a:avLst/>
          </a:prstGeom>
          <a:noFill/>
          <a:ln/>
        </p:spPr>
        <p:txBody>
          <a:bodyPr wrap="square" lIns="0" tIns="0" rIns="0" bIns="0" rtlCol="0" anchor="ctr"/>
          <a:lstStyle/>
          <a:p>
            <a:pPr indent="0" marL="0">
              <a:buNone/>
            </a:pPr>
            <a:r>
              <a:rPr lang="en-US" sz="1300" dirty="0">
                <a:solidFill>
                  <a:srgbClr val="1F2328"/>
                </a:solidFill>
                <a:latin typeface="Calibri" pitchFamily="34" charset="0"/>
                <a:ea typeface="Calibri" pitchFamily="34" charset="-122"/>
                <a:cs typeface="Calibri" pitchFamily="34" charset="-120"/>
              </a:rPr>
              <a:t>Indent consistently (2 spaces)</a:t>
            </a:r>
            <a:endParaRPr lang="en-US" sz="1300" dirty="0"/>
          </a:p>
        </p:txBody>
      </p:sp>
      <p:sp>
        <p:nvSpPr>
          <p:cNvPr id="13" name="Shape 9"/>
          <p:cNvSpPr/>
          <p:nvPr/>
        </p:nvSpPr>
        <p:spPr>
          <a:xfrm>
            <a:off x="5074920" y="2377440"/>
            <a:ext cx="411480" cy="411480"/>
          </a:xfrm>
          <a:prstGeom prst="ellipse">
            <a:avLst/>
          </a:prstGeom>
          <a:solidFill>
            <a:srgbClr val="1F2328"/>
          </a:solidFill>
          <a:ln w="12700">
            <a:solidFill>
              <a:srgbClr val="1F2328"/>
            </a:solidFill>
            <a:prstDash val="solid"/>
          </a:ln>
        </p:spPr>
      </p:sp>
      <p:pic>
        <p:nvPicPr>
          <p:cNvPr id="14" name="Image 2" descr="preencoded.png">    </p:cNvPr>
          <p:cNvPicPr>
            <a:picLocks noChangeAspect="1"/>
          </p:cNvPicPr>
          <p:nvPr/>
        </p:nvPicPr>
        <p:blipFill>
          <a:blip r:embed="rId3"/>
          <a:stretch>
            <a:fillRect/>
          </a:stretch>
        </p:blipFill>
        <p:spPr>
          <a:xfrm>
            <a:off x="5181905" y="2484425"/>
            <a:ext cx="197510" cy="197510"/>
          </a:xfrm>
          <a:prstGeom prst="rect">
            <a:avLst/>
          </a:prstGeom>
        </p:spPr>
      </p:pic>
      <p:sp>
        <p:nvSpPr>
          <p:cNvPr id="15" name="Text 10"/>
          <p:cNvSpPr txBox="1"/>
          <p:nvPr/>
        </p:nvSpPr>
        <p:spPr>
          <a:xfrm>
            <a:off x="5623560" y="2377440"/>
            <a:ext cx="3108960" cy="411480"/>
          </a:xfrm>
          <a:prstGeom prst="rect">
            <a:avLst/>
          </a:prstGeom>
          <a:noFill/>
          <a:ln/>
        </p:spPr>
        <p:txBody>
          <a:bodyPr wrap="square" lIns="0" tIns="0" rIns="0" bIns="0" rtlCol="0" anchor="ctr"/>
          <a:lstStyle/>
          <a:p>
            <a:pPr indent="0" marL="0">
              <a:buNone/>
            </a:pPr>
            <a:r>
              <a:rPr lang="en-US" sz="1300" dirty="0">
                <a:solidFill>
                  <a:srgbClr val="1F2328"/>
                </a:solidFill>
                <a:latin typeface="Calibri" pitchFamily="34" charset="0"/>
                <a:ea typeface="Calibri" pitchFamily="34" charset="-122"/>
                <a:cs typeface="Calibri" pitchFamily="34" charset="-120"/>
              </a:rPr>
              <a:t>"- " starts a list item</a:t>
            </a:r>
            <a:endParaRPr lang="en-US" sz="1300" dirty="0"/>
          </a:p>
        </p:txBody>
      </p:sp>
      <p:sp>
        <p:nvSpPr>
          <p:cNvPr id="16" name="Shape 11"/>
          <p:cNvSpPr/>
          <p:nvPr/>
        </p:nvSpPr>
        <p:spPr>
          <a:xfrm>
            <a:off x="5074920" y="2926080"/>
            <a:ext cx="411480" cy="411480"/>
          </a:xfrm>
          <a:prstGeom prst="ellipse">
            <a:avLst/>
          </a:prstGeom>
          <a:solidFill>
            <a:srgbClr val="1F2328"/>
          </a:solidFill>
          <a:ln w="12700">
            <a:solidFill>
              <a:srgbClr val="1F2328"/>
            </a:solidFill>
            <a:prstDash val="solid"/>
          </a:ln>
        </p:spPr>
      </p:sp>
      <p:pic>
        <p:nvPicPr>
          <p:cNvPr id="17" name="Image 3" descr="preencoded.png">    </p:cNvPr>
          <p:cNvPicPr>
            <a:picLocks noChangeAspect="1"/>
          </p:cNvPicPr>
          <p:nvPr/>
        </p:nvPicPr>
        <p:blipFill>
          <a:blip r:embed="rId4"/>
          <a:stretch>
            <a:fillRect/>
          </a:stretch>
        </p:blipFill>
        <p:spPr>
          <a:xfrm>
            <a:off x="5181905" y="3033065"/>
            <a:ext cx="197510" cy="197510"/>
          </a:xfrm>
          <a:prstGeom prst="rect">
            <a:avLst/>
          </a:prstGeom>
        </p:spPr>
      </p:pic>
      <p:sp>
        <p:nvSpPr>
          <p:cNvPr id="18" name="Text 12"/>
          <p:cNvSpPr txBox="1"/>
          <p:nvPr/>
        </p:nvSpPr>
        <p:spPr>
          <a:xfrm>
            <a:off x="5623560" y="2926080"/>
            <a:ext cx="3108960" cy="411480"/>
          </a:xfrm>
          <a:prstGeom prst="rect">
            <a:avLst/>
          </a:prstGeom>
          <a:noFill/>
          <a:ln/>
        </p:spPr>
        <p:txBody>
          <a:bodyPr wrap="square" lIns="0" tIns="0" rIns="0" bIns="0" rtlCol="0" anchor="ctr"/>
          <a:lstStyle/>
          <a:p>
            <a:pPr indent="0" marL="0">
              <a:buNone/>
            </a:pPr>
            <a:r>
              <a:rPr lang="en-US" sz="1300" dirty="0">
                <a:solidFill>
                  <a:srgbClr val="1F2328"/>
                </a:solidFill>
                <a:latin typeface="Calibri" pitchFamily="34" charset="0"/>
                <a:ea typeface="Calibri" pitchFamily="34" charset="-122"/>
                <a:cs typeface="Calibri" pitchFamily="34" charset="-120"/>
              </a:rPr>
              <a:t>Space after the colon: key: value</a:t>
            </a:r>
            <a:endParaRPr lang="en-US" sz="1300" dirty="0"/>
          </a:p>
        </p:txBody>
      </p:sp>
      <p:sp>
        <p:nvSpPr>
          <p:cNvPr id="19" name="Shape 13"/>
          <p:cNvSpPr/>
          <p:nvPr/>
        </p:nvSpPr>
        <p:spPr>
          <a:xfrm>
            <a:off x="5074920" y="3474720"/>
            <a:ext cx="411480" cy="411480"/>
          </a:xfrm>
          <a:prstGeom prst="ellipse">
            <a:avLst/>
          </a:prstGeom>
          <a:solidFill>
            <a:srgbClr val="C98A0B"/>
          </a:solidFill>
          <a:ln w="12700">
            <a:solidFill>
              <a:srgbClr val="C98A0B"/>
            </a:solidFill>
            <a:prstDash val="solid"/>
          </a:ln>
        </p:spPr>
      </p:sp>
      <p:pic>
        <p:nvPicPr>
          <p:cNvPr id="20" name="Image 4" descr="preencoded.png">    </p:cNvPr>
          <p:cNvPicPr>
            <a:picLocks noChangeAspect="1"/>
          </p:cNvPicPr>
          <p:nvPr/>
        </p:nvPicPr>
        <p:blipFill>
          <a:blip r:embed="rId5"/>
          <a:stretch>
            <a:fillRect/>
          </a:stretch>
        </p:blipFill>
        <p:spPr>
          <a:xfrm>
            <a:off x="5181905" y="3581705"/>
            <a:ext cx="197510" cy="197510"/>
          </a:xfrm>
          <a:prstGeom prst="rect">
            <a:avLst/>
          </a:prstGeom>
        </p:spPr>
      </p:pic>
      <p:sp>
        <p:nvSpPr>
          <p:cNvPr id="21" name="Text 14"/>
          <p:cNvSpPr txBox="1"/>
          <p:nvPr/>
        </p:nvSpPr>
        <p:spPr>
          <a:xfrm>
            <a:off x="5623560" y="3474720"/>
            <a:ext cx="3108960" cy="411480"/>
          </a:xfrm>
          <a:prstGeom prst="rect">
            <a:avLst/>
          </a:prstGeom>
          <a:noFill/>
          <a:ln/>
        </p:spPr>
        <p:txBody>
          <a:bodyPr wrap="square" lIns="0" tIns="0" rIns="0" bIns="0" rtlCol="0" anchor="ctr"/>
          <a:lstStyle/>
          <a:p>
            <a:pPr indent="0" marL="0">
              <a:buNone/>
            </a:pPr>
            <a:r>
              <a:rPr lang="en-US" sz="1300" dirty="0">
                <a:solidFill>
                  <a:srgbClr val="1F2328"/>
                </a:solidFill>
                <a:latin typeface="Calibri" pitchFamily="34" charset="0"/>
                <a:ea typeface="Calibri" pitchFamily="34" charset="-122"/>
                <a:cs typeface="Calibri" pitchFamily="34" charset="-120"/>
              </a:rPr>
              <a:t>Quote values that start with {{</a:t>
            </a:r>
            <a:endParaRPr lang="en-US" sz="1300" dirty="0"/>
          </a:p>
        </p:txBody>
      </p:sp>
      <p:sp>
        <p:nvSpPr>
          <p:cNvPr id="22" name="Shape 15"/>
          <p:cNvSpPr/>
          <p:nvPr/>
        </p:nvSpPr>
        <p:spPr>
          <a:xfrm>
            <a:off x="5074920" y="4023360"/>
            <a:ext cx="411480" cy="411480"/>
          </a:xfrm>
          <a:prstGeom prst="ellipse">
            <a:avLst/>
          </a:prstGeom>
          <a:solidFill>
            <a:srgbClr val="2E8B57"/>
          </a:solidFill>
          <a:ln w="12700">
            <a:solidFill>
              <a:srgbClr val="2E8B57"/>
            </a:solidFill>
            <a:prstDash val="solid"/>
          </a:ln>
        </p:spPr>
      </p:sp>
      <p:pic>
        <p:nvPicPr>
          <p:cNvPr id="23" name="Image 5" descr="preencoded.png">    </p:cNvPr>
          <p:cNvPicPr>
            <a:picLocks noChangeAspect="1"/>
          </p:cNvPicPr>
          <p:nvPr/>
        </p:nvPicPr>
        <p:blipFill>
          <a:blip r:embed="rId6"/>
          <a:stretch>
            <a:fillRect/>
          </a:stretch>
        </p:blipFill>
        <p:spPr>
          <a:xfrm>
            <a:off x="5181905" y="4130345"/>
            <a:ext cx="197510" cy="197510"/>
          </a:xfrm>
          <a:prstGeom prst="rect">
            <a:avLst/>
          </a:prstGeom>
        </p:spPr>
      </p:pic>
      <p:sp>
        <p:nvSpPr>
          <p:cNvPr id="24" name="Text 16"/>
          <p:cNvSpPr txBox="1"/>
          <p:nvPr/>
        </p:nvSpPr>
        <p:spPr>
          <a:xfrm>
            <a:off x="5623560" y="4023360"/>
            <a:ext cx="3108960" cy="411480"/>
          </a:xfrm>
          <a:prstGeom prst="rect">
            <a:avLst/>
          </a:prstGeom>
          <a:noFill/>
          <a:ln/>
        </p:spPr>
        <p:txBody>
          <a:bodyPr wrap="square" lIns="0" tIns="0" rIns="0" bIns="0" rtlCol="0" anchor="ctr"/>
          <a:lstStyle/>
          <a:p>
            <a:pPr indent="0" marL="0">
              <a:buNone/>
            </a:pPr>
            <a:r>
              <a:rPr lang="en-US" sz="1300" dirty="0">
                <a:solidFill>
                  <a:srgbClr val="1F2328"/>
                </a:solidFill>
                <a:latin typeface="Calibri" pitchFamily="34" charset="0"/>
                <a:ea typeface="Calibri" pitchFamily="34" charset="-122"/>
                <a:cs typeface="Calibri" pitchFamily="34" charset="-120"/>
              </a:rPr>
              <a:t>Check: --syntax-check / ansible-lint</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9AA1AA"/>
                </a:solidFill>
                <a:latin typeface="Calibri" pitchFamily="34" charset="0"/>
                <a:ea typeface="Calibri" pitchFamily="34" charset="-122"/>
                <a:cs typeface="Calibri" pitchFamily="34" charset="-120"/>
              </a:rPr>
              <a:t>23</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Playbook → Play → Task → Module</a:t>
            </a:r>
            <a:endParaRPr lang="en-US" sz="2800" dirty="0"/>
          </a:p>
        </p:txBody>
      </p:sp>
      <p:sp>
        <p:nvSpPr>
          <p:cNvPr id="4" name="Shape 2"/>
          <p:cNvSpPr/>
          <p:nvPr/>
        </p:nvSpPr>
        <p:spPr>
          <a:xfrm>
            <a:off x="457200" y="1097280"/>
            <a:ext cx="4754880" cy="3520440"/>
          </a:xfrm>
          <a:prstGeom prst="roundRect">
            <a:avLst>
              <a:gd name="adj" fmla="val 1558"/>
            </a:avLst>
          </a:prstGeom>
          <a:solidFill>
            <a:srgbClr val="F7DDDB"/>
          </a:solidFill>
          <a:ln w="12700">
            <a:solidFill>
              <a:srgbClr val="F7DDDB"/>
            </a:solidFill>
            <a:prstDash val="solid"/>
          </a:ln>
        </p:spPr>
      </p:sp>
      <p:sp>
        <p:nvSpPr>
          <p:cNvPr id="5" name="Text 3"/>
          <p:cNvSpPr txBox="1"/>
          <p:nvPr/>
        </p:nvSpPr>
        <p:spPr>
          <a:xfrm>
            <a:off x="594360" y="1161288"/>
            <a:ext cx="4480560" cy="274320"/>
          </a:xfrm>
          <a:prstGeom prst="rect">
            <a:avLst/>
          </a:prstGeom>
          <a:noFill/>
          <a:ln/>
        </p:spPr>
        <p:txBody>
          <a:bodyPr wrap="square" lIns="0" tIns="0" rIns="0" bIns="0" rtlCol="0" anchor="t"/>
          <a:lstStyle/>
          <a:p>
            <a:pPr indent="0" marL="0">
              <a:buNone/>
            </a:pPr>
            <a:r>
              <a:rPr lang="en-US" sz="1150" b="1" dirty="0">
                <a:solidFill>
                  <a:srgbClr val="1F2328"/>
                </a:solidFill>
                <a:latin typeface="Courier New" pitchFamily="34" charset="0"/>
                <a:ea typeface="Courier New" pitchFamily="34" charset="-122"/>
                <a:cs typeface="Courier New" pitchFamily="34" charset="-120"/>
              </a:rPr>
              <a:t>PLAYBOOK  ·  site.yml</a:t>
            </a:r>
            <a:endParaRPr lang="en-US" sz="1150" dirty="0"/>
          </a:p>
        </p:txBody>
      </p:sp>
      <p:sp>
        <p:nvSpPr>
          <p:cNvPr id="6" name="Shape 4"/>
          <p:cNvSpPr/>
          <p:nvPr/>
        </p:nvSpPr>
        <p:spPr>
          <a:xfrm>
            <a:off x="685800" y="1508760"/>
            <a:ext cx="4297680" cy="1417320"/>
          </a:xfrm>
          <a:prstGeom prst="roundRect">
            <a:avLst>
              <a:gd name="adj" fmla="val 3871"/>
            </a:avLst>
          </a:prstGeom>
          <a:solidFill>
            <a:srgbClr val="EDA29F"/>
          </a:solidFill>
          <a:ln w="12700">
            <a:solidFill>
              <a:srgbClr val="EDA29F"/>
            </a:solidFill>
            <a:prstDash val="solid"/>
          </a:ln>
        </p:spPr>
      </p:sp>
      <p:sp>
        <p:nvSpPr>
          <p:cNvPr id="7" name="Text 5"/>
          <p:cNvSpPr txBox="1"/>
          <p:nvPr/>
        </p:nvSpPr>
        <p:spPr>
          <a:xfrm>
            <a:off x="822960" y="1572768"/>
            <a:ext cx="4023360" cy="274320"/>
          </a:xfrm>
          <a:prstGeom prst="rect">
            <a:avLst/>
          </a:prstGeom>
          <a:noFill/>
          <a:ln/>
        </p:spPr>
        <p:txBody>
          <a:bodyPr wrap="square" lIns="0" tIns="0" rIns="0" bIns="0" rtlCol="0" anchor="t"/>
          <a:lstStyle/>
          <a:p>
            <a:pPr indent="0" marL="0">
              <a:buNone/>
            </a:pPr>
            <a:r>
              <a:rPr lang="en-US" sz="1150" b="1" dirty="0">
                <a:solidFill>
                  <a:srgbClr val="1F2328"/>
                </a:solidFill>
                <a:latin typeface="Courier New" pitchFamily="34" charset="0"/>
                <a:ea typeface="Courier New" pitchFamily="34" charset="-122"/>
                <a:cs typeface="Courier New" pitchFamily="34" charset="-120"/>
              </a:rPr>
              <a:t>PLAY 1  ·  hosts: webservers</a:t>
            </a:r>
            <a:endParaRPr lang="en-US" sz="1150" dirty="0"/>
          </a:p>
        </p:txBody>
      </p:sp>
      <p:sp>
        <p:nvSpPr>
          <p:cNvPr id="8" name="Shape 6"/>
          <p:cNvSpPr/>
          <p:nvPr/>
        </p:nvSpPr>
        <p:spPr>
          <a:xfrm>
            <a:off x="685800" y="3063240"/>
            <a:ext cx="4297680" cy="1371600"/>
          </a:xfrm>
          <a:prstGeom prst="roundRect">
            <a:avLst>
              <a:gd name="adj" fmla="val 4000"/>
            </a:avLst>
          </a:prstGeom>
          <a:solidFill>
            <a:srgbClr val="EDA29F"/>
          </a:solidFill>
          <a:ln w="12700">
            <a:solidFill>
              <a:srgbClr val="EDA29F"/>
            </a:solidFill>
            <a:prstDash val="solid"/>
          </a:ln>
        </p:spPr>
      </p:sp>
      <p:sp>
        <p:nvSpPr>
          <p:cNvPr id="9" name="Text 7"/>
          <p:cNvSpPr txBox="1"/>
          <p:nvPr/>
        </p:nvSpPr>
        <p:spPr>
          <a:xfrm>
            <a:off x="822960" y="3127248"/>
            <a:ext cx="4023360" cy="274320"/>
          </a:xfrm>
          <a:prstGeom prst="rect">
            <a:avLst/>
          </a:prstGeom>
          <a:noFill/>
          <a:ln/>
        </p:spPr>
        <p:txBody>
          <a:bodyPr wrap="square" lIns="0" tIns="0" rIns="0" bIns="0" rtlCol="0" anchor="t"/>
          <a:lstStyle/>
          <a:p>
            <a:pPr indent="0" marL="0">
              <a:buNone/>
            </a:pPr>
            <a:r>
              <a:rPr lang="en-US" sz="1150" b="1" dirty="0">
                <a:solidFill>
                  <a:srgbClr val="1F2328"/>
                </a:solidFill>
                <a:latin typeface="Courier New" pitchFamily="34" charset="0"/>
                <a:ea typeface="Courier New" pitchFamily="34" charset="-122"/>
                <a:cs typeface="Courier New" pitchFamily="34" charset="-120"/>
              </a:rPr>
              <a:t>PLAY 2  ·  hosts: dbservers</a:t>
            </a:r>
            <a:endParaRPr lang="en-US" sz="1150" dirty="0"/>
          </a:p>
        </p:txBody>
      </p:sp>
      <p:sp>
        <p:nvSpPr>
          <p:cNvPr id="10" name="Shape 8"/>
          <p:cNvSpPr/>
          <p:nvPr/>
        </p:nvSpPr>
        <p:spPr>
          <a:xfrm>
            <a:off x="914400" y="1920240"/>
            <a:ext cx="3840480" cy="365760"/>
          </a:xfrm>
          <a:prstGeom prst="roundRect">
            <a:avLst>
              <a:gd name="adj" fmla="val 12500"/>
            </a:avLst>
          </a:prstGeom>
          <a:solidFill>
            <a:srgbClr val="FFFFFF"/>
          </a:solidFill>
          <a:ln w="12700">
            <a:solidFill>
              <a:srgbClr val="FFFFFF"/>
            </a:solidFill>
            <a:prstDash val="solid"/>
          </a:ln>
        </p:spPr>
      </p:sp>
      <p:sp>
        <p:nvSpPr>
          <p:cNvPr id="11" name="Text 9"/>
          <p:cNvSpPr txBox="1"/>
          <p:nvPr/>
        </p:nvSpPr>
        <p:spPr>
          <a:xfrm>
            <a:off x="1024128" y="1920240"/>
            <a:ext cx="2560320" cy="365760"/>
          </a:xfrm>
          <a:prstGeom prst="rect">
            <a:avLst/>
          </a:prstGeom>
          <a:noFill/>
          <a:ln/>
        </p:spPr>
        <p:txBody>
          <a:bodyPr wrap="square" lIns="0" tIns="0" rIns="0" bIns="0" rtlCol="0" anchor="ctr"/>
          <a:lstStyle/>
          <a:p>
            <a:pPr indent="0" marL="0">
              <a:buNone/>
            </a:pPr>
            <a:r>
              <a:rPr lang="en-US" sz="1150" dirty="0">
                <a:solidFill>
                  <a:srgbClr val="1F2328"/>
                </a:solidFill>
                <a:latin typeface="Calibri" pitchFamily="34" charset="0"/>
                <a:ea typeface="Calibri" pitchFamily="34" charset="-122"/>
                <a:cs typeface="Calibri" pitchFamily="34" charset="-120"/>
              </a:rPr>
              <a:t>Task: Install nginx</a:t>
            </a:r>
            <a:endParaRPr lang="en-US" sz="1150" dirty="0"/>
          </a:p>
        </p:txBody>
      </p:sp>
      <p:sp>
        <p:nvSpPr>
          <p:cNvPr id="12" name="Shape 10"/>
          <p:cNvSpPr/>
          <p:nvPr/>
        </p:nvSpPr>
        <p:spPr>
          <a:xfrm>
            <a:off x="3703320" y="1984248"/>
            <a:ext cx="960120" cy="237744"/>
          </a:xfrm>
          <a:prstGeom prst="roundRect">
            <a:avLst>
              <a:gd name="adj" fmla="val 19231"/>
            </a:avLst>
          </a:prstGeom>
          <a:solidFill>
            <a:srgbClr val="D92D27"/>
          </a:solidFill>
          <a:ln w="12700">
            <a:solidFill>
              <a:srgbClr val="D92D27"/>
            </a:solidFill>
            <a:prstDash val="solid"/>
          </a:ln>
        </p:spPr>
      </p:sp>
      <p:sp>
        <p:nvSpPr>
          <p:cNvPr id="13" name="Text 11"/>
          <p:cNvSpPr txBox="1"/>
          <p:nvPr/>
        </p:nvSpPr>
        <p:spPr>
          <a:xfrm>
            <a:off x="3703320" y="1984248"/>
            <a:ext cx="9601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apt</a:t>
            </a:r>
            <a:endParaRPr lang="en-US" sz="1000" dirty="0"/>
          </a:p>
        </p:txBody>
      </p:sp>
      <p:sp>
        <p:nvSpPr>
          <p:cNvPr id="14" name="Shape 12"/>
          <p:cNvSpPr/>
          <p:nvPr/>
        </p:nvSpPr>
        <p:spPr>
          <a:xfrm>
            <a:off x="914400" y="2377440"/>
            <a:ext cx="3840480" cy="365760"/>
          </a:xfrm>
          <a:prstGeom prst="roundRect">
            <a:avLst>
              <a:gd name="adj" fmla="val 12500"/>
            </a:avLst>
          </a:prstGeom>
          <a:solidFill>
            <a:srgbClr val="FFFFFF"/>
          </a:solidFill>
          <a:ln w="12700">
            <a:solidFill>
              <a:srgbClr val="FFFFFF"/>
            </a:solidFill>
            <a:prstDash val="solid"/>
          </a:ln>
        </p:spPr>
      </p:sp>
      <p:sp>
        <p:nvSpPr>
          <p:cNvPr id="15" name="Text 13"/>
          <p:cNvSpPr txBox="1"/>
          <p:nvPr/>
        </p:nvSpPr>
        <p:spPr>
          <a:xfrm>
            <a:off x="1024128" y="2377440"/>
            <a:ext cx="2560320" cy="365760"/>
          </a:xfrm>
          <a:prstGeom prst="rect">
            <a:avLst/>
          </a:prstGeom>
          <a:noFill/>
          <a:ln/>
        </p:spPr>
        <p:txBody>
          <a:bodyPr wrap="square" lIns="0" tIns="0" rIns="0" bIns="0" rtlCol="0" anchor="ctr"/>
          <a:lstStyle/>
          <a:p>
            <a:pPr indent="0" marL="0">
              <a:buNone/>
            </a:pPr>
            <a:r>
              <a:rPr lang="en-US" sz="1150" dirty="0">
                <a:solidFill>
                  <a:srgbClr val="1F2328"/>
                </a:solidFill>
                <a:latin typeface="Calibri" pitchFamily="34" charset="0"/>
                <a:ea typeface="Calibri" pitchFamily="34" charset="-122"/>
                <a:cs typeface="Calibri" pitchFamily="34" charset="-120"/>
              </a:rPr>
              <a:t>Task: Start nginx</a:t>
            </a:r>
            <a:endParaRPr lang="en-US" sz="1150" dirty="0"/>
          </a:p>
        </p:txBody>
      </p:sp>
      <p:sp>
        <p:nvSpPr>
          <p:cNvPr id="16" name="Shape 14"/>
          <p:cNvSpPr/>
          <p:nvPr/>
        </p:nvSpPr>
        <p:spPr>
          <a:xfrm>
            <a:off x="3703320" y="2441448"/>
            <a:ext cx="960120" cy="237744"/>
          </a:xfrm>
          <a:prstGeom prst="roundRect">
            <a:avLst>
              <a:gd name="adj" fmla="val 19231"/>
            </a:avLst>
          </a:prstGeom>
          <a:solidFill>
            <a:srgbClr val="D92D27"/>
          </a:solidFill>
          <a:ln w="12700">
            <a:solidFill>
              <a:srgbClr val="D92D27"/>
            </a:solidFill>
            <a:prstDash val="solid"/>
          </a:ln>
        </p:spPr>
      </p:sp>
      <p:sp>
        <p:nvSpPr>
          <p:cNvPr id="17" name="Text 15"/>
          <p:cNvSpPr txBox="1"/>
          <p:nvPr/>
        </p:nvSpPr>
        <p:spPr>
          <a:xfrm>
            <a:off x="3703320" y="2441448"/>
            <a:ext cx="9601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service</a:t>
            </a:r>
            <a:endParaRPr lang="en-US" sz="1000" dirty="0"/>
          </a:p>
        </p:txBody>
      </p:sp>
      <p:sp>
        <p:nvSpPr>
          <p:cNvPr id="18" name="Shape 16"/>
          <p:cNvSpPr/>
          <p:nvPr/>
        </p:nvSpPr>
        <p:spPr>
          <a:xfrm>
            <a:off x="914400" y="3474720"/>
            <a:ext cx="3840480" cy="365760"/>
          </a:xfrm>
          <a:prstGeom prst="roundRect">
            <a:avLst>
              <a:gd name="adj" fmla="val 12500"/>
            </a:avLst>
          </a:prstGeom>
          <a:solidFill>
            <a:srgbClr val="FFFFFF"/>
          </a:solidFill>
          <a:ln w="12700">
            <a:solidFill>
              <a:srgbClr val="FFFFFF"/>
            </a:solidFill>
            <a:prstDash val="solid"/>
          </a:ln>
        </p:spPr>
      </p:sp>
      <p:sp>
        <p:nvSpPr>
          <p:cNvPr id="19" name="Text 17"/>
          <p:cNvSpPr txBox="1"/>
          <p:nvPr/>
        </p:nvSpPr>
        <p:spPr>
          <a:xfrm>
            <a:off x="1024128" y="3474720"/>
            <a:ext cx="2560320" cy="365760"/>
          </a:xfrm>
          <a:prstGeom prst="rect">
            <a:avLst/>
          </a:prstGeom>
          <a:noFill/>
          <a:ln/>
        </p:spPr>
        <p:txBody>
          <a:bodyPr wrap="square" lIns="0" tIns="0" rIns="0" bIns="0" rtlCol="0" anchor="ctr"/>
          <a:lstStyle/>
          <a:p>
            <a:pPr indent="0" marL="0">
              <a:buNone/>
            </a:pPr>
            <a:r>
              <a:rPr lang="en-US" sz="1150" dirty="0">
                <a:solidFill>
                  <a:srgbClr val="1F2328"/>
                </a:solidFill>
                <a:latin typeface="Calibri" pitchFamily="34" charset="0"/>
                <a:ea typeface="Calibri" pitchFamily="34" charset="-122"/>
                <a:cs typeface="Calibri" pitchFamily="34" charset="-120"/>
              </a:rPr>
              <a:t>Task: Install postgres</a:t>
            </a:r>
            <a:endParaRPr lang="en-US" sz="1150" dirty="0"/>
          </a:p>
        </p:txBody>
      </p:sp>
      <p:sp>
        <p:nvSpPr>
          <p:cNvPr id="20" name="Shape 18"/>
          <p:cNvSpPr/>
          <p:nvPr/>
        </p:nvSpPr>
        <p:spPr>
          <a:xfrm>
            <a:off x="3703320" y="3538728"/>
            <a:ext cx="960120" cy="237744"/>
          </a:xfrm>
          <a:prstGeom prst="roundRect">
            <a:avLst>
              <a:gd name="adj" fmla="val 19231"/>
            </a:avLst>
          </a:prstGeom>
          <a:solidFill>
            <a:srgbClr val="D92D27"/>
          </a:solidFill>
          <a:ln w="12700">
            <a:solidFill>
              <a:srgbClr val="D92D27"/>
            </a:solidFill>
            <a:prstDash val="solid"/>
          </a:ln>
        </p:spPr>
      </p:sp>
      <p:sp>
        <p:nvSpPr>
          <p:cNvPr id="21" name="Text 19"/>
          <p:cNvSpPr txBox="1"/>
          <p:nvPr/>
        </p:nvSpPr>
        <p:spPr>
          <a:xfrm>
            <a:off x="3703320" y="3538728"/>
            <a:ext cx="9601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apt</a:t>
            </a:r>
            <a:endParaRPr lang="en-US" sz="1000" dirty="0"/>
          </a:p>
        </p:txBody>
      </p:sp>
      <p:sp>
        <p:nvSpPr>
          <p:cNvPr id="22" name="Shape 20"/>
          <p:cNvSpPr/>
          <p:nvPr/>
        </p:nvSpPr>
        <p:spPr>
          <a:xfrm>
            <a:off x="914400" y="3931920"/>
            <a:ext cx="3840480" cy="365760"/>
          </a:xfrm>
          <a:prstGeom prst="roundRect">
            <a:avLst>
              <a:gd name="adj" fmla="val 12500"/>
            </a:avLst>
          </a:prstGeom>
          <a:solidFill>
            <a:srgbClr val="FFFFFF"/>
          </a:solidFill>
          <a:ln w="12700">
            <a:solidFill>
              <a:srgbClr val="FFFFFF"/>
            </a:solidFill>
            <a:prstDash val="solid"/>
          </a:ln>
        </p:spPr>
      </p:sp>
      <p:sp>
        <p:nvSpPr>
          <p:cNvPr id="23" name="Text 21"/>
          <p:cNvSpPr txBox="1"/>
          <p:nvPr/>
        </p:nvSpPr>
        <p:spPr>
          <a:xfrm>
            <a:off x="1024128" y="3931920"/>
            <a:ext cx="2560320" cy="365760"/>
          </a:xfrm>
          <a:prstGeom prst="rect">
            <a:avLst/>
          </a:prstGeom>
          <a:noFill/>
          <a:ln/>
        </p:spPr>
        <p:txBody>
          <a:bodyPr wrap="square" lIns="0" tIns="0" rIns="0" bIns="0" rtlCol="0" anchor="ctr"/>
          <a:lstStyle/>
          <a:p>
            <a:pPr indent="0" marL="0">
              <a:buNone/>
            </a:pPr>
            <a:r>
              <a:rPr lang="en-US" sz="1150" dirty="0">
                <a:solidFill>
                  <a:srgbClr val="1F2328"/>
                </a:solidFill>
                <a:latin typeface="Calibri" pitchFamily="34" charset="0"/>
                <a:ea typeface="Calibri" pitchFamily="34" charset="-122"/>
                <a:cs typeface="Calibri" pitchFamily="34" charset="-120"/>
              </a:rPr>
              <a:t>Task: Create DB user</a:t>
            </a:r>
            <a:endParaRPr lang="en-US" sz="1150" dirty="0"/>
          </a:p>
        </p:txBody>
      </p:sp>
      <p:sp>
        <p:nvSpPr>
          <p:cNvPr id="24" name="Shape 22"/>
          <p:cNvSpPr/>
          <p:nvPr/>
        </p:nvSpPr>
        <p:spPr>
          <a:xfrm>
            <a:off x="3703320" y="3995928"/>
            <a:ext cx="960120" cy="237744"/>
          </a:xfrm>
          <a:prstGeom prst="roundRect">
            <a:avLst>
              <a:gd name="adj" fmla="val 19231"/>
            </a:avLst>
          </a:prstGeom>
          <a:solidFill>
            <a:srgbClr val="D92D27"/>
          </a:solidFill>
          <a:ln w="12700">
            <a:solidFill>
              <a:srgbClr val="D92D27"/>
            </a:solidFill>
            <a:prstDash val="solid"/>
          </a:ln>
        </p:spPr>
      </p:sp>
      <p:sp>
        <p:nvSpPr>
          <p:cNvPr id="25" name="Text 23"/>
          <p:cNvSpPr txBox="1"/>
          <p:nvPr/>
        </p:nvSpPr>
        <p:spPr>
          <a:xfrm>
            <a:off x="3703320" y="3995928"/>
            <a:ext cx="9601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user</a:t>
            </a:r>
            <a:endParaRPr lang="en-US" sz="1000" dirty="0"/>
          </a:p>
        </p:txBody>
      </p:sp>
      <p:sp>
        <p:nvSpPr>
          <p:cNvPr id="26" name="Text 24"/>
          <p:cNvSpPr txBox="1"/>
          <p:nvPr/>
        </p:nvSpPr>
        <p:spPr>
          <a:xfrm>
            <a:off x="5486400" y="1143000"/>
            <a:ext cx="3200400" cy="320040"/>
          </a:xfrm>
          <a:prstGeom prst="rect">
            <a:avLst/>
          </a:prstGeom>
          <a:noFill/>
          <a:ln/>
        </p:spPr>
        <p:txBody>
          <a:bodyPr wrap="square" lIns="0" tIns="0" rIns="0" bIns="0" rtlCol="0" anchor="t"/>
          <a:lstStyle/>
          <a:p>
            <a:pPr indent="0" marL="0">
              <a:buNone/>
            </a:pPr>
            <a:r>
              <a:rPr lang="en-US" sz="1500" b="1" dirty="0">
                <a:solidFill>
                  <a:srgbClr val="1F2328"/>
                </a:solidFill>
                <a:latin typeface="Calibri" pitchFamily="34" charset="0"/>
                <a:ea typeface="Calibri" pitchFamily="34" charset="-122"/>
                <a:cs typeface="Calibri" pitchFamily="34" charset="-120"/>
              </a:rPr>
              <a:t>Playbook</a:t>
            </a:r>
            <a:endParaRPr lang="en-US" sz="1500" dirty="0"/>
          </a:p>
        </p:txBody>
      </p:sp>
      <p:sp>
        <p:nvSpPr>
          <p:cNvPr id="27" name="Text 25"/>
          <p:cNvSpPr txBox="1"/>
          <p:nvPr/>
        </p:nvSpPr>
        <p:spPr>
          <a:xfrm>
            <a:off x="5486400" y="1463040"/>
            <a:ext cx="3200400" cy="502920"/>
          </a:xfrm>
          <a:prstGeom prst="rect">
            <a:avLst/>
          </a:prstGeom>
          <a:noFill/>
          <a:ln/>
        </p:spPr>
        <p:txBody>
          <a:bodyPr wrap="square" lIns="0" tIns="0" rIns="0" bIns="0" rtlCol="0" anchor="t"/>
          <a:lstStyle/>
          <a:p>
            <a:pPr indent="0" marL="0">
              <a:buNone/>
            </a:pPr>
            <a:r>
              <a:rPr lang="en-US" sz="1200" dirty="0">
                <a:solidFill>
                  <a:srgbClr val="5B6470"/>
                </a:solidFill>
                <a:latin typeface="Calibri" pitchFamily="34" charset="0"/>
                <a:ea typeface="Calibri" pitchFamily="34" charset="-122"/>
                <a:cs typeface="Calibri" pitchFamily="34" charset="-120"/>
              </a:rPr>
              <a:t>A YAML file. An ordered list of plays.</a:t>
            </a:r>
            <a:endParaRPr lang="en-US" sz="1200" dirty="0"/>
          </a:p>
        </p:txBody>
      </p:sp>
      <p:sp>
        <p:nvSpPr>
          <p:cNvPr id="28" name="Text 26"/>
          <p:cNvSpPr txBox="1"/>
          <p:nvPr/>
        </p:nvSpPr>
        <p:spPr>
          <a:xfrm>
            <a:off x="5486400" y="2011680"/>
            <a:ext cx="3200400" cy="320040"/>
          </a:xfrm>
          <a:prstGeom prst="rect">
            <a:avLst/>
          </a:prstGeom>
          <a:noFill/>
          <a:ln/>
        </p:spPr>
        <p:txBody>
          <a:bodyPr wrap="square" lIns="0" tIns="0" rIns="0" bIns="0" rtlCol="0" anchor="t"/>
          <a:lstStyle/>
          <a:p>
            <a:pPr indent="0" marL="0">
              <a:buNone/>
            </a:pPr>
            <a:r>
              <a:rPr lang="en-US" sz="1500" b="1" dirty="0">
                <a:solidFill>
                  <a:srgbClr val="1F2328"/>
                </a:solidFill>
                <a:latin typeface="Calibri" pitchFamily="34" charset="0"/>
                <a:ea typeface="Calibri" pitchFamily="34" charset="-122"/>
                <a:cs typeface="Calibri" pitchFamily="34" charset="-120"/>
              </a:rPr>
              <a:t>Play</a:t>
            </a:r>
            <a:endParaRPr lang="en-US" sz="1500" dirty="0"/>
          </a:p>
        </p:txBody>
      </p:sp>
      <p:sp>
        <p:nvSpPr>
          <p:cNvPr id="29" name="Text 27"/>
          <p:cNvSpPr txBox="1"/>
          <p:nvPr/>
        </p:nvSpPr>
        <p:spPr>
          <a:xfrm>
            <a:off x="5486400" y="2331720"/>
            <a:ext cx="3200400" cy="502920"/>
          </a:xfrm>
          <a:prstGeom prst="rect">
            <a:avLst/>
          </a:prstGeom>
          <a:noFill/>
          <a:ln/>
        </p:spPr>
        <p:txBody>
          <a:bodyPr wrap="square" lIns="0" tIns="0" rIns="0" bIns="0" rtlCol="0" anchor="t"/>
          <a:lstStyle/>
          <a:p>
            <a:pPr indent="0" marL="0">
              <a:buNone/>
            </a:pPr>
            <a:r>
              <a:rPr lang="en-US" sz="1200" dirty="0">
                <a:solidFill>
                  <a:srgbClr val="5B6470"/>
                </a:solidFill>
                <a:latin typeface="Calibri" pitchFamily="34" charset="0"/>
                <a:ea typeface="Calibri" pitchFamily="34" charset="-122"/>
                <a:cs typeface="Calibri" pitchFamily="34" charset="-120"/>
              </a:rPr>
              <a:t>Targets a group of hosts and sets options: become, vars, gather_facts.</a:t>
            </a:r>
            <a:endParaRPr lang="en-US" sz="1200" dirty="0"/>
          </a:p>
        </p:txBody>
      </p:sp>
      <p:sp>
        <p:nvSpPr>
          <p:cNvPr id="30" name="Text 28"/>
          <p:cNvSpPr txBox="1"/>
          <p:nvPr/>
        </p:nvSpPr>
        <p:spPr>
          <a:xfrm>
            <a:off x="5486400" y="2880360"/>
            <a:ext cx="3200400" cy="320040"/>
          </a:xfrm>
          <a:prstGeom prst="rect">
            <a:avLst/>
          </a:prstGeom>
          <a:noFill/>
          <a:ln/>
        </p:spPr>
        <p:txBody>
          <a:bodyPr wrap="square" lIns="0" tIns="0" rIns="0" bIns="0" rtlCol="0" anchor="t"/>
          <a:lstStyle/>
          <a:p>
            <a:pPr indent="0" marL="0">
              <a:buNone/>
            </a:pPr>
            <a:r>
              <a:rPr lang="en-US" sz="1500" b="1" dirty="0">
                <a:solidFill>
                  <a:srgbClr val="1F2328"/>
                </a:solidFill>
                <a:latin typeface="Calibri" pitchFamily="34" charset="0"/>
                <a:ea typeface="Calibri" pitchFamily="34" charset="-122"/>
                <a:cs typeface="Calibri" pitchFamily="34" charset="-120"/>
              </a:rPr>
              <a:t>Task</a:t>
            </a:r>
            <a:endParaRPr lang="en-US" sz="1500" dirty="0"/>
          </a:p>
        </p:txBody>
      </p:sp>
      <p:sp>
        <p:nvSpPr>
          <p:cNvPr id="31" name="Text 29"/>
          <p:cNvSpPr txBox="1"/>
          <p:nvPr/>
        </p:nvSpPr>
        <p:spPr>
          <a:xfrm>
            <a:off x="5486400" y="3200400"/>
            <a:ext cx="3200400" cy="502920"/>
          </a:xfrm>
          <a:prstGeom prst="rect">
            <a:avLst/>
          </a:prstGeom>
          <a:noFill/>
          <a:ln/>
        </p:spPr>
        <p:txBody>
          <a:bodyPr wrap="square" lIns="0" tIns="0" rIns="0" bIns="0" rtlCol="0" anchor="t"/>
          <a:lstStyle/>
          <a:p>
            <a:pPr indent="0" marL="0">
              <a:buNone/>
            </a:pPr>
            <a:r>
              <a:rPr lang="en-US" sz="1200" dirty="0">
                <a:solidFill>
                  <a:srgbClr val="5B6470"/>
                </a:solidFill>
                <a:latin typeface="Calibri" pitchFamily="34" charset="0"/>
                <a:ea typeface="Calibri" pitchFamily="34" charset="-122"/>
                <a:cs typeface="Calibri" pitchFamily="34" charset="-120"/>
              </a:rPr>
              <a:t>One step, run on all hosts of the play before moving on.</a:t>
            </a:r>
            <a:endParaRPr lang="en-US" sz="1200" dirty="0"/>
          </a:p>
        </p:txBody>
      </p:sp>
      <p:sp>
        <p:nvSpPr>
          <p:cNvPr id="32" name="Text 30"/>
          <p:cNvSpPr txBox="1"/>
          <p:nvPr/>
        </p:nvSpPr>
        <p:spPr>
          <a:xfrm>
            <a:off x="5486400" y="3749040"/>
            <a:ext cx="3200400" cy="320040"/>
          </a:xfrm>
          <a:prstGeom prst="rect">
            <a:avLst/>
          </a:prstGeom>
          <a:noFill/>
          <a:ln/>
        </p:spPr>
        <p:txBody>
          <a:bodyPr wrap="square" lIns="0" tIns="0" rIns="0" bIns="0" rtlCol="0" anchor="t"/>
          <a:lstStyle/>
          <a:p>
            <a:pPr indent="0" marL="0">
              <a:buNone/>
            </a:pPr>
            <a:r>
              <a:rPr lang="en-US" sz="1500" b="1" dirty="0">
                <a:solidFill>
                  <a:srgbClr val="D92D27"/>
                </a:solidFill>
                <a:latin typeface="Calibri" pitchFamily="34" charset="0"/>
                <a:ea typeface="Calibri" pitchFamily="34" charset="-122"/>
                <a:cs typeface="Calibri" pitchFamily="34" charset="-120"/>
              </a:rPr>
              <a:t>Module</a:t>
            </a:r>
            <a:endParaRPr lang="en-US" sz="1500" dirty="0"/>
          </a:p>
        </p:txBody>
      </p:sp>
      <p:sp>
        <p:nvSpPr>
          <p:cNvPr id="33" name="Text 31"/>
          <p:cNvSpPr txBox="1"/>
          <p:nvPr/>
        </p:nvSpPr>
        <p:spPr>
          <a:xfrm>
            <a:off x="5486400" y="4069080"/>
            <a:ext cx="3200400" cy="502920"/>
          </a:xfrm>
          <a:prstGeom prst="rect">
            <a:avLst/>
          </a:prstGeom>
          <a:noFill/>
          <a:ln/>
        </p:spPr>
        <p:txBody>
          <a:bodyPr wrap="square" lIns="0" tIns="0" rIns="0" bIns="0" rtlCol="0" anchor="t"/>
          <a:lstStyle/>
          <a:p>
            <a:pPr indent="0" marL="0">
              <a:buNone/>
            </a:pPr>
            <a:r>
              <a:rPr lang="en-US" sz="1200" dirty="0">
                <a:solidFill>
                  <a:srgbClr val="5B6470"/>
                </a:solidFill>
                <a:latin typeface="Calibri" pitchFamily="34" charset="0"/>
                <a:ea typeface="Calibri" pitchFamily="34" charset="-122"/>
                <a:cs typeface="Calibri" pitchFamily="34" charset="-120"/>
              </a:rPr>
              <a:t>The code that actually does the work for a task.</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9AA1AA"/>
                </a:solidFill>
                <a:latin typeface="Calibri" pitchFamily="34" charset="0"/>
                <a:ea typeface="Calibri" pitchFamily="34" charset="-122"/>
                <a:cs typeface="Calibri" pitchFamily="34" charset="-120"/>
              </a:rPr>
              <a:t>24</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Anatomy of a playbook</a:t>
            </a:r>
            <a:endParaRPr lang="en-US" sz="28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B6470"/>
                </a:solidFill>
                <a:latin typeface="Calibri" pitchFamily="34" charset="0"/>
                <a:ea typeface="Calibri" pitchFamily="34" charset="-122"/>
                <a:cs typeface="Calibri" pitchFamily="34" charset="-120"/>
              </a:rPr>
              <a:t>playbooks/03_webserver.yml from your lab</a:t>
            </a:r>
            <a:endParaRPr lang="en-US" sz="1300" dirty="0"/>
          </a:p>
        </p:txBody>
      </p:sp>
      <p:sp>
        <p:nvSpPr>
          <p:cNvPr id="5" name="Shape 3"/>
          <p:cNvSpPr/>
          <p:nvPr/>
        </p:nvSpPr>
        <p:spPr>
          <a:xfrm>
            <a:off x="457200" y="1188720"/>
            <a:ext cx="5029200" cy="3474720"/>
          </a:xfrm>
          <a:prstGeom prst="roundRect">
            <a:avLst>
              <a:gd name="adj" fmla="val 1579"/>
            </a:avLst>
          </a:prstGeom>
          <a:solidFill>
            <a:srgbClr val="1E2229"/>
          </a:solidFill>
          <a:ln w="12700">
            <a:solidFill>
              <a:srgbClr val="1E2229"/>
            </a:solidFill>
            <a:prstDash val="solid"/>
          </a:ln>
        </p:spPr>
      </p:sp>
      <p:sp>
        <p:nvSpPr>
          <p:cNvPr id="6" name="Text 4"/>
          <p:cNvSpPr txBox="1"/>
          <p:nvPr/>
        </p:nvSpPr>
        <p:spPr>
          <a:xfrm>
            <a:off x="594360" y="1298448"/>
            <a:ext cx="4754880" cy="3255264"/>
          </a:xfrm>
          <a:prstGeom prst="rect">
            <a:avLst/>
          </a:prstGeom>
          <a:noFill/>
          <a:ln/>
        </p:spPr>
        <p:txBody>
          <a:bodyPr wrap="square" lIns="0" tIns="0" rIns="0" bIns="0" rtlCol="0" anchor="t"/>
          <a:lstStyle/>
          <a:p>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EC8E3"/>
                </a:solidFill>
                <a:latin typeface="Courier New" pitchFamily="34" charset="0"/>
                <a:ea typeface="Courier New" pitchFamily="34" charset="-122"/>
                <a:cs typeface="Courier New" pitchFamily="34" charset="-120"/>
              </a:rPr>
              <a:t>name:</a:t>
            </a:r>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Install and configure nginx   </a:t>
            </a:r>
            <a:pPr indent="0" marL="0">
              <a:lnSpc>
                <a:spcPct val="100000"/>
              </a:lnSpc>
              <a:buNone/>
            </a:pPr>
            <a:r>
              <a:rPr lang="en-US" sz="900" dirty="0">
                <a:solidFill>
                  <a:srgbClr val="8B949E"/>
                </a:solidFill>
                <a:latin typeface="Courier New" pitchFamily="34" charset="0"/>
                <a:ea typeface="Courier New" pitchFamily="34" charset="-122"/>
                <a:cs typeface="Courier New" pitchFamily="34" charset="-120"/>
              </a:rPr>
              <a:t># play name</a:t>
            </a:r>
            <a:endParaRPr lang="en-US" sz="900" dirty="0"/>
          </a:p>
          <a:p>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EC8E3"/>
                </a:solidFill>
                <a:latin typeface="Courier New" pitchFamily="34" charset="0"/>
                <a:ea typeface="Courier New" pitchFamily="34" charset="-122"/>
                <a:cs typeface="Courier New" pitchFamily="34" charset="-120"/>
              </a:rPr>
              <a:t>hosts:</a:t>
            </a:r>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webservers                   </a:t>
            </a:r>
            <a:pPr indent="0" marL="0">
              <a:lnSpc>
                <a:spcPct val="100000"/>
              </a:lnSpc>
              <a:buNone/>
            </a:pPr>
            <a:r>
              <a:rPr lang="en-US" sz="900" dirty="0">
                <a:solidFill>
                  <a:srgbClr val="8B949E"/>
                </a:solidFill>
                <a:latin typeface="Courier New" pitchFamily="34" charset="0"/>
                <a:ea typeface="Courier New" pitchFamily="34" charset="-122"/>
                <a:cs typeface="Courier New" pitchFamily="34" charset="-120"/>
              </a:rPr>
              <a:t># target group</a:t>
            </a:r>
            <a:endParaRPr lang="en-US" sz="900" dirty="0"/>
          </a:p>
          <a:p>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EC8E3"/>
                </a:solidFill>
                <a:latin typeface="Courier New" pitchFamily="34" charset="0"/>
                <a:ea typeface="Courier New" pitchFamily="34" charset="-122"/>
                <a:cs typeface="Courier New" pitchFamily="34" charset="-120"/>
              </a:rPr>
              <a:t>become:</a:t>
            </a:r>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true                        </a:t>
            </a:r>
            <a:pPr indent="0" marL="0">
              <a:lnSpc>
                <a:spcPct val="100000"/>
              </a:lnSpc>
              <a:buNone/>
            </a:pPr>
            <a:r>
              <a:rPr lang="en-US" sz="900" dirty="0">
                <a:solidFill>
                  <a:srgbClr val="8B949E"/>
                </a:solidFill>
                <a:latin typeface="Courier New" pitchFamily="34" charset="0"/>
                <a:ea typeface="Courier New" pitchFamily="34" charset="-122"/>
                <a:cs typeface="Courier New" pitchFamily="34" charset="-120"/>
              </a:rPr>
              <a:t># sudo</a:t>
            </a:r>
            <a:endParaRPr lang="en-US" sz="900" dirty="0"/>
          </a:p>
          <a:p>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EC8E3"/>
                </a:solidFill>
                <a:latin typeface="Courier New" pitchFamily="34" charset="0"/>
                <a:ea typeface="Courier New" pitchFamily="34" charset="-122"/>
                <a:cs typeface="Courier New" pitchFamily="34" charset="-120"/>
              </a:rPr>
              <a:t>vars:</a:t>
            </a:r>
            <a:pPr indent="0" marL="0">
              <a:lnSpc>
                <a:spcPct val="100000"/>
              </a:lnSpc>
              <a:buNone/>
            </a:pPr>
            <a:endParaRPr lang="en-US" sz="900" dirty="0"/>
          </a:p>
          <a:p>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EC8E3"/>
                </a:solidFill>
                <a:latin typeface="Courier New" pitchFamily="34" charset="0"/>
                <a:ea typeface="Courier New" pitchFamily="34" charset="-122"/>
                <a:cs typeface="Courier New" pitchFamily="34" charset="-120"/>
              </a:rPr>
              <a:t>owner_team:</a:t>
            </a:r>
            <a:pPr indent="0" marL="0">
              <a:lnSpc>
                <a:spcPct val="100000"/>
              </a:lnSpc>
              <a:buNone/>
            </a:pPr>
            <a:r>
              <a:rPr lang="en-US" sz="900" dirty="0">
                <a:solidFill>
                  <a:srgbClr val="F2C67C"/>
                </a:solidFill>
                <a:latin typeface="Courier New" pitchFamily="34" charset="0"/>
                <a:ea typeface="Courier New" pitchFamily="34" charset="-122"/>
                <a:cs typeface="Courier New" pitchFamily="34" charset="-120"/>
              </a:rPr>
              <a:t> "Ansible learners"</a:t>
            </a:r>
            <a:endParaRPr lang="en-US" sz="900" dirty="0"/>
          </a:p>
          <a:p>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EC8E3"/>
                </a:solidFill>
                <a:latin typeface="Courier New" pitchFamily="34" charset="0"/>
                <a:ea typeface="Courier New" pitchFamily="34" charset="-122"/>
                <a:cs typeface="Courier New" pitchFamily="34" charset="-120"/>
              </a:rPr>
              <a:t>tasks:</a:t>
            </a:r>
            <a:pPr indent="0" marL="0">
              <a:lnSpc>
                <a:spcPct val="100000"/>
              </a:lnSpc>
              <a:buNone/>
            </a:pPr>
            <a:endParaRPr lang="en-US" sz="900" dirty="0"/>
          </a:p>
          <a:p>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 </a:t>
            </a:r>
            <a:pPr indent="0" marL="0">
              <a:lnSpc>
                <a:spcPct val="100000"/>
              </a:lnSpc>
              <a:buNone/>
            </a:pPr>
            <a:r>
              <a:rPr lang="en-US" sz="900" dirty="0">
                <a:solidFill>
                  <a:srgbClr val="7EC8E3"/>
                </a:solidFill>
                <a:latin typeface="Courier New" pitchFamily="34" charset="0"/>
                <a:ea typeface="Courier New" pitchFamily="34" charset="-122"/>
                <a:cs typeface="Courier New" pitchFamily="34" charset="-120"/>
              </a:rPr>
              <a:t>name:</a:t>
            </a:r>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Install nginx</a:t>
            </a:r>
            <a:endParaRPr lang="en-US" sz="900" dirty="0"/>
          </a:p>
          <a:p>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EC8E3"/>
                </a:solidFill>
                <a:latin typeface="Courier New" pitchFamily="34" charset="0"/>
                <a:ea typeface="Courier New" pitchFamily="34" charset="-122"/>
                <a:cs typeface="Courier New" pitchFamily="34" charset="-120"/>
              </a:rPr>
              <a:t>ansible.builtin.apt:</a:t>
            </a:r>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8B949E"/>
                </a:solidFill>
                <a:latin typeface="Courier New" pitchFamily="34" charset="0"/>
                <a:ea typeface="Courier New" pitchFamily="34" charset="-122"/>
                <a:cs typeface="Courier New" pitchFamily="34" charset="-120"/>
              </a:rPr>
              <a:t># module (FQCN)</a:t>
            </a:r>
            <a:endParaRPr lang="en-US" sz="900" dirty="0"/>
          </a:p>
          <a:p>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EC8E3"/>
                </a:solidFill>
                <a:latin typeface="Courier New" pitchFamily="34" charset="0"/>
                <a:ea typeface="Courier New" pitchFamily="34" charset="-122"/>
                <a:cs typeface="Courier New" pitchFamily="34" charset="-120"/>
              </a:rPr>
              <a:t>name:</a:t>
            </a:r>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nginx                    </a:t>
            </a:r>
            <a:pPr indent="0" marL="0">
              <a:lnSpc>
                <a:spcPct val="100000"/>
              </a:lnSpc>
              <a:buNone/>
            </a:pPr>
            <a:r>
              <a:rPr lang="en-US" sz="900" dirty="0">
                <a:solidFill>
                  <a:srgbClr val="8B949E"/>
                </a:solidFill>
                <a:latin typeface="Courier New" pitchFamily="34" charset="0"/>
                <a:ea typeface="Courier New" pitchFamily="34" charset="-122"/>
                <a:cs typeface="Courier New" pitchFamily="34" charset="-120"/>
              </a:rPr>
              <a:t># module args</a:t>
            </a:r>
            <a:endParaRPr lang="en-US" sz="900" dirty="0"/>
          </a:p>
          <a:p>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EC8E3"/>
                </a:solidFill>
                <a:latin typeface="Courier New" pitchFamily="34" charset="0"/>
                <a:ea typeface="Courier New" pitchFamily="34" charset="-122"/>
                <a:cs typeface="Courier New" pitchFamily="34" charset="-120"/>
              </a:rPr>
              <a:t>state:</a:t>
            </a:r>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present</a:t>
            </a:r>
            <a:endParaRPr lang="en-US" sz="900" dirty="0"/>
          </a:p>
          <a:p>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a:t>
            </a:r>
            <a:endParaRPr lang="en-US" sz="900" dirty="0"/>
          </a:p>
          <a:p>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 </a:t>
            </a:r>
            <a:pPr indent="0" marL="0">
              <a:lnSpc>
                <a:spcPct val="100000"/>
              </a:lnSpc>
              <a:buNone/>
            </a:pPr>
            <a:r>
              <a:rPr lang="en-US" sz="900" dirty="0">
                <a:solidFill>
                  <a:srgbClr val="7EC8E3"/>
                </a:solidFill>
                <a:latin typeface="Courier New" pitchFamily="34" charset="0"/>
                <a:ea typeface="Courier New" pitchFamily="34" charset="-122"/>
                <a:cs typeface="Courier New" pitchFamily="34" charset="-120"/>
              </a:rPr>
              <a:t>name:</a:t>
            </a:r>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Deploy the home page</a:t>
            </a:r>
            <a:endParaRPr lang="en-US" sz="900" dirty="0"/>
          </a:p>
          <a:p>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EC8E3"/>
                </a:solidFill>
                <a:latin typeface="Courier New" pitchFamily="34" charset="0"/>
                <a:ea typeface="Courier New" pitchFamily="34" charset="-122"/>
                <a:cs typeface="Courier New" pitchFamily="34" charset="-120"/>
              </a:rPr>
              <a:t>ansible.builtin.template:</a:t>
            </a:r>
            <a:pPr indent="0" marL="0">
              <a:lnSpc>
                <a:spcPct val="100000"/>
              </a:lnSpc>
              <a:buNone/>
            </a:pPr>
            <a:endParaRPr lang="en-US" sz="900" dirty="0"/>
          </a:p>
          <a:p>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EC8E3"/>
                </a:solidFill>
                <a:latin typeface="Courier New" pitchFamily="34" charset="0"/>
                <a:ea typeface="Courier New" pitchFamily="34" charset="-122"/>
                <a:cs typeface="Courier New" pitchFamily="34" charset="-120"/>
              </a:rPr>
              <a:t>src:</a:t>
            </a:r>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templates/index.html.j2</a:t>
            </a:r>
            <a:endParaRPr lang="en-US" sz="900" dirty="0"/>
          </a:p>
          <a:p>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EC8E3"/>
                </a:solidFill>
                <a:latin typeface="Courier New" pitchFamily="34" charset="0"/>
                <a:ea typeface="Courier New" pitchFamily="34" charset="-122"/>
                <a:cs typeface="Courier New" pitchFamily="34" charset="-120"/>
              </a:rPr>
              <a:t>dest:</a:t>
            </a:r>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/var/www/html/index.html</a:t>
            </a:r>
            <a:endParaRPr lang="en-US" sz="900" dirty="0"/>
          </a:p>
          <a:p>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EC8E3"/>
                </a:solidFill>
                <a:latin typeface="Courier New" pitchFamily="34" charset="0"/>
                <a:ea typeface="Courier New" pitchFamily="34" charset="-122"/>
                <a:cs typeface="Courier New" pitchFamily="34" charset="-120"/>
              </a:rPr>
              <a:t>notify:</a:t>
            </a:r>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Restart nginx           </a:t>
            </a:r>
            <a:pPr indent="0" marL="0">
              <a:lnSpc>
                <a:spcPct val="100000"/>
              </a:lnSpc>
              <a:buNone/>
            </a:pPr>
            <a:r>
              <a:rPr lang="en-US" sz="900" dirty="0">
                <a:solidFill>
                  <a:srgbClr val="8B949E"/>
                </a:solidFill>
                <a:latin typeface="Courier New" pitchFamily="34" charset="0"/>
                <a:ea typeface="Courier New" pitchFamily="34" charset="-122"/>
                <a:cs typeface="Courier New" pitchFamily="34" charset="-120"/>
              </a:rPr>
              <a:t># trigger handler</a:t>
            </a:r>
            <a:endParaRPr lang="en-US" sz="900" dirty="0"/>
          </a:p>
          <a:p>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a:t>
            </a:r>
            <a:endParaRPr lang="en-US" sz="900" dirty="0"/>
          </a:p>
          <a:p>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EC8E3"/>
                </a:solidFill>
                <a:latin typeface="Courier New" pitchFamily="34" charset="0"/>
                <a:ea typeface="Courier New" pitchFamily="34" charset="-122"/>
                <a:cs typeface="Courier New" pitchFamily="34" charset="-120"/>
              </a:rPr>
              <a:t>handlers:</a:t>
            </a:r>
            <a:pPr indent="0" marL="0">
              <a:lnSpc>
                <a:spcPct val="100000"/>
              </a:lnSpc>
              <a:buNone/>
            </a:pPr>
            <a:endParaRPr lang="en-US" sz="900" dirty="0"/>
          </a:p>
          <a:p>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 </a:t>
            </a:r>
            <a:pPr indent="0" marL="0">
              <a:lnSpc>
                <a:spcPct val="100000"/>
              </a:lnSpc>
              <a:buNone/>
            </a:pPr>
            <a:r>
              <a:rPr lang="en-US" sz="900" dirty="0">
                <a:solidFill>
                  <a:srgbClr val="7EC8E3"/>
                </a:solidFill>
                <a:latin typeface="Courier New" pitchFamily="34" charset="0"/>
                <a:ea typeface="Courier New" pitchFamily="34" charset="-122"/>
                <a:cs typeface="Courier New" pitchFamily="34" charset="-120"/>
              </a:rPr>
              <a:t>name:</a:t>
            </a:r>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Restart nginx</a:t>
            </a:r>
            <a:endParaRPr lang="en-US" sz="900" dirty="0"/>
          </a:p>
          <a:p>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EC8E3"/>
                </a:solidFill>
                <a:latin typeface="Courier New" pitchFamily="34" charset="0"/>
                <a:ea typeface="Courier New" pitchFamily="34" charset="-122"/>
                <a:cs typeface="Courier New" pitchFamily="34" charset="-120"/>
              </a:rPr>
              <a:t>ansible.builtin.service:</a:t>
            </a:r>
            <a:pPr indent="0" marL="0">
              <a:lnSpc>
                <a:spcPct val="100000"/>
              </a:lnSpc>
              <a:buNone/>
            </a:pPr>
            <a:endParaRPr lang="en-US" sz="900" dirty="0"/>
          </a:p>
          <a:p>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EC8E3"/>
                </a:solidFill>
                <a:latin typeface="Courier New" pitchFamily="34" charset="0"/>
                <a:ea typeface="Courier New" pitchFamily="34" charset="-122"/>
                <a:cs typeface="Courier New" pitchFamily="34" charset="-120"/>
              </a:rPr>
              <a:t>name:</a:t>
            </a:r>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nginx</a:t>
            </a:r>
            <a:endParaRPr lang="en-US" sz="900" dirty="0"/>
          </a:p>
          <a:p>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EC8E3"/>
                </a:solidFill>
                <a:latin typeface="Courier New" pitchFamily="34" charset="0"/>
                <a:ea typeface="Courier New" pitchFamily="34" charset="-122"/>
                <a:cs typeface="Courier New" pitchFamily="34" charset="-120"/>
              </a:rPr>
              <a:t>state:</a:t>
            </a:r>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restarted</a:t>
            </a:r>
            <a:endParaRPr lang="en-US" sz="900" dirty="0"/>
          </a:p>
        </p:txBody>
      </p:sp>
      <p:sp>
        <p:nvSpPr>
          <p:cNvPr id="7" name="Shape 5"/>
          <p:cNvSpPr/>
          <p:nvPr/>
        </p:nvSpPr>
        <p:spPr>
          <a:xfrm>
            <a:off x="5715000" y="1234440"/>
            <a:ext cx="292608" cy="292608"/>
          </a:xfrm>
          <a:prstGeom prst="ellipse">
            <a:avLst/>
          </a:prstGeom>
          <a:solidFill>
            <a:srgbClr val="D92D27"/>
          </a:solidFill>
          <a:ln w="12700">
            <a:solidFill>
              <a:srgbClr val="D92D27"/>
            </a:solidFill>
            <a:prstDash val="solid"/>
          </a:ln>
        </p:spPr>
      </p:sp>
      <p:sp>
        <p:nvSpPr>
          <p:cNvPr id="8" name="Text 6"/>
          <p:cNvSpPr txBox="1"/>
          <p:nvPr/>
        </p:nvSpPr>
        <p:spPr>
          <a:xfrm>
            <a:off x="5715000" y="12344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txBox="1"/>
          <p:nvPr/>
        </p:nvSpPr>
        <p:spPr>
          <a:xfrm>
            <a:off x="6126480" y="1188720"/>
            <a:ext cx="2560320" cy="274320"/>
          </a:xfrm>
          <a:prstGeom prst="rect">
            <a:avLst/>
          </a:prstGeom>
          <a:noFill/>
          <a:ln/>
        </p:spPr>
        <p:txBody>
          <a:bodyPr wrap="square" lIns="0" tIns="0" rIns="0" bIns="0" rtlCol="0" anchor="t"/>
          <a:lstStyle/>
          <a:p>
            <a:pPr indent="0" marL="0">
              <a:buNone/>
            </a:pPr>
            <a:r>
              <a:rPr lang="en-US" sz="1250" b="1" dirty="0">
                <a:solidFill>
                  <a:srgbClr val="1F2328"/>
                </a:solidFill>
                <a:latin typeface="Courier New" pitchFamily="34" charset="0"/>
                <a:ea typeface="Courier New" pitchFamily="34" charset="-122"/>
                <a:cs typeface="Courier New" pitchFamily="34" charset="-120"/>
              </a:rPr>
              <a:t>Play header</a:t>
            </a:r>
            <a:endParaRPr lang="en-US" sz="1250" dirty="0"/>
          </a:p>
        </p:txBody>
      </p:sp>
      <p:sp>
        <p:nvSpPr>
          <p:cNvPr id="10" name="Text 8"/>
          <p:cNvSpPr txBox="1"/>
          <p:nvPr/>
        </p:nvSpPr>
        <p:spPr>
          <a:xfrm>
            <a:off x="6126480" y="1463040"/>
            <a:ext cx="2560320" cy="411480"/>
          </a:xfrm>
          <a:prstGeom prst="rect">
            <a:avLst/>
          </a:prstGeom>
          <a:noFill/>
          <a:ln/>
        </p:spPr>
        <p:txBody>
          <a:bodyPr wrap="square" lIns="0" tIns="0" rIns="0" bIns="0" rtlCol="0" anchor="t"/>
          <a:lstStyle/>
          <a:p>
            <a:pPr indent="0" marL="0">
              <a:buNone/>
            </a:pPr>
            <a:r>
              <a:rPr lang="en-US" sz="1100" dirty="0">
                <a:solidFill>
                  <a:srgbClr val="5B6470"/>
                </a:solidFill>
                <a:latin typeface="Calibri" pitchFamily="34" charset="0"/>
                <a:ea typeface="Calibri" pitchFamily="34" charset="-122"/>
                <a:cs typeface="Calibri" pitchFamily="34" charset="-120"/>
              </a:rPr>
              <a:t>name, hosts, become, vars — applies to every task below</a:t>
            </a:r>
            <a:endParaRPr lang="en-US" sz="1100" dirty="0"/>
          </a:p>
        </p:txBody>
      </p:sp>
      <p:sp>
        <p:nvSpPr>
          <p:cNvPr id="11" name="Shape 9"/>
          <p:cNvSpPr/>
          <p:nvPr/>
        </p:nvSpPr>
        <p:spPr>
          <a:xfrm>
            <a:off x="5715000" y="1938528"/>
            <a:ext cx="292608" cy="292608"/>
          </a:xfrm>
          <a:prstGeom prst="ellipse">
            <a:avLst/>
          </a:prstGeom>
          <a:solidFill>
            <a:srgbClr val="D92D27"/>
          </a:solidFill>
          <a:ln w="12700">
            <a:solidFill>
              <a:srgbClr val="D92D27"/>
            </a:solidFill>
            <a:prstDash val="solid"/>
          </a:ln>
        </p:spPr>
      </p:sp>
      <p:sp>
        <p:nvSpPr>
          <p:cNvPr id="12" name="Text 10"/>
          <p:cNvSpPr txBox="1"/>
          <p:nvPr/>
        </p:nvSpPr>
        <p:spPr>
          <a:xfrm>
            <a:off x="5715000" y="193852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txBox="1"/>
          <p:nvPr/>
        </p:nvSpPr>
        <p:spPr>
          <a:xfrm>
            <a:off x="6126480" y="1892808"/>
            <a:ext cx="2560320" cy="274320"/>
          </a:xfrm>
          <a:prstGeom prst="rect">
            <a:avLst/>
          </a:prstGeom>
          <a:noFill/>
          <a:ln/>
        </p:spPr>
        <p:txBody>
          <a:bodyPr wrap="square" lIns="0" tIns="0" rIns="0" bIns="0" rtlCol="0" anchor="t"/>
          <a:lstStyle/>
          <a:p>
            <a:pPr indent="0" marL="0">
              <a:buNone/>
            </a:pPr>
            <a:r>
              <a:rPr lang="en-US" sz="1250" b="1" dirty="0">
                <a:solidFill>
                  <a:srgbClr val="1F2328"/>
                </a:solidFill>
                <a:latin typeface="Courier New" pitchFamily="34" charset="0"/>
                <a:ea typeface="Courier New" pitchFamily="34" charset="-122"/>
                <a:cs typeface="Courier New" pitchFamily="34" charset="-120"/>
              </a:rPr>
              <a:t>tasks:</a:t>
            </a:r>
            <a:endParaRPr lang="en-US" sz="1250" dirty="0"/>
          </a:p>
        </p:txBody>
      </p:sp>
      <p:sp>
        <p:nvSpPr>
          <p:cNvPr id="14" name="Text 12"/>
          <p:cNvSpPr txBox="1"/>
          <p:nvPr/>
        </p:nvSpPr>
        <p:spPr>
          <a:xfrm>
            <a:off x="6126480" y="2167128"/>
            <a:ext cx="2560320" cy="411480"/>
          </a:xfrm>
          <a:prstGeom prst="rect">
            <a:avLst/>
          </a:prstGeom>
          <a:noFill/>
          <a:ln/>
        </p:spPr>
        <p:txBody>
          <a:bodyPr wrap="square" lIns="0" tIns="0" rIns="0" bIns="0" rtlCol="0" anchor="t"/>
          <a:lstStyle/>
          <a:p>
            <a:pPr indent="0" marL="0">
              <a:buNone/>
            </a:pPr>
            <a:r>
              <a:rPr lang="en-US" sz="1100" dirty="0">
                <a:solidFill>
                  <a:srgbClr val="5B6470"/>
                </a:solidFill>
                <a:latin typeface="Calibri" pitchFamily="34" charset="0"/>
                <a:ea typeface="Calibri" pitchFamily="34" charset="-122"/>
                <a:cs typeface="Calibri" pitchFamily="34" charset="-120"/>
              </a:rPr>
              <a:t>ordered list; each item has a name + one module</a:t>
            </a:r>
            <a:endParaRPr lang="en-US" sz="1100" dirty="0"/>
          </a:p>
        </p:txBody>
      </p:sp>
      <p:sp>
        <p:nvSpPr>
          <p:cNvPr id="15" name="Shape 13"/>
          <p:cNvSpPr/>
          <p:nvPr/>
        </p:nvSpPr>
        <p:spPr>
          <a:xfrm>
            <a:off x="5715000" y="2642616"/>
            <a:ext cx="292608" cy="292608"/>
          </a:xfrm>
          <a:prstGeom prst="ellipse">
            <a:avLst/>
          </a:prstGeom>
          <a:solidFill>
            <a:srgbClr val="D92D27"/>
          </a:solidFill>
          <a:ln w="12700">
            <a:solidFill>
              <a:srgbClr val="D92D27"/>
            </a:solidFill>
            <a:prstDash val="solid"/>
          </a:ln>
        </p:spPr>
      </p:sp>
      <p:sp>
        <p:nvSpPr>
          <p:cNvPr id="16" name="Text 14"/>
          <p:cNvSpPr txBox="1"/>
          <p:nvPr/>
        </p:nvSpPr>
        <p:spPr>
          <a:xfrm>
            <a:off x="5715000" y="264261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txBox="1"/>
          <p:nvPr/>
        </p:nvSpPr>
        <p:spPr>
          <a:xfrm>
            <a:off x="6126480" y="2596896"/>
            <a:ext cx="2560320" cy="274320"/>
          </a:xfrm>
          <a:prstGeom prst="rect">
            <a:avLst/>
          </a:prstGeom>
          <a:noFill/>
          <a:ln/>
        </p:spPr>
        <p:txBody>
          <a:bodyPr wrap="square" lIns="0" tIns="0" rIns="0" bIns="0" rtlCol="0" anchor="t"/>
          <a:lstStyle/>
          <a:p>
            <a:pPr indent="0" marL="0">
              <a:buNone/>
            </a:pPr>
            <a:r>
              <a:rPr lang="en-US" sz="1250" b="1" dirty="0">
                <a:solidFill>
                  <a:srgbClr val="1F2328"/>
                </a:solidFill>
                <a:latin typeface="Courier New" pitchFamily="34" charset="0"/>
                <a:ea typeface="Courier New" pitchFamily="34" charset="-122"/>
                <a:cs typeface="Courier New" pitchFamily="34" charset="-120"/>
              </a:rPr>
              <a:t>Module args</a:t>
            </a:r>
            <a:endParaRPr lang="en-US" sz="1250" dirty="0"/>
          </a:p>
        </p:txBody>
      </p:sp>
      <p:sp>
        <p:nvSpPr>
          <p:cNvPr id="18" name="Text 16"/>
          <p:cNvSpPr txBox="1"/>
          <p:nvPr/>
        </p:nvSpPr>
        <p:spPr>
          <a:xfrm>
            <a:off x="6126480" y="2871216"/>
            <a:ext cx="2560320" cy="411480"/>
          </a:xfrm>
          <a:prstGeom prst="rect">
            <a:avLst/>
          </a:prstGeom>
          <a:noFill/>
          <a:ln/>
        </p:spPr>
        <p:txBody>
          <a:bodyPr wrap="square" lIns="0" tIns="0" rIns="0" bIns="0" rtlCol="0" anchor="t"/>
          <a:lstStyle/>
          <a:p>
            <a:pPr indent="0" marL="0">
              <a:buNone/>
            </a:pPr>
            <a:r>
              <a:rPr lang="en-US" sz="1100" dirty="0">
                <a:solidFill>
                  <a:srgbClr val="5B6470"/>
                </a:solidFill>
                <a:latin typeface="Calibri" pitchFamily="34" charset="0"/>
                <a:ea typeface="Calibri" pitchFamily="34" charset="-122"/>
                <a:cs typeface="Calibri" pitchFamily="34" charset="-120"/>
              </a:rPr>
              <a:t>desired state, not commands — state: present</a:t>
            </a:r>
            <a:endParaRPr lang="en-US" sz="1100" dirty="0"/>
          </a:p>
        </p:txBody>
      </p:sp>
      <p:sp>
        <p:nvSpPr>
          <p:cNvPr id="19" name="Shape 17"/>
          <p:cNvSpPr/>
          <p:nvPr/>
        </p:nvSpPr>
        <p:spPr>
          <a:xfrm>
            <a:off x="5715000" y="3346704"/>
            <a:ext cx="292608" cy="292608"/>
          </a:xfrm>
          <a:prstGeom prst="ellipse">
            <a:avLst/>
          </a:prstGeom>
          <a:solidFill>
            <a:srgbClr val="D92D27"/>
          </a:solidFill>
          <a:ln w="12700">
            <a:solidFill>
              <a:srgbClr val="D92D27"/>
            </a:solidFill>
            <a:prstDash val="solid"/>
          </a:ln>
        </p:spPr>
      </p:sp>
      <p:sp>
        <p:nvSpPr>
          <p:cNvPr id="20" name="Text 18"/>
          <p:cNvSpPr txBox="1"/>
          <p:nvPr/>
        </p:nvSpPr>
        <p:spPr>
          <a:xfrm>
            <a:off x="5715000" y="334670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1" name="Text 19"/>
          <p:cNvSpPr txBox="1"/>
          <p:nvPr/>
        </p:nvSpPr>
        <p:spPr>
          <a:xfrm>
            <a:off x="6126480" y="3300984"/>
            <a:ext cx="2560320" cy="274320"/>
          </a:xfrm>
          <a:prstGeom prst="rect">
            <a:avLst/>
          </a:prstGeom>
          <a:noFill/>
          <a:ln/>
        </p:spPr>
        <p:txBody>
          <a:bodyPr wrap="square" lIns="0" tIns="0" rIns="0" bIns="0" rtlCol="0" anchor="t"/>
          <a:lstStyle/>
          <a:p>
            <a:pPr indent="0" marL="0">
              <a:buNone/>
            </a:pPr>
            <a:r>
              <a:rPr lang="en-US" sz="1250" b="1" dirty="0">
                <a:solidFill>
                  <a:srgbClr val="1F2328"/>
                </a:solidFill>
                <a:latin typeface="Courier New" pitchFamily="34" charset="0"/>
                <a:ea typeface="Courier New" pitchFamily="34" charset="-122"/>
                <a:cs typeface="Courier New" pitchFamily="34" charset="-120"/>
              </a:rPr>
              <a:t>template</a:t>
            </a:r>
            <a:endParaRPr lang="en-US" sz="1250" dirty="0"/>
          </a:p>
        </p:txBody>
      </p:sp>
      <p:sp>
        <p:nvSpPr>
          <p:cNvPr id="22" name="Text 20"/>
          <p:cNvSpPr txBox="1"/>
          <p:nvPr/>
        </p:nvSpPr>
        <p:spPr>
          <a:xfrm>
            <a:off x="6126480" y="3575304"/>
            <a:ext cx="2560320" cy="411480"/>
          </a:xfrm>
          <a:prstGeom prst="rect">
            <a:avLst/>
          </a:prstGeom>
          <a:noFill/>
          <a:ln/>
        </p:spPr>
        <p:txBody>
          <a:bodyPr wrap="square" lIns="0" tIns="0" rIns="0" bIns="0" rtlCol="0" anchor="t"/>
          <a:lstStyle/>
          <a:p>
            <a:pPr indent="0" marL="0">
              <a:buNone/>
            </a:pPr>
            <a:r>
              <a:rPr lang="en-US" sz="1100" dirty="0">
                <a:solidFill>
                  <a:srgbClr val="5B6470"/>
                </a:solidFill>
                <a:latin typeface="Calibri" pitchFamily="34" charset="0"/>
                <a:ea typeface="Calibri" pitchFamily="34" charset="-122"/>
                <a:cs typeface="Calibri" pitchFamily="34" charset="-120"/>
              </a:rPr>
              <a:t>renders a Jinja2 .j2 file with your variables</a:t>
            </a:r>
            <a:endParaRPr lang="en-US" sz="1100" dirty="0"/>
          </a:p>
        </p:txBody>
      </p:sp>
      <p:sp>
        <p:nvSpPr>
          <p:cNvPr id="23" name="Shape 21"/>
          <p:cNvSpPr/>
          <p:nvPr/>
        </p:nvSpPr>
        <p:spPr>
          <a:xfrm>
            <a:off x="5715000" y="4050792"/>
            <a:ext cx="292608" cy="292608"/>
          </a:xfrm>
          <a:prstGeom prst="ellipse">
            <a:avLst/>
          </a:prstGeom>
          <a:solidFill>
            <a:srgbClr val="D92D27"/>
          </a:solidFill>
          <a:ln w="12700">
            <a:solidFill>
              <a:srgbClr val="D92D27"/>
            </a:solidFill>
            <a:prstDash val="solid"/>
          </a:ln>
        </p:spPr>
      </p:sp>
      <p:sp>
        <p:nvSpPr>
          <p:cNvPr id="24" name="Text 22"/>
          <p:cNvSpPr txBox="1"/>
          <p:nvPr/>
        </p:nvSpPr>
        <p:spPr>
          <a:xfrm>
            <a:off x="5715000" y="405079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5" name="Text 23"/>
          <p:cNvSpPr txBox="1"/>
          <p:nvPr/>
        </p:nvSpPr>
        <p:spPr>
          <a:xfrm>
            <a:off x="6126480" y="4005072"/>
            <a:ext cx="2560320" cy="274320"/>
          </a:xfrm>
          <a:prstGeom prst="rect">
            <a:avLst/>
          </a:prstGeom>
          <a:noFill/>
          <a:ln/>
        </p:spPr>
        <p:txBody>
          <a:bodyPr wrap="square" lIns="0" tIns="0" rIns="0" bIns="0" rtlCol="0" anchor="t"/>
          <a:lstStyle/>
          <a:p>
            <a:pPr indent="0" marL="0">
              <a:buNone/>
            </a:pPr>
            <a:r>
              <a:rPr lang="en-US" sz="1250" b="1" dirty="0">
                <a:solidFill>
                  <a:srgbClr val="1F2328"/>
                </a:solidFill>
                <a:latin typeface="Courier New" pitchFamily="34" charset="0"/>
                <a:ea typeface="Courier New" pitchFamily="34" charset="-122"/>
                <a:cs typeface="Courier New" pitchFamily="34" charset="-120"/>
              </a:rPr>
              <a:t>notify → handlers</a:t>
            </a:r>
            <a:endParaRPr lang="en-US" sz="1250" dirty="0"/>
          </a:p>
        </p:txBody>
      </p:sp>
      <p:sp>
        <p:nvSpPr>
          <p:cNvPr id="26" name="Text 24"/>
          <p:cNvSpPr txBox="1"/>
          <p:nvPr/>
        </p:nvSpPr>
        <p:spPr>
          <a:xfrm>
            <a:off x="6126480" y="4279392"/>
            <a:ext cx="2560320" cy="411480"/>
          </a:xfrm>
          <a:prstGeom prst="rect">
            <a:avLst/>
          </a:prstGeom>
          <a:noFill/>
          <a:ln/>
        </p:spPr>
        <p:txBody>
          <a:bodyPr wrap="square" lIns="0" tIns="0" rIns="0" bIns="0" rtlCol="0" anchor="t"/>
          <a:lstStyle/>
          <a:p>
            <a:pPr indent="0" marL="0">
              <a:buNone/>
            </a:pPr>
            <a:r>
              <a:rPr lang="en-US" sz="1100" dirty="0">
                <a:solidFill>
                  <a:srgbClr val="5B6470"/>
                </a:solidFill>
                <a:latin typeface="Calibri" pitchFamily="34" charset="0"/>
                <a:ea typeface="Calibri" pitchFamily="34" charset="-122"/>
                <a:cs typeface="Calibri" pitchFamily="34" charset="-120"/>
              </a:rPr>
              <a:t>handler runs once, at the end of the play, only if something changed</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9AA1AA"/>
                </a:solidFill>
                <a:latin typeface="Calibri" pitchFamily="34" charset="0"/>
                <a:ea typeface="Calibri" pitchFamily="34" charset="-122"/>
                <a:cs typeface="Calibri" pitchFamily="34" charset="-120"/>
              </a:rPr>
              <a:t>25</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Loops, conditionals and register</a:t>
            </a:r>
            <a:endParaRPr lang="en-US" sz="28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B6470"/>
                </a:solidFill>
                <a:latin typeface="Calibri" pitchFamily="34" charset="0"/>
                <a:ea typeface="Calibri" pitchFamily="34" charset="-122"/>
                <a:cs typeface="Calibri" pitchFamily="34" charset="-120"/>
              </a:rPr>
              <a:t>playbooks/04_vars_loops_conditions.yml</a:t>
            </a:r>
            <a:endParaRPr lang="en-US" sz="1300" dirty="0"/>
          </a:p>
        </p:txBody>
      </p:sp>
      <p:sp>
        <p:nvSpPr>
          <p:cNvPr id="5" name="Shape 3"/>
          <p:cNvSpPr/>
          <p:nvPr/>
        </p:nvSpPr>
        <p:spPr>
          <a:xfrm>
            <a:off x="457200" y="1188720"/>
            <a:ext cx="960120" cy="292608"/>
          </a:xfrm>
          <a:prstGeom prst="roundRect">
            <a:avLst>
              <a:gd name="adj" fmla="val 15625"/>
            </a:avLst>
          </a:prstGeom>
          <a:solidFill>
            <a:srgbClr val="D92D27"/>
          </a:solidFill>
          <a:ln w="12700">
            <a:solidFill>
              <a:srgbClr val="D92D27"/>
            </a:solidFill>
            <a:prstDash val="solid"/>
          </a:ln>
        </p:spPr>
      </p:sp>
      <p:sp>
        <p:nvSpPr>
          <p:cNvPr id="6" name="Text 4"/>
          <p:cNvSpPr txBox="1"/>
          <p:nvPr/>
        </p:nvSpPr>
        <p:spPr>
          <a:xfrm>
            <a:off x="457200" y="1188720"/>
            <a:ext cx="96012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loop</a:t>
            </a:r>
            <a:endParaRPr lang="en-US" sz="1200" dirty="0"/>
          </a:p>
        </p:txBody>
      </p:sp>
      <p:sp>
        <p:nvSpPr>
          <p:cNvPr id="7" name="Text 5"/>
          <p:cNvSpPr txBox="1"/>
          <p:nvPr/>
        </p:nvSpPr>
        <p:spPr>
          <a:xfrm>
            <a:off x="1508760" y="1188720"/>
            <a:ext cx="2971800" cy="292608"/>
          </a:xfrm>
          <a:prstGeom prst="rect">
            <a:avLst/>
          </a:prstGeom>
          <a:noFill/>
          <a:ln/>
        </p:spPr>
        <p:txBody>
          <a:bodyPr wrap="square" lIns="0" tIns="0" rIns="0" bIns="0" rtlCol="0" anchor="ctr"/>
          <a:lstStyle/>
          <a:p>
            <a:pPr indent="0" marL="0">
              <a:buNone/>
            </a:pPr>
            <a:r>
              <a:rPr lang="en-US" sz="1200" dirty="0">
                <a:solidFill>
                  <a:srgbClr val="5B6470"/>
                </a:solidFill>
                <a:latin typeface="Calibri" pitchFamily="34" charset="0"/>
                <a:ea typeface="Calibri" pitchFamily="34" charset="-122"/>
                <a:cs typeface="Calibri" pitchFamily="34" charset="-120"/>
              </a:rPr>
              <a:t>Repeat a task for each item</a:t>
            </a:r>
            <a:endParaRPr lang="en-US" sz="1200" dirty="0"/>
          </a:p>
        </p:txBody>
      </p:sp>
      <p:sp>
        <p:nvSpPr>
          <p:cNvPr id="8" name="Shape 6"/>
          <p:cNvSpPr/>
          <p:nvPr/>
        </p:nvSpPr>
        <p:spPr>
          <a:xfrm>
            <a:off x="457200" y="1554480"/>
            <a:ext cx="4023360" cy="1188720"/>
          </a:xfrm>
          <a:prstGeom prst="roundRect">
            <a:avLst>
              <a:gd name="adj" fmla="val 4615"/>
            </a:avLst>
          </a:prstGeom>
          <a:solidFill>
            <a:srgbClr val="1E2229"/>
          </a:solidFill>
          <a:ln w="12700">
            <a:solidFill>
              <a:srgbClr val="1E2229"/>
            </a:solidFill>
            <a:prstDash val="solid"/>
          </a:ln>
        </p:spPr>
      </p:sp>
      <p:sp>
        <p:nvSpPr>
          <p:cNvPr id="9" name="Text 7"/>
          <p:cNvSpPr txBox="1"/>
          <p:nvPr/>
        </p:nvSpPr>
        <p:spPr>
          <a:xfrm>
            <a:off x="594360" y="1664208"/>
            <a:ext cx="3749040" cy="969264"/>
          </a:xfrm>
          <a:prstGeom prst="rect">
            <a:avLst/>
          </a:prstGeom>
          <a:noFill/>
          <a:ln/>
        </p:spPr>
        <p:txBody>
          <a:bodyPr wrap="square" lIns="0" tIns="0" rIns="0" bIns="0" rtlCol="0" anchor="t"/>
          <a:lstStyle/>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name:</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Install packages</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ansible.builtin.apt:</a:t>
            </a:r>
            <a:pPr indent="0" marL="0">
              <a:lnSpc>
                <a:spcPct val="100000"/>
              </a:lnSpc>
              <a:buNone/>
            </a:pP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name:</a:t>
            </a:r>
            <a:pPr indent="0" marL="0">
              <a:lnSpc>
                <a:spcPct val="100000"/>
              </a:lnSpc>
              <a:buNone/>
            </a:pPr>
            <a:r>
              <a:rPr lang="en-US" sz="950" dirty="0">
                <a:solidFill>
                  <a:srgbClr val="F2C67C"/>
                </a:solidFill>
                <a:latin typeface="Courier New" pitchFamily="34" charset="0"/>
                <a:ea typeface="Courier New" pitchFamily="34" charset="-122"/>
                <a:cs typeface="Courier New" pitchFamily="34" charset="-120"/>
              </a:rPr>
              <a:t> "{{ item }}"</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loop:</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[curl, tree, vim-tiny]</a:t>
            </a:r>
            <a:endParaRPr lang="en-US" sz="950" dirty="0"/>
          </a:p>
        </p:txBody>
      </p:sp>
      <p:sp>
        <p:nvSpPr>
          <p:cNvPr id="10" name="Shape 8"/>
          <p:cNvSpPr/>
          <p:nvPr/>
        </p:nvSpPr>
        <p:spPr>
          <a:xfrm>
            <a:off x="4663440" y="1188720"/>
            <a:ext cx="960120" cy="292608"/>
          </a:xfrm>
          <a:prstGeom prst="roundRect">
            <a:avLst>
              <a:gd name="adj" fmla="val 15625"/>
            </a:avLst>
          </a:prstGeom>
          <a:solidFill>
            <a:srgbClr val="D92D27"/>
          </a:solidFill>
          <a:ln w="12700">
            <a:solidFill>
              <a:srgbClr val="D92D27"/>
            </a:solidFill>
            <a:prstDash val="solid"/>
          </a:ln>
        </p:spPr>
      </p:sp>
      <p:sp>
        <p:nvSpPr>
          <p:cNvPr id="11" name="Text 9"/>
          <p:cNvSpPr txBox="1"/>
          <p:nvPr/>
        </p:nvSpPr>
        <p:spPr>
          <a:xfrm>
            <a:off x="4663440" y="1188720"/>
            <a:ext cx="96012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when</a:t>
            </a:r>
            <a:endParaRPr lang="en-US" sz="1200" dirty="0"/>
          </a:p>
        </p:txBody>
      </p:sp>
      <p:sp>
        <p:nvSpPr>
          <p:cNvPr id="12" name="Text 10"/>
          <p:cNvSpPr txBox="1"/>
          <p:nvPr/>
        </p:nvSpPr>
        <p:spPr>
          <a:xfrm>
            <a:off x="5715000" y="1188720"/>
            <a:ext cx="2971800" cy="292608"/>
          </a:xfrm>
          <a:prstGeom prst="rect">
            <a:avLst/>
          </a:prstGeom>
          <a:noFill/>
          <a:ln/>
        </p:spPr>
        <p:txBody>
          <a:bodyPr wrap="square" lIns="0" tIns="0" rIns="0" bIns="0" rtlCol="0" anchor="ctr"/>
          <a:lstStyle/>
          <a:p>
            <a:pPr indent="0" marL="0">
              <a:buNone/>
            </a:pPr>
            <a:r>
              <a:rPr lang="en-US" sz="1200" dirty="0">
                <a:solidFill>
                  <a:srgbClr val="5B6470"/>
                </a:solidFill>
                <a:latin typeface="Calibri" pitchFamily="34" charset="0"/>
                <a:ea typeface="Calibri" pitchFamily="34" charset="-122"/>
                <a:cs typeface="Calibri" pitchFamily="34" charset="-120"/>
              </a:rPr>
              <a:t>Run only if a condition is true</a:t>
            </a:r>
            <a:endParaRPr lang="en-US" sz="1200" dirty="0"/>
          </a:p>
        </p:txBody>
      </p:sp>
      <p:sp>
        <p:nvSpPr>
          <p:cNvPr id="13" name="Shape 11"/>
          <p:cNvSpPr/>
          <p:nvPr/>
        </p:nvSpPr>
        <p:spPr>
          <a:xfrm>
            <a:off x="4663440" y="1554480"/>
            <a:ext cx="4023360" cy="1188720"/>
          </a:xfrm>
          <a:prstGeom prst="roundRect">
            <a:avLst>
              <a:gd name="adj" fmla="val 4615"/>
            </a:avLst>
          </a:prstGeom>
          <a:solidFill>
            <a:srgbClr val="1E2229"/>
          </a:solidFill>
          <a:ln w="12700">
            <a:solidFill>
              <a:srgbClr val="1E2229"/>
            </a:solidFill>
            <a:prstDash val="solid"/>
          </a:ln>
        </p:spPr>
      </p:sp>
      <p:sp>
        <p:nvSpPr>
          <p:cNvPr id="14" name="Text 12"/>
          <p:cNvSpPr txBox="1"/>
          <p:nvPr/>
        </p:nvSpPr>
        <p:spPr>
          <a:xfrm>
            <a:off x="4800600" y="1664208"/>
            <a:ext cx="3749040" cy="969264"/>
          </a:xfrm>
          <a:prstGeom prst="rect">
            <a:avLst/>
          </a:prstGeom>
          <a:noFill/>
          <a:ln/>
        </p:spPr>
        <p:txBody>
          <a:bodyPr wrap="square" lIns="0" tIns="0" rIns="0" bIns="0" rtlCol="0" anchor="t"/>
          <a:lstStyle/>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name:</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Only on Debian family</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ansible.builtin.debug:</a:t>
            </a:r>
            <a:pPr indent="0" marL="0">
              <a:lnSpc>
                <a:spcPct val="100000"/>
              </a:lnSpc>
              <a:buNone/>
            </a:pP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msg:</a:t>
            </a:r>
            <a:pPr indent="0" marL="0">
              <a:lnSpc>
                <a:spcPct val="100000"/>
              </a:lnSpc>
              <a:buNone/>
            </a:pPr>
            <a:r>
              <a:rPr lang="en-US" sz="950" dirty="0">
                <a:solidFill>
                  <a:srgbClr val="F2C67C"/>
                </a:solidFill>
                <a:latin typeface="Courier New" pitchFamily="34" charset="0"/>
                <a:ea typeface="Courier New" pitchFamily="34" charset="-122"/>
                <a:cs typeface="Courier New" pitchFamily="34" charset="-120"/>
              </a:rPr>
              <a:t> "apt is right here"</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when:</a:t>
            </a:r>
            <a:pPr indent="0" marL="0">
              <a:lnSpc>
                <a:spcPct val="100000"/>
              </a:lnSpc>
              <a:buNone/>
            </a:pPr>
            <a:r>
              <a:rPr lang="en-US" sz="950" dirty="0">
                <a:solidFill>
                  <a:srgbClr val="F2C67C"/>
                </a:solidFill>
                <a:latin typeface="Courier New" pitchFamily="34" charset="0"/>
                <a:ea typeface="Courier New" pitchFamily="34" charset="-122"/>
                <a:cs typeface="Courier New" pitchFamily="34" charset="-120"/>
              </a:rPr>
              <a:t> ansible_facts['os_family'] == "Debian"</a:t>
            </a:r>
            <a:endParaRPr lang="en-US" sz="950" dirty="0"/>
          </a:p>
        </p:txBody>
      </p:sp>
      <p:sp>
        <p:nvSpPr>
          <p:cNvPr id="15" name="Shape 13"/>
          <p:cNvSpPr/>
          <p:nvPr/>
        </p:nvSpPr>
        <p:spPr>
          <a:xfrm>
            <a:off x="457200" y="2926080"/>
            <a:ext cx="960120" cy="292608"/>
          </a:xfrm>
          <a:prstGeom prst="roundRect">
            <a:avLst>
              <a:gd name="adj" fmla="val 15625"/>
            </a:avLst>
          </a:prstGeom>
          <a:solidFill>
            <a:srgbClr val="D92D27"/>
          </a:solidFill>
          <a:ln w="12700">
            <a:solidFill>
              <a:srgbClr val="D92D27"/>
            </a:solidFill>
            <a:prstDash val="solid"/>
          </a:ln>
        </p:spPr>
      </p:sp>
      <p:sp>
        <p:nvSpPr>
          <p:cNvPr id="16" name="Text 14"/>
          <p:cNvSpPr txBox="1"/>
          <p:nvPr/>
        </p:nvSpPr>
        <p:spPr>
          <a:xfrm>
            <a:off x="457200" y="2926080"/>
            <a:ext cx="96012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register</a:t>
            </a:r>
            <a:endParaRPr lang="en-US" sz="1200" dirty="0"/>
          </a:p>
        </p:txBody>
      </p:sp>
      <p:sp>
        <p:nvSpPr>
          <p:cNvPr id="17" name="Text 15"/>
          <p:cNvSpPr txBox="1"/>
          <p:nvPr/>
        </p:nvSpPr>
        <p:spPr>
          <a:xfrm>
            <a:off x="1508760" y="2926080"/>
            <a:ext cx="2971800" cy="292608"/>
          </a:xfrm>
          <a:prstGeom prst="rect">
            <a:avLst/>
          </a:prstGeom>
          <a:noFill/>
          <a:ln/>
        </p:spPr>
        <p:txBody>
          <a:bodyPr wrap="square" lIns="0" tIns="0" rIns="0" bIns="0" rtlCol="0" anchor="ctr"/>
          <a:lstStyle/>
          <a:p>
            <a:pPr indent="0" marL="0">
              <a:buNone/>
            </a:pPr>
            <a:r>
              <a:rPr lang="en-US" sz="1200" dirty="0">
                <a:solidFill>
                  <a:srgbClr val="5B6470"/>
                </a:solidFill>
                <a:latin typeface="Calibri" pitchFamily="34" charset="0"/>
                <a:ea typeface="Calibri" pitchFamily="34" charset="-122"/>
                <a:cs typeface="Calibri" pitchFamily="34" charset="-120"/>
              </a:rPr>
              <a:t>Save a task's result in a variable</a:t>
            </a:r>
            <a:endParaRPr lang="en-US" sz="1200" dirty="0"/>
          </a:p>
        </p:txBody>
      </p:sp>
      <p:sp>
        <p:nvSpPr>
          <p:cNvPr id="18" name="Shape 16"/>
          <p:cNvSpPr/>
          <p:nvPr/>
        </p:nvSpPr>
        <p:spPr>
          <a:xfrm>
            <a:off x="457200" y="3291840"/>
            <a:ext cx="4023360" cy="1188720"/>
          </a:xfrm>
          <a:prstGeom prst="roundRect">
            <a:avLst>
              <a:gd name="adj" fmla="val 4615"/>
            </a:avLst>
          </a:prstGeom>
          <a:solidFill>
            <a:srgbClr val="1E2229"/>
          </a:solidFill>
          <a:ln w="12700">
            <a:solidFill>
              <a:srgbClr val="1E2229"/>
            </a:solidFill>
            <a:prstDash val="solid"/>
          </a:ln>
        </p:spPr>
      </p:sp>
      <p:sp>
        <p:nvSpPr>
          <p:cNvPr id="19" name="Text 17"/>
          <p:cNvSpPr txBox="1"/>
          <p:nvPr/>
        </p:nvSpPr>
        <p:spPr>
          <a:xfrm>
            <a:off x="594360" y="3401568"/>
            <a:ext cx="3749040" cy="969264"/>
          </a:xfrm>
          <a:prstGeom prst="rect">
            <a:avLst/>
          </a:prstGeom>
          <a:noFill/>
          <a:ln/>
        </p:spPr>
        <p:txBody>
          <a:bodyPr wrap="square" lIns="0" tIns="0" rIns="0" bIns="0" rtlCol="0" anchor="t"/>
          <a:lstStyle/>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name:</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Read uptime</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ansible.builtin.command:</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uptime</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register:</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up</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changed_when:</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false</a:t>
            </a:r>
            <a:endParaRPr lang="en-US" sz="950" dirty="0"/>
          </a:p>
        </p:txBody>
      </p:sp>
      <p:sp>
        <p:nvSpPr>
          <p:cNvPr id="20" name="Shape 18"/>
          <p:cNvSpPr/>
          <p:nvPr/>
        </p:nvSpPr>
        <p:spPr>
          <a:xfrm>
            <a:off x="4663440" y="2926080"/>
            <a:ext cx="960120" cy="292608"/>
          </a:xfrm>
          <a:prstGeom prst="roundRect">
            <a:avLst>
              <a:gd name="adj" fmla="val 15625"/>
            </a:avLst>
          </a:prstGeom>
          <a:solidFill>
            <a:srgbClr val="D92D27"/>
          </a:solidFill>
          <a:ln w="12700">
            <a:solidFill>
              <a:srgbClr val="D92D27"/>
            </a:solidFill>
            <a:prstDash val="solid"/>
          </a:ln>
        </p:spPr>
      </p:sp>
      <p:sp>
        <p:nvSpPr>
          <p:cNvPr id="21" name="Text 19"/>
          <p:cNvSpPr txBox="1"/>
          <p:nvPr/>
        </p:nvSpPr>
        <p:spPr>
          <a:xfrm>
            <a:off x="4663440" y="2926080"/>
            <a:ext cx="96012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debug</a:t>
            </a:r>
            <a:endParaRPr lang="en-US" sz="1200" dirty="0"/>
          </a:p>
        </p:txBody>
      </p:sp>
      <p:sp>
        <p:nvSpPr>
          <p:cNvPr id="22" name="Text 20"/>
          <p:cNvSpPr txBox="1"/>
          <p:nvPr/>
        </p:nvSpPr>
        <p:spPr>
          <a:xfrm>
            <a:off x="5715000" y="2926080"/>
            <a:ext cx="2971800" cy="292608"/>
          </a:xfrm>
          <a:prstGeom prst="rect">
            <a:avLst/>
          </a:prstGeom>
          <a:noFill/>
          <a:ln/>
        </p:spPr>
        <p:txBody>
          <a:bodyPr wrap="square" lIns="0" tIns="0" rIns="0" bIns="0" rtlCol="0" anchor="ctr"/>
          <a:lstStyle/>
          <a:p>
            <a:pPr indent="0" marL="0">
              <a:buNone/>
            </a:pPr>
            <a:r>
              <a:rPr lang="en-US" sz="1200" dirty="0">
                <a:solidFill>
                  <a:srgbClr val="5B6470"/>
                </a:solidFill>
                <a:latin typeface="Calibri" pitchFamily="34" charset="0"/>
                <a:ea typeface="Calibri" pitchFamily="34" charset="-122"/>
                <a:cs typeface="Calibri" pitchFamily="34" charset="-120"/>
              </a:rPr>
              <a:t>Print values while learning</a:t>
            </a:r>
            <a:endParaRPr lang="en-US" sz="1200" dirty="0"/>
          </a:p>
        </p:txBody>
      </p:sp>
      <p:sp>
        <p:nvSpPr>
          <p:cNvPr id="23" name="Shape 21"/>
          <p:cNvSpPr/>
          <p:nvPr/>
        </p:nvSpPr>
        <p:spPr>
          <a:xfrm>
            <a:off x="4663440" y="3291840"/>
            <a:ext cx="4023360" cy="1188720"/>
          </a:xfrm>
          <a:prstGeom prst="roundRect">
            <a:avLst>
              <a:gd name="adj" fmla="val 4615"/>
            </a:avLst>
          </a:prstGeom>
          <a:solidFill>
            <a:srgbClr val="1E2229"/>
          </a:solidFill>
          <a:ln w="12700">
            <a:solidFill>
              <a:srgbClr val="1E2229"/>
            </a:solidFill>
            <a:prstDash val="solid"/>
          </a:ln>
        </p:spPr>
      </p:sp>
      <p:sp>
        <p:nvSpPr>
          <p:cNvPr id="24" name="Text 22"/>
          <p:cNvSpPr txBox="1"/>
          <p:nvPr/>
        </p:nvSpPr>
        <p:spPr>
          <a:xfrm>
            <a:off x="4800600" y="3401568"/>
            <a:ext cx="3749040" cy="969264"/>
          </a:xfrm>
          <a:prstGeom prst="rect">
            <a:avLst/>
          </a:prstGeom>
          <a:noFill/>
          <a:ln/>
        </p:spPr>
        <p:txBody>
          <a:bodyPr wrap="square" lIns="0" tIns="0" rIns="0" bIns="0" rtlCol="0" anchor="t"/>
          <a:lstStyle/>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name:</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Show it</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ansible.builtin.debug:</a:t>
            </a:r>
            <a:pPr indent="0" marL="0">
              <a:lnSpc>
                <a:spcPct val="100000"/>
              </a:lnSpc>
              <a:buNone/>
            </a:pP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var:</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up.stdout</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9AA1AA"/>
                </a:solidFill>
                <a:latin typeface="Calibri" pitchFamily="34" charset="0"/>
                <a:ea typeface="Calibri" pitchFamily="34" charset="-122"/>
                <a:cs typeface="Calibri" pitchFamily="34" charset="-120"/>
              </a:rPr>
              <a:t>26</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Roles — organise playbooks for reuse</a:t>
            </a:r>
            <a:endParaRPr lang="en-US" sz="28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B6470"/>
                </a:solidFill>
                <a:latin typeface="Calibri" pitchFamily="34" charset="0"/>
                <a:ea typeface="Calibri" pitchFamily="34" charset="-122"/>
                <a:cs typeface="Calibri" pitchFamily="34" charset="-120"/>
              </a:rPr>
              <a:t>Create a skeleton with:  ansible-galaxy role init roles/nginx</a:t>
            </a:r>
            <a:endParaRPr lang="en-US" sz="1300" dirty="0"/>
          </a:p>
        </p:txBody>
      </p:sp>
      <p:sp>
        <p:nvSpPr>
          <p:cNvPr id="5" name="Shape 3"/>
          <p:cNvSpPr/>
          <p:nvPr/>
        </p:nvSpPr>
        <p:spPr>
          <a:xfrm>
            <a:off x="457200" y="1234440"/>
            <a:ext cx="3931920" cy="3383280"/>
          </a:xfrm>
          <a:prstGeom prst="roundRect">
            <a:avLst>
              <a:gd name="adj" fmla="val 1622"/>
            </a:avLst>
          </a:prstGeom>
          <a:solidFill>
            <a:srgbClr val="1E2229"/>
          </a:solidFill>
          <a:ln w="12700">
            <a:solidFill>
              <a:srgbClr val="1E2229"/>
            </a:solidFill>
            <a:prstDash val="solid"/>
          </a:ln>
        </p:spPr>
      </p:sp>
      <p:sp>
        <p:nvSpPr>
          <p:cNvPr id="6" name="Text 4"/>
          <p:cNvSpPr txBox="1"/>
          <p:nvPr/>
        </p:nvSpPr>
        <p:spPr>
          <a:xfrm>
            <a:off x="594360" y="1344168"/>
            <a:ext cx="3657600" cy="3163824"/>
          </a:xfrm>
          <a:prstGeom prst="rect">
            <a:avLst/>
          </a:prstGeom>
          <a:noFill/>
          <a:ln/>
        </p:spPr>
        <p:txBody>
          <a:bodyPr wrap="square" lIns="0" tIns="0" rIns="0" bIns="0" rtlCol="0" anchor="t"/>
          <a:lstStyle/>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project/</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ansible.cfg</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inventory/</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 wsl.ini</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 group_vars/</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 host_vars/</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playbooks/site.yml</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roles/</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 nginx/</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 tasks/main.yml</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 handlers/main.yml</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 templates/index.html.j2</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 files/</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 vars/main.yml</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 defaults/main.yml</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 meta/main.yml</a:t>
            </a:r>
            <a:endParaRPr lang="en-US" sz="1000" dirty="0"/>
          </a:p>
        </p:txBody>
      </p:sp>
      <p:sp>
        <p:nvSpPr>
          <p:cNvPr id="7" name="Text 5"/>
          <p:cNvSpPr txBox="1"/>
          <p:nvPr/>
        </p:nvSpPr>
        <p:spPr>
          <a:xfrm>
            <a:off x="4663440" y="1188720"/>
            <a:ext cx="1234440" cy="329184"/>
          </a:xfrm>
          <a:prstGeom prst="rect">
            <a:avLst/>
          </a:prstGeom>
          <a:noFill/>
          <a:ln/>
        </p:spPr>
        <p:txBody>
          <a:bodyPr wrap="square" lIns="0" tIns="0" rIns="0" bIns="0" rtlCol="0" anchor="ctr"/>
          <a:lstStyle/>
          <a:p>
            <a:pPr indent="0" marL="0">
              <a:buNone/>
            </a:pPr>
            <a:r>
              <a:rPr lang="en-US" sz="1200" b="1" dirty="0">
                <a:solidFill>
                  <a:srgbClr val="D92D27"/>
                </a:solidFill>
                <a:latin typeface="Courier New" pitchFamily="34" charset="0"/>
                <a:ea typeface="Courier New" pitchFamily="34" charset="-122"/>
                <a:cs typeface="Courier New" pitchFamily="34" charset="-120"/>
              </a:rPr>
              <a:t>tasks/</a:t>
            </a:r>
            <a:endParaRPr lang="en-US" sz="1200" dirty="0"/>
          </a:p>
        </p:txBody>
      </p:sp>
      <p:sp>
        <p:nvSpPr>
          <p:cNvPr id="8" name="Text 6"/>
          <p:cNvSpPr txBox="1"/>
          <p:nvPr/>
        </p:nvSpPr>
        <p:spPr>
          <a:xfrm>
            <a:off x="5897880" y="1188720"/>
            <a:ext cx="2834640" cy="329184"/>
          </a:xfrm>
          <a:prstGeom prst="rect">
            <a:avLst/>
          </a:prstGeom>
          <a:noFill/>
          <a:ln/>
        </p:spPr>
        <p:txBody>
          <a:bodyPr wrap="square" lIns="0" tIns="0" rIns="0" bIns="0" rtlCol="0" anchor="ctr"/>
          <a:lstStyle/>
          <a:p>
            <a:pPr indent="0" marL="0">
              <a:buNone/>
            </a:pPr>
            <a:r>
              <a:rPr lang="en-US" sz="1200" dirty="0">
                <a:solidFill>
                  <a:srgbClr val="1F2328"/>
                </a:solidFill>
                <a:latin typeface="Calibri" pitchFamily="34" charset="0"/>
                <a:ea typeface="Calibri" pitchFamily="34" charset="-122"/>
                <a:cs typeface="Calibri" pitchFamily="34" charset="-120"/>
              </a:rPr>
              <a:t>main list of tasks — entry point</a:t>
            </a:r>
            <a:endParaRPr lang="en-US" sz="1200" dirty="0"/>
          </a:p>
        </p:txBody>
      </p:sp>
      <p:sp>
        <p:nvSpPr>
          <p:cNvPr id="9" name="Text 7"/>
          <p:cNvSpPr txBox="1"/>
          <p:nvPr/>
        </p:nvSpPr>
        <p:spPr>
          <a:xfrm>
            <a:off x="4663440" y="1545336"/>
            <a:ext cx="1234440" cy="329184"/>
          </a:xfrm>
          <a:prstGeom prst="rect">
            <a:avLst/>
          </a:prstGeom>
          <a:noFill/>
          <a:ln/>
        </p:spPr>
        <p:txBody>
          <a:bodyPr wrap="square" lIns="0" tIns="0" rIns="0" bIns="0" rtlCol="0" anchor="ctr"/>
          <a:lstStyle/>
          <a:p>
            <a:pPr indent="0" marL="0">
              <a:buNone/>
            </a:pPr>
            <a:r>
              <a:rPr lang="en-US" sz="1200" b="1" dirty="0">
                <a:solidFill>
                  <a:srgbClr val="D92D27"/>
                </a:solidFill>
                <a:latin typeface="Courier New" pitchFamily="34" charset="0"/>
                <a:ea typeface="Courier New" pitchFamily="34" charset="-122"/>
                <a:cs typeface="Courier New" pitchFamily="34" charset="-120"/>
              </a:rPr>
              <a:t>handlers/</a:t>
            </a:r>
            <a:endParaRPr lang="en-US" sz="1200" dirty="0"/>
          </a:p>
        </p:txBody>
      </p:sp>
      <p:sp>
        <p:nvSpPr>
          <p:cNvPr id="10" name="Text 8"/>
          <p:cNvSpPr txBox="1"/>
          <p:nvPr/>
        </p:nvSpPr>
        <p:spPr>
          <a:xfrm>
            <a:off x="5897880" y="1545336"/>
            <a:ext cx="2834640" cy="329184"/>
          </a:xfrm>
          <a:prstGeom prst="rect">
            <a:avLst/>
          </a:prstGeom>
          <a:noFill/>
          <a:ln/>
        </p:spPr>
        <p:txBody>
          <a:bodyPr wrap="square" lIns="0" tIns="0" rIns="0" bIns="0" rtlCol="0" anchor="ctr"/>
          <a:lstStyle/>
          <a:p>
            <a:pPr indent="0" marL="0">
              <a:buNone/>
            </a:pPr>
            <a:r>
              <a:rPr lang="en-US" sz="1200" dirty="0">
                <a:solidFill>
                  <a:srgbClr val="1F2328"/>
                </a:solidFill>
                <a:latin typeface="Calibri" pitchFamily="34" charset="0"/>
                <a:ea typeface="Calibri" pitchFamily="34" charset="-122"/>
                <a:cs typeface="Calibri" pitchFamily="34" charset="-120"/>
              </a:rPr>
              <a:t>restart/reload handlers</a:t>
            </a:r>
            <a:endParaRPr lang="en-US" sz="1200" dirty="0"/>
          </a:p>
        </p:txBody>
      </p:sp>
      <p:sp>
        <p:nvSpPr>
          <p:cNvPr id="11" name="Text 9"/>
          <p:cNvSpPr txBox="1"/>
          <p:nvPr/>
        </p:nvSpPr>
        <p:spPr>
          <a:xfrm>
            <a:off x="4663440" y="1901952"/>
            <a:ext cx="1234440" cy="329184"/>
          </a:xfrm>
          <a:prstGeom prst="rect">
            <a:avLst/>
          </a:prstGeom>
          <a:noFill/>
          <a:ln/>
        </p:spPr>
        <p:txBody>
          <a:bodyPr wrap="square" lIns="0" tIns="0" rIns="0" bIns="0" rtlCol="0" anchor="ctr"/>
          <a:lstStyle/>
          <a:p>
            <a:pPr indent="0" marL="0">
              <a:buNone/>
            </a:pPr>
            <a:r>
              <a:rPr lang="en-US" sz="1200" b="1" dirty="0">
                <a:solidFill>
                  <a:srgbClr val="D92D27"/>
                </a:solidFill>
                <a:latin typeface="Courier New" pitchFamily="34" charset="0"/>
                <a:ea typeface="Courier New" pitchFamily="34" charset="-122"/>
                <a:cs typeface="Courier New" pitchFamily="34" charset="-120"/>
              </a:rPr>
              <a:t>templates/</a:t>
            </a:r>
            <a:endParaRPr lang="en-US" sz="1200" dirty="0"/>
          </a:p>
        </p:txBody>
      </p:sp>
      <p:sp>
        <p:nvSpPr>
          <p:cNvPr id="12" name="Text 10"/>
          <p:cNvSpPr txBox="1"/>
          <p:nvPr/>
        </p:nvSpPr>
        <p:spPr>
          <a:xfrm>
            <a:off x="5897880" y="1901952"/>
            <a:ext cx="2834640" cy="329184"/>
          </a:xfrm>
          <a:prstGeom prst="rect">
            <a:avLst/>
          </a:prstGeom>
          <a:noFill/>
          <a:ln/>
        </p:spPr>
        <p:txBody>
          <a:bodyPr wrap="square" lIns="0" tIns="0" rIns="0" bIns="0" rtlCol="0" anchor="ctr"/>
          <a:lstStyle/>
          <a:p>
            <a:pPr indent="0" marL="0">
              <a:buNone/>
            </a:pPr>
            <a:r>
              <a:rPr lang="en-US" sz="1200" dirty="0">
                <a:solidFill>
                  <a:srgbClr val="1F2328"/>
                </a:solidFill>
                <a:latin typeface="Calibri" pitchFamily="34" charset="0"/>
                <a:ea typeface="Calibri" pitchFamily="34" charset="-122"/>
                <a:cs typeface="Calibri" pitchFamily="34" charset="-120"/>
              </a:rPr>
              <a:t>Jinja2 .j2 files</a:t>
            </a:r>
            <a:endParaRPr lang="en-US" sz="1200" dirty="0"/>
          </a:p>
        </p:txBody>
      </p:sp>
      <p:sp>
        <p:nvSpPr>
          <p:cNvPr id="13" name="Text 11"/>
          <p:cNvSpPr txBox="1"/>
          <p:nvPr/>
        </p:nvSpPr>
        <p:spPr>
          <a:xfrm>
            <a:off x="4663440" y="2258568"/>
            <a:ext cx="1234440" cy="329184"/>
          </a:xfrm>
          <a:prstGeom prst="rect">
            <a:avLst/>
          </a:prstGeom>
          <a:noFill/>
          <a:ln/>
        </p:spPr>
        <p:txBody>
          <a:bodyPr wrap="square" lIns="0" tIns="0" rIns="0" bIns="0" rtlCol="0" anchor="ctr"/>
          <a:lstStyle/>
          <a:p>
            <a:pPr indent="0" marL="0">
              <a:buNone/>
            </a:pPr>
            <a:r>
              <a:rPr lang="en-US" sz="1200" b="1" dirty="0">
                <a:solidFill>
                  <a:srgbClr val="D92D27"/>
                </a:solidFill>
                <a:latin typeface="Courier New" pitchFamily="34" charset="0"/>
                <a:ea typeface="Courier New" pitchFamily="34" charset="-122"/>
                <a:cs typeface="Courier New" pitchFamily="34" charset="-120"/>
              </a:rPr>
              <a:t>files/</a:t>
            </a:r>
            <a:endParaRPr lang="en-US" sz="1200" dirty="0"/>
          </a:p>
        </p:txBody>
      </p:sp>
      <p:sp>
        <p:nvSpPr>
          <p:cNvPr id="14" name="Text 12"/>
          <p:cNvSpPr txBox="1"/>
          <p:nvPr/>
        </p:nvSpPr>
        <p:spPr>
          <a:xfrm>
            <a:off x="5897880" y="2258568"/>
            <a:ext cx="2834640" cy="329184"/>
          </a:xfrm>
          <a:prstGeom prst="rect">
            <a:avLst/>
          </a:prstGeom>
          <a:noFill/>
          <a:ln/>
        </p:spPr>
        <p:txBody>
          <a:bodyPr wrap="square" lIns="0" tIns="0" rIns="0" bIns="0" rtlCol="0" anchor="ctr"/>
          <a:lstStyle/>
          <a:p>
            <a:pPr indent="0" marL="0">
              <a:buNone/>
            </a:pPr>
            <a:r>
              <a:rPr lang="en-US" sz="1200" dirty="0">
                <a:solidFill>
                  <a:srgbClr val="1F2328"/>
                </a:solidFill>
                <a:latin typeface="Calibri" pitchFamily="34" charset="0"/>
                <a:ea typeface="Calibri" pitchFamily="34" charset="-122"/>
                <a:cs typeface="Calibri" pitchFamily="34" charset="-120"/>
              </a:rPr>
              <a:t>static files for copy</a:t>
            </a:r>
            <a:endParaRPr lang="en-US" sz="1200" dirty="0"/>
          </a:p>
        </p:txBody>
      </p:sp>
      <p:sp>
        <p:nvSpPr>
          <p:cNvPr id="15" name="Text 13"/>
          <p:cNvSpPr txBox="1"/>
          <p:nvPr/>
        </p:nvSpPr>
        <p:spPr>
          <a:xfrm>
            <a:off x="4663440" y="2615184"/>
            <a:ext cx="1234440" cy="329184"/>
          </a:xfrm>
          <a:prstGeom prst="rect">
            <a:avLst/>
          </a:prstGeom>
          <a:noFill/>
          <a:ln/>
        </p:spPr>
        <p:txBody>
          <a:bodyPr wrap="square" lIns="0" tIns="0" rIns="0" bIns="0" rtlCol="0" anchor="ctr"/>
          <a:lstStyle/>
          <a:p>
            <a:pPr indent="0" marL="0">
              <a:buNone/>
            </a:pPr>
            <a:r>
              <a:rPr lang="en-US" sz="1200" b="1" dirty="0">
                <a:solidFill>
                  <a:srgbClr val="D92D27"/>
                </a:solidFill>
                <a:latin typeface="Courier New" pitchFamily="34" charset="0"/>
                <a:ea typeface="Courier New" pitchFamily="34" charset="-122"/>
                <a:cs typeface="Courier New" pitchFamily="34" charset="-120"/>
              </a:rPr>
              <a:t>defaults/</a:t>
            </a:r>
            <a:endParaRPr lang="en-US" sz="1200" dirty="0"/>
          </a:p>
        </p:txBody>
      </p:sp>
      <p:sp>
        <p:nvSpPr>
          <p:cNvPr id="16" name="Text 14"/>
          <p:cNvSpPr txBox="1"/>
          <p:nvPr/>
        </p:nvSpPr>
        <p:spPr>
          <a:xfrm>
            <a:off x="5897880" y="2615184"/>
            <a:ext cx="2834640" cy="329184"/>
          </a:xfrm>
          <a:prstGeom prst="rect">
            <a:avLst/>
          </a:prstGeom>
          <a:noFill/>
          <a:ln/>
        </p:spPr>
        <p:txBody>
          <a:bodyPr wrap="square" lIns="0" tIns="0" rIns="0" bIns="0" rtlCol="0" anchor="ctr"/>
          <a:lstStyle/>
          <a:p>
            <a:pPr indent="0" marL="0">
              <a:buNone/>
            </a:pPr>
            <a:r>
              <a:rPr lang="en-US" sz="1200" dirty="0">
                <a:solidFill>
                  <a:srgbClr val="1F2328"/>
                </a:solidFill>
                <a:latin typeface="Calibri" pitchFamily="34" charset="0"/>
                <a:ea typeface="Calibri" pitchFamily="34" charset="-122"/>
                <a:cs typeface="Calibri" pitchFamily="34" charset="-120"/>
              </a:rPr>
              <a:t>lowest-priority variables</a:t>
            </a:r>
            <a:endParaRPr lang="en-US" sz="1200" dirty="0"/>
          </a:p>
        </p:txBody>
      </p:sp>
      <p:sp>
        <p:nvSpPr>
          <p:cNvPr id="17" name="Text 15"/>
          <p:cNvSpPr txBox="1"/>
          <p:nvPr/>
        </p:nvSpPr>
        <p:spPr>
          <a:xfrm>
            <a:off x="4663440" y="2971800"/>
            <a:ext cx="1234440" cy="329184"/>
          </a:xfrm>
          <a:prstGeom prst="rect">
            <a:avLst/>
          </a:prstGeom>
          <a:noFill/>
          <a:ln/>
        </p:spPr>
        <p:txBody>
          <a:bodyPr wrap="square" lIns="0" tIns="0" rIns="0" bIns="0" rtlCol="0" anchor="ctr"/>
          <a:lstStyle/>
          <a:p>
            <a:pPr indent="0" marL="0">
              <a:buNone/>
            </a:pPr>
            <a:r>
              <a:rPr lang="en-US" sz="1200" b="1" dirty="0">
                <a:solidFill>
                  <a:srgbClr val="D92D27"/>
                </a:solidFill>
                <a:latin typeface="Courier New" pitchFamily="34" charset="0"/>
                <a:ea typeface="Courier New" pitchFamily="34" charset="-122"/>
                <a:cs typeface="Courier New" pitchFamily="34" charset="-120"/>
              </a:rPr>
              <a:t>vars/</a:t>
            </a:r>
            <a:endParaRPr lang="en-US" sz="1200" dirty="0"/>
          </a:p>
        </p:txBody>
      </p:sp>
      <p:sp>
        <p:nvSpPr>
          <p:cNvPr id="18" name="Text 16"/>
          <p:cNvSpPr txBox="1"/>
          <p:nvPr/>
        </p:nvSpPr>
        <p:spPr>
          <a:xfrm>
            <a:off x="5897880" y="2971800"/>
            <a:ext cx="2834640" cy="329184"/>
          </a:xfrm>
          <a:prstGeom prst="rect">
            <a:avLst/>
          </a:prstGeom>
          <a:noFill/>
          <a:ln/>
        </p:spPr>
        <p:txBody>
          <a:bodyPr wrap="square" lIns="0" tIns="0" rIns="0" bIns="0" rtlCol="0" anchor="ctr"/>
          <a:lstStyle/>
          <a:p>
            <a:pPr indent="0" marL="0">
              <a:buNone/>
            </a:pPr>
            <a:r>
              <a:rPr lang="en-US" sz="1200" dirty="0">
                <a:solidFill>
                  <a:srgbClr val="1F2328"/>
                </a:solidFill>
                <a:latin typeface="Calibri" pitchFamily="34" charset="0"/>
                <a:ea typeface="Calibri" pitchFamily="34" charset="-122"/>
                <a:cs typeface="Calibri" pitchFamily="34" charset="-120"/>
              </a:rPr>
              <a:t>higher-priority role vars</a:t>
            </a:r>
            <a:endParaRPr lang="en-US" sz="1200" dirty="0"/>
          </a:p>
        </p:txBody>
      </p:sp>
      <p:sp>
        <p:nvSpPr>
          <p:cNvPr id="19" name="Text 17"/>
          <p:cNvSpPr txBox="1"/>
          <p:nvPr/>
        </p:nvSpPr>
        <p:spPr>
          <a:xfrm>
            <a:off x="4663440" y="3328416"/>
            <a:ext cx="1234440" cy="329184"/>
          </a:xfrm>
          <a:prstGeom prst="rect">
            <a:avLst/>
          </a:prstGeom>
          <a:noFill/>
          <a:ln/>
        </p:spPr>
        <p:txBody>
          <a:bodyPr wrap="square" lIns="0" tIns="0" rIns="0" bIns="0" rtlCol="0" anchor="ctr"/>
          <a:lstStyle/>
          <a:p>
            <a:pPr indent="0" marL="0">
              <a:buNone/>
            </a:pPr>
            <a:r>
              <a:rPr lang="en-US" sz="1200" b="1" dirty="0">
                <a:solidFill>
                  <a:srgbClr val="D92D27"/>
                </a:solidFill>
                <a:latin typeface="Courier New" pitchFamily="34" charset="0"/>
                <a:ea typeface="Courier New" pitchFamily="34" charset="-122"/>
                <a:cs typeface="Courier New" pitchFamily="34" charset="-120"/>
              </a:rPr>
              <a:t>meta/</a:t>
            </a:r>
            <a:endParaRPr lang="en-US" sz="1200" dirty="0"/>
          </a:p>
        </p:txBody>
      </p:sp>
      <p:sp>
        <p:nvSpPr>
          <p:cNvPr id="20" name="Text 18"/>
          <p:cNvSpPr txBox="1"/>
          <p:nvPr/>
        </p:nvSpPr>
        <p:spPr>
          <a:xfrm>
            <a:off x="5897880" y="3328416"/>
            <a:ext cx="2834640" cy="329184"/>
          </a:xfrm>
          <a:prstGeom prst="rect">
            <a:avLst/>
          </a:prstGeom>
          <a:noFill/>
          <a:ln/>
        </p:spPr>
        <p:txBody>
          <a:bodyPr wrap="square" lIns="0" tIns="0" rIns="0" bIns="0" rtlCol="0" anchor="ctr"/>
          <a:lstStyle/>
          <a:p>
            <a:pPr indent="0" marL="0">
              <a:buNone/>
            </a:pPr>
            <a:r>
              <a:rPr lang="en-US" sz="1200" dirty="0">
                <a:solidFill>
                  <a:srgbClr val="1F2328"/>
                </a:solidFill>
                <a:latin typeface="Calibri" pitchFamily="34" charset="0"/>
                <a:ea typeface="Calibri" pitchFamily="34" charset="-122"/>
                <a:cs typeface="Calibri" pitchFamily="34" charset="-120"/>
              </a:rPr>
              <a:t>author, dependencies</a:t>
            </a:r>
            <a:endParaRPr lang="en-US" sz="1200" dirty="0"/>
          </a:p>
        </p:txBody>
      </p:sp>
      <p:sp>
        <p:nvSpPr>
          <p:cNvPr id="21" name="Shape 19"/>
          <p:cNvSpPr/>
          <p:nvPr/>
        </p:nvSpPr>
        <p:spPr>
          <a:xfrm>
            <a:off x="4663440" y="3749040"/>
            <a:ext cx="4023360" cy="868680"/>
          </a:xfrm>
          <a:prstGeom prst="roundRect">
            <a:avLst>
              <a:gd name="adj" fmla="val 6316"/>
            </a:avLst>
          </a:prstGeom>
          <a:solidFill>
            <a:srgbClr val="1E2229"/>
          </a:solidFill>
          <a:ln w="12700">
            <a:solidFill>
              <a:srgbClr val="1E2229"/>
            </a:solidFill>
            <a:prstDash val="solid"/>
          </a:ln>
        </p:spPr>
      </p:sp>
      <p:sp>
        <p:nvSpPr>
          <p:cNvPr id="22" name="Text 20"/>
          <p:cNvSpPr txBox="1"/>
          <p:nvPr/>
        </p:nvSpPr>
        <p:spPr>
          <a:xfrm>
            <a:off x="4800600" y="3858768"/>
            <a:ext cx="3749040" cy="649224"/>
          </a:xfrm>
          <a:prstGeom prst="rect">
            <a:avLst/>
          </a:prstGeom>
          <a:noFill/>
          <a:ln/>
        </p:spPr>
        <p:txBody>
          <a:bodyPr wrap="square" lIns="0" tIns="0" rIns="0" bIns="0" rtlCol="0" anchor="t"/>
          <a:lstStyle/>
          <a:p>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EC8E3"/>
                </a:solidFill>
                <a:latin typeface="Courier New" pitchFamily="34" charset="0"/>
                <a:ea typeface="Courier New" pitchFamily="34" charset="-122"/>
                <a:cs typeface="Courier New" pitchFamily="34" charset="-120"/>
              </a:rPr>
              <a:t>hosts:</a:t>
            </a:r>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webservers</a:t>
            </a:r>
            <a:endParaRPr lang="en-US" sz="900" dirty="0"/>
          </a:p>
          <a:p>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EC8E3"/>
                </a:solidFill>
                <a:latin typeface="Courier New" pitchFamily="34" charset="0"/>
                <a:ea typeface="Courier New" pitchFamily="34" charset="-122"/>
                <a:cs typeface="Courier New" pitchFamily="34" charset="-120"/>
              </a:rPr>
              <a:t>become:</a:t>
            </a:r>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true</a:t>
            </a:r>
            <a:endParaRPr lang="en-US" sz="900" dirty="0"/>
          </a:p>
          <a:p>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EC8E3"/>
                </a:solidFill>
                <a:latin typeface="Courier New" pitchFamily="34" charset="0"/>
                <a:ea typeface="Courier New" pitchFamily="34" charset="-122"/>
                <a:cs typeface="Courier New" pitchFamily="34" charset="-120"/>
              </a:rPr>
              <a:t>roles:</a:t>
            </a:r>
            <a:pPr indent="0" marL="0">
              <a:lnSpc>
                <a:spcPct val="100000"/>
              </a:lnSpc>
              <a:buNone/>
            </a:pPr>
            <a:endParaRPr lang="en-US" sz="900" dirty="0"/>
          </a:p>
          <a:p>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 nginx</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9AA1AA"/>
                </a:solidFill>
                <a:latin typeface="Calibri" pitchFamily="34" charset="0"/>
                <a:ea typeface="Calibri" pitchFamily="34" charset="-122"/>
                <a:cs typeface="Calibri" pitchFamily="34" charset="-120"/>
              </a:rPr>
              <a:t>27</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Reading the output</a:t>
            </a:r>
            <a:endParaRPr lang="en-US" sz="28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B6470"/>
                </a:solidFill>
                <a:latin typeface="Calibri" pitchFamily="34" charset="0"/>
                <a:ea typeface="Calibri" pitchFamily="34" charset="-122"/>
                <a:cs typeface="Calibri" pitchFamily="34" charset="-120"/>
              </a:rPr>
              <a:t>Learn the colours — they tell you what happened</a:t>
            </a:r>
            <a:endParaRPr lang="en-US" sz="1300" dirty="0"/>
          </a:p>
        </p:txBody>
      </p:sp>
      <p:sp>
        <p:nvSpPr>
          <p:cNvPr id="5" name="Shape 3"/>
          <p:cNvSpPr/>
          <p:nvPr/>
        </p:nvSpPr>
        <p:spPr>
          <a:xfrm>
            <a:off x="457200" y="1234440"/>
            <a:ext cx="4937760" cy="2743200"/>
          </a:xfrm>
          <a:prstGeom prst="roundRect">
            <a:avLst>
              <a:gd name="adj" fmla="val 2000"/>
            </a:avLst>
          </a:prstGeom>
          <a:solidFill>
            <a:srgbClr val="1E2229"/>
          </a:solidFill>
          <a:ln w="12700">
            <a:solidFill>
              <a:srgbClr val="1E2229"/>
            </a:solidFill>
            <a:prstDash val="solid"/>
          </a:ln>
        </p:spPr>
      </p:sp>
      <p:sp>
        <p:nvSpPr>
          <p:cNvPr id="6" name="Text 4"/>
          <p:cNvSpPr txBox="1"/>
          <p:nvPr/>
        </p:nvSpPr>
        <p:spPr>
          <a:xfrm>
            <a:off x="594360" y="1344168"/>
            <a:ext cx="4663440" cy="2523744"/>
          </a:xfrm>
          <a:prstGeom prst="rect">
            <a:avLst/>
          </a:prstGeom>
          <a:noFill/>
          <a:ln/>
        </p:spPr>
        <p:txBody>
          <a:bodyPr wrap="square" lIns="0" tIns="0" rIns="0" bIns="0" rtlCol="0" anchor="t"/>
          <a:lstStyle/>
          <a:p>
            <a:pPr indent="0" marL="0">
              <a:lnSpc>
                <a:spcPct val="100000"/>
              </a:lnSpc>
              <a:buNone/>
            </a:pPr>
            <a:r>
              <a:rPr lang="en-US" sz="950" dirty="0">
                <a:solidFill>
                  <a:srgbClr val="6EE7A8"/>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ansible-playbook playbooks/03_webserver.yml</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TASK [Install nginx] ***********************</a:t>
            </a:r>
            <a:endParaRPr lang="en-US" sz="950" dirty="0"/>
          </a:p>
          <a:p>
            <a:pPr indent="0" marL="0">
              <a:lnSpc>
                <a:spcPct val="100000"/>
              </a:lnSpc>
              <a:buNone/>
            </a:pP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ok:</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[web1]</a:t>
            </a:r>
            <a:endParaRPr lang="en-US" sz="950" dirty="0"/>
          </a:p>
          <a:p>
            <a:pPr indent="0" marL="0">
              <a:lnSpc>
                <a:spcPct val="100000"/>
              </a:lnSpc>
              <a:buNone/>
            </a:pP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changed:</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[web2]</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TASK [Ensure nginx is running] *************</a:t>
            </a:r>
            <a:endParaRPr lang="en-US" sz="950" dirty="0"/>
          </a:p>
          <a:p>
            <a:pPr indent="0" marL="0">
              <a:lnSpc>
                <a:spcPct val="100000"/>
              </a:lnSpc>
              <a:buNone/>
            </a:pP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ok:</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[web1]</a:t>
            </a:r>
            <a:endParaRPr lang="en-US" sz="950" dirty="0"/>
          </a:p>
          <a:p>
            <a:pPr indent="0" marL="0">
              <a:lnSpc>
                <a:spcPct val="100000"/>
              </a:lnSpc>
              <a:buNone/>
            </a:pP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ok:</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[web2]</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PLAY RECAP *********************************</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web1 : ok=5  changed=0  unreachable=0  failed=0</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web2 : ok=6  changed=3  unreachable=0  failed=0</a:t>
            </a:r>
            <a:endParaRPr lang="en-US" sz="950" dirty="0"/>
          </a:p>
        </p:txBody>
      </p:sp>
      <p:sp>
        <p:nvSpPr>
          <p:cNvPr id="7" name="Shape 5"/>
          <p:cNvSpPr/>
          <p:nvPr/>
        </p:nvSpPr>
        <p:spPr>
          <a:xfrm>
            <a:off x="5669280" y="1280160"/>
            <a:ext cx="1143000" cy="384048"/>
          </a:xfrm>
          <a:prstGeom prst="roundRect">
            <a:avLst>
              <a:gd name="adj" fmla="val 14286"/>
            </a:avLst>
          </a:prstGeom>
          <a:solidFill>
            <a:srgbClr val="2E8B57"/>
          </a:solidFill>
          <a:ln w="12700">
            <a:solidFill>
              <a:srgbClr val="2E8B57"/>
            </a:solidFill>
            <a:prstDash val="solid"/>
          </a:ln>
        </p:spPr>
      </p:sp>
      <p:sp>
        <p:nvSpPr>
          <p:cNvPr id="8" name="Text 6"/>
          <p:cNvSpPr txBox="1"/>
          <p:nvPr/>
        </p:nvSpPr>
        <p:spPr>
          <a:xfrm>
            <a:off x="5669280" y="1280160"/>
            <a:ext cx="11430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ok</a:t>
            </a:r>
            <a:endParaRPr lang="en-US" sz="1200" dirty="0"/>
          </a:p>
        </p:txBody>
      </p:sp>
      <p:sp>
        <p:nvSpPr>
          <p:cNvPr id="9" name="Text 7"/>
          <p:cNvSpPr txBox="1"/>
          <p:nvPr/>
        </p:nvSpPr>
        <p:spPr>
          <a:xfrm>
            <a:off x="6903720" y="1280160"/>
            <a:ext cx="1828800" cy="384048"/>
          </a:xfrm>
          <a:prstGeom prst="rect">
            <a:avLst/>
          </a:prstGeom>
          <a:noFill/>
          <a:ln/>
        </p:spPr>
        <p:txBody>
          <a:bodyPr wrap="square" lIns="0" tIns="0" rIns="0" bIns="0" rtlCol="0" anchor="ctr"/>
          <a:lstStyle/>
          <a:p>
            <a:pPr indent="0" marL="0">
              <a:buNone/>
            </a:pPr>
            <a:r>
              <a:rPr lang="en-US" sz="1100" dirty="0">
                <a:solidFill>
                  <a:srgbClr val="1F2328"/>
                </a:solidFill>
                <a:latin typeface="Calibri" pitchFamily="34" charset="0"/>
                <a:ea typeface="Calibri" pitchFamily="34" charset="-122"/>
                <a:cs typeface="Calibri" pitchFamily="34" charset="-120"/>
              </a:rPr>
              <a:t>already in desired state — nothing done</a:t>
            </a:r>
            <a:endParaRPr lang="en-US" sz="1100" dirty="0"/>
          </a:p>
        </p:txBody>
      </p:sp>
      <p:sp>
        <p:nvSpPr>
          <p:cNvPr id="10" name="Shape 8"/>
          <p:cNvSpPr/>
          <p:nvPr/>
        </p:nvSpPr>
        <p:spPr>
          <a:xfrm>
            <a:off x="5669280" y="1828800"/>
            <a:ext cx="1143000" cy="384048"/>
          </a:xfrm>
          <a:prstGeom prst="roundRect">
            <a:avLst>
              <a:gd name="adj" fmla="val 14286"/>
            </a:avLst>
          </a:prstGeom>
          <a:solidFill>
            <a:srgbClr val="C98A0B"/>
          </a:solidFill>
          <a:ln w="12700">
            <a:solidFill>
              <a:srgbClr val="C98A0B"/>
            </a:solidFill>
            <a:prstDash val="solid"/>
          </a:ln>
        </p:spPr>
      </p:sp>
      <p:sp>
        <p:nvSpPr>
          <p:cNvPr id="11" name="Text 9"/>
          <p:cNvSpPr txBox="1"/>
          <p:nvPr/>
        </p:nvSpPr>
        <p:spPr>
          <a:xfrm>
            <a:off x="5669280" y="1828800"/>
            <a:ext cx="11430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changed</a:t>
            </a:r>
            <a:endParaRPr lang="en-US" sz="1200" dirty="0"/>
          </a:p>
        </p:txBody>
      </p:sp>
      <p:sp>
        <p:nvSpPr>
          <p:cNvPr id="12" name="Text 10"/>
          <p:cNvSpPr txBox="1"/>
          <p:nvPr/>
        </p:nvSpPr>
        <p:spPr>
          <a:xfrm>
            <a:off x="6903720" y="1828800"/>
            <a:ext cx="1828800" cy="384048"/>
          </a:xfrm>
          <a:prstGeom prst="rect">
            <a:avLst/>
          </a:prstGeom>
          <a:noFill/>
          <a:ln/>
        </p:spPr>
        <p:txBody>
          <a:bodyPr wrap="square" lIns="0" tIns="0" rIns="0" bIns="0" rtlCol="0" anchor="ctr"/>
          <a:lstStyle/>
          <a:p>
            <a:pPr indent="0" marL="0">
              <a:buNone/>
            </a:pPr>
            <a:r>
              <a:rPr lang="en-US" sz="1100" dirty="0">
                <a:solidFill>
                  <a:srgbClr val="1F2328"/>
                </a:solidFill>
                <a:latin typeface="Calibri" pitchFamily="34" charset="0"/>
                <a:ea typeface="Calibri" pitchFamily="34" charset="-122"/>
                <a:cs typeface="Calibri" pitchFamily="34" charset="-120"/>
              </a:rPr>
              <a:t>Ansible made a change</a:t>
            </a:r>
            <a:endParaRPr lang="en-US" sz="1100" dirty="0"/>
          </a:p>
        </p:txBody>
      </p:sp>
      <p:sp>
        <p:nvSpPr>
          <p:cNvPr id="13" name="Shape 11"/>
          <p:cNvSpPr/>
          <p:nvPr/>
        </p:nvSpPr>
        <p:spPr>
          <a:xfrm>
            <a:off x="5669280" y="2377440"/>
            <a:ext cx="1143000" cy="384048"/>
          </a:xfrm>
          <a:prstGeom prst="roundRect">
            <a:avLst>
              <a:gd name="adj" fmla="val 14286"/>
            </a:avLst>
          </a:prstGeom>
          <a:solidFill>
            <a:srgbClr val="D92D27"/>
          </a:solidFill>
          <a:ln w="12700">
            <a:solidFill>
              <a:srgbClr val="D92D27"/>
            </a:solidFill>
            <a:prstDash val="solid"/>
          </a:ln>
        </p:spPr>
      </p:sp>
      <p:sp>
        <p:nvSpPr>
          <p:cNvPr id="14" name="Text 12"/>
          <p:cNvSpPr txBox="1"/>
          <p:nvPr/>
        </p:nvSpPr>
        <p:spPr>
          <a:xfrm>
            <a:off x="5669280" y="2377440"/>
            <a:ext cx="11430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failed</a:t>
            </a:r>
            <a:endParaRPr lang="en-US" sz="1200" dirty="0"/>
          </a:p>
        </p:txBody>
      </p:sp>
      <p:sp>
        <p:nvSpPr>
          <p:cNvPr id="15" name="Text 13"/>
          <p:cNvSpPr txBox="1"/>
          <p:nvPr/>
        </p:nvSpPr>
        <p:spPr>
          <a:xfrm>
            <a:off x="6903720" y="2377440"/>
            <a:ext cx="1828800" cy="384048"/>
          </a:xfrm>
          <a:prstGeom prst="rect">
            <a:avLst/>
          </a:prstGeom>
          <a:noFill/>
          <a:ln/>
        </p:spPr>
        <p:txBody>
          <a:bodyPr wrap="square" lIns="0" tIns="0" rIns="0" bIns="0" rtlCol="0" anchor="ctr"/>
          <a:lstStyle/>
          <a:p>
            <a:pPr indent="0" marL="0">
              <a:buNone/>
            </a:pPr>
            <a:r>
              <a:rPr lang="en-US" sz="1100" dirty="0">
                <a:solidFill>
                  <a:srgbClr val="1F2328"/>
                </a:solidFill>
                <a:latin typeface="Calibri" pitchFamily="34" charset="0"/>
                <a:ea typeface="Calibri" pitchFamily="34" charset="-122"/>
                <a:cs typeface="Calibri" pitchFamily="34" charset="-120"/>
              </a:rPr>
              <a:t>task error; host stops</a:t>
            </a:r>
            <a:endParaRPr lang="en-US" sz="1100" dirty="0"/>
          </a:p>
        </p:txBody>
      </p:sp>
      <p:sp>
        <p:nvSpPr>
          <p:cNvPr id="16" name="Shape 14"/>
          <p:cNvSpPr/>
          <p:nvPr/>
        </p:nvSpPr>
        <p:spPr>
          <a:xfrm>
            <a:off x="5669280" y="2926080"/>
            <a:ext cx="1143000" cy="384048"/>
          </a:xfrm>
          <a:prstGeom prst="roundRect">
            <a:avLst>
              <a:gd name="adj" fmla="val 14286"/>
            </a:avLst>
          </a:prstGeom>
          <a:solidFill>
            <a:srgbClr val="2F80C8"/>
          </a:solidFill>
          <a:ln w="12700">
            <a:solidFill>
              <a:srgbClr val="2F80C8"/>
            </a:solidFill>
            <a:prstDash val="solid"/>
          </a:ln>
        </p:spPr>
      </p:sp>
      <p:sp>
        <p:nvSpPr>
          <p:cNvPr id="17" name="Text 15"/>
          <p:cNvSpPr txBox="1"/>
          <p:nvPr/>
        </p:nvSpPr>
        <p:spPr>
          <a:xfrm>
            <a:off x="5669280" y="2926080"/>
            <a:ext cx="11430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skipped</a:t>
            </a:r>
            <a:endParaRPr lang="en-US" sz="1200" dirty="0"/>
          </a:p>
        </p:txBody>
      </p:sp>
      <p:sp>
        <p:nvSpPr>
          <p:cNvPr id="18" name="Text 16"/>
          <p:cNvSpPr txBox="1"/>
          <p:nvPr/>
        </p:nvSpPr>
        <p:spPr>
          <a:xfrm>
            <a:off x="6903720" y="2926080"/>
            <a:ext cx="1828800" cy="384048"/>
          </a:xfrm>
          <a:prstGeom prst="rect">
            <a:avLst/>
          </a:prstGeom>
          <a:noFill/>
          <a:ln/>
        </p:spPr>
        <p:txBody>
          <a:bodyPr wrap="square" lIns="0" tIns="0" rIns="0" bIns="0" rtlCol="0" anchor="ctr"/>
          <a:lstStyle/>
          <a:p>
            <a:pPr indent="0" marL="0">
              <a:buNone/>
            </a:pPr>
            <a:r>
              <a:rPr lang="en-US" sz="1100" dirty="0">
                <a:solidFill>
                  <a:srgbClr val="1F2328"/>
                </a:solidFill>
                <a:latin typeface="Calibri" pitchFamily="34" charset="0"/>
                <a:ea typeface="Calibri" pitchFamily="34" charset="-122"/>
                <a:cs typeface="Calibri" pitchFamily="34" charset="-120"/>
              </a:rPr>
              <a:t>when: condition was false</a:t>
            </a:r>
            <a:endParaRPr lang="en-US" sz="1100" dirty="0"/>
          </a:p>
        </p:txBody>
      </p:sp>
      <p:sp>
        <p:nvSpPr>
          <p:cNvPr id="19" name="Shape 17"/>
          <p:cNvSpPr/>
          <p:nvPr/>
        </p:nvSpPr>
        <p:spPr>
          <a:xfrm>
            <a:off x="5669280" y="3474720"/>
            <a:ext cx="1143000" cy="384048"/>
          </a:xfrm>
          <a:prstGeom prst="roundRect">
            <a:avLst>
              <a:gd name="adj" fmla="val 14286"/>
            </a:avLst>
          </a:prstGeom>
          <a:solidFill>
            <a:srgbClr val="8E44AD"/>
          </a:solidFill>
          <a:ln w="12700">
            <a:solidFill>
              <a:srgbClr val="8E44AD"/>
            </a:solidFill>
            <a:prstDash val="solid"/>
          </a:ln>
        </p:spPr>
      </p:sp>
      <p:sp>
        <p:nvSpPr>
          <p:cNvPr id="20" name="Text 18"/>
          <p:cNvSpPr txBox="1"/>
          <p:nvPr/>
        </p:nvSpPr>
        <p:spPr>
          <a:xfrm>
            <a:off x="5669280" y="3474720"/>
            <a:ext cx="11430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unreachable</a:t>
            </a:r>
            <a:endParaRPr lang="en-US" sz="1200" dirty="0"/>
          </a:p>
        </p:txBody>
      </p:sp>
      <p:sp>
        <p:nvSpPr>
          <p:cNvPr id="21" name="Text 19"/>
          <p:cNvSpPr txBox="1"/>
          <p:nvPr/>
        </p:nvSpPr>
        <p:spPr>
          <a:xfrm>
            <a:off x="6903720" y="3474720"/>
            <a:ext cx="1828800" cy="384048"/>
          </a:xfrm>
          <a:prstGeom prst="rect">
            <a:avLst/>
          </a:prstGeom>
          <a:noFill/>
          <a:ln/>
        </p:spPr>
        <p:txBody>
          <a:bodyPr wrap="square" lIns="0" tIns="0" rIns="0" bIns="0" rtlCol="0" anchor="ctr"/>
          <a:lstStyle/>
          <a:p>
            <a:pPr indent="0" marL="0">
              <a:buNone/>
            </a:pPr>
            <a:r>
              <a:rPr lang="en-US" sz="1100" dirty="0">
                <a:solidFill>
                  <a:srgbClr val="1F2328"/>
                </a:solidFill>
                <a:latin typeface="Calibri" pitchFamily="34" charset="0"/>
                <a:ea typeface="Calibri" pitchFamily="34" charset="-122"/>
                <a:cs typeface="Calibri" pitchFamily="34" charset="-120"/>
              </a:rPr>
              <a:t>could not connect (SSH/auth)</a:t>
            </a:r>
            <a:endParaRPr lang="en-US" sz="1100" dirty="0"/>
          </a:p>
        </p:txBody>
      </p:sp>
      <p:sp>
        <p:nvSpPr>
          <p:cNvPr id="22" name="Shape 20"/>
          <p:cNvSpPr/>
          <p:nvPr/>
        </p:nvSpPr>
        <p:spPr>
          <a:xfrm>
            <a:off x="457200" y="4114800"/>
            <a:ext cx="8229600" cy="502920"/>
          </a:xfrm>
          <a:prstGeom prst="roundRect">
            <a:avLst>
              <a:gd name="adj" fmla="val 14545"/>
            </a:avLst>
          </a:prstGeom>
          <a:solidFill>
            <a:srgbClr val="F2F3F5"/>
          </a:solidFill>
          <a:ln w="12700">
            <a:solidFill>
              <a:srgbClr val="F2F3F5"/>
            </a:solidFill>
            <a:prstDash val="solid"/>
          </a:ln>
        </p:spPr>
      </p:sp>
      <p:sp>
        <p:nvSpPr>
          <p:cNvPr id="23" name="Text 21"/>
          <p:cNvSpPr txBox="1"/>
          <p:nvPr/>
        </p:nvSpPr>
        <p:spPr>
          <a:xfrm>
            <a:off x="640080" y="4114800"/>
            <a:ext cx="7955280" cy="502920"/>
          </a:xfrm>
          <a:prstGeom prst="rect">
            <a:avLst/>
          </a:prstGeom>
          <a:noFill/>
          <a:ln/>
        </p:spPr>
        <p:txBody>
          <a:bodyPr wrap="square" lIns="0" tIns="0" rIns="0" bIns="0" rtlCol="0" anchor="ctr"/>
          <a:lstStyle/>
          <a:p>
            <a:pPr indent="0" marL="0">
              <a:buNone/>
            </a:pPr>
            <a:r>
              <a:rPr lang="en-US" sz="1100" b="1" dirty="0">
                <a:solidFill>
                  <a:srgbClr val="1F2328"/>
                </a:solidFill>
                <a:latin typeface="Calibri" pitchFamily="34" charset="0"/>
                <a:ea typeface="Calibri" pitchFamily="34" charset="-122"/>
                <a:cs typeface="Calibri" pitchFamily="34" charset="-120"/>
              </a:rPr>
              <a:t>Useful flags:  </a:t>
            </a:r>
            <a:pPr indent="0" marL="0">
              <a:buNone/>
            </a:pPr>
            <a:r>
              <a:rPr lang="en-US" sz="1100" dirty="0">
                <a:solidFill>
                  <a:srgbClr val="1F2328"/>
                </a:solidFill>
                <a:latin typeface="Courier New" pitchFamily="34" charset="0"/>
                <a:ea typeface="Courier New" pitchFamily="34" charset="-122"/>
                <a:cs typeface="Courier New" pitchFamily="34" charset="-120"/>
              </a:rPr>
              <a:t>--syntax-check  --check  --diff  --limit web1  --tags motd  -vvv</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6181D"/>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28</a:t>
            </a:r>
            <a:endParaRPr lang="en-US" sz="900" dirty="0"/>
          </a:p>
        </p:txBody>
      </p:sp>
      <p:sp>
        <p:nvSpPr>
          <p:cNvPr id="3" name="Text 1"/>
          <p:cNvSpPr txBox="1"/>
          <p:nvPr/>
        </p:nvSpPr>
        <p:spPr>
          <a:xfrm>
            <a:off x="457200" y="685800"/>
            <a:ext cx="2743200" cy="1280160"/>
          </a:xfrm>
          <a:prstGeom prst="rect">
            <a:avLst/>
          </a:prstGeom>
          <a:noFill/>
          <a:ln/>
        </p:spPr>
        <p:txBody>
          <a:bodyPr wrap="square" lIns="0" tIns="0" rIns="0" bIns="0" rtlCol="0" anchor="ctr"/>
          <a:lstStyle/>
          <a:p>
            <a:pPr indent="0" marL="0">
              <a:buNone/>
            </a:pPr>
            <a:r>
              <a:rPr lang="en-US" sz="9600" b="1" dirty="0">
                <a:solidFill>
                  <a:srgbClr val="D92D27"/>
                </a:solidFill>
                <a:latin typeface="Arial" pitchFamily="34" charset="0"/>
                <a:ea typeface="Arial" pitchFamily="34" charset="-122"/>
                <a:cs typeface="Arial" pitchFamily="34" charset="-120"/>
              </a:rPr>
              <a:t>05</a:t>
            </a:r>
            <a:endParaRPr lang="en-US" sz="9600" dirty="0"/>
          </a:p>
        </p:txBody>
      </p:sp>
      <p:sp>
        <p:nvSpPr>
          <p:cNvPr id="4" name="Text 2"/>
          <p:cNvSpPr txBox="1"/>
          <p:nvPr/>
        </p:nvSpPr>
        <p:spPr>
          <a:xfrm>
            <a:off x="457200" y="2011680"/>
            <a:ext cx="8046720" cy="1234440"/>
          </a:xfrm>
          <a:prstGeom prst="rect">
            <a:avLst/>
          </a:prstGeom>
          <a:noFill/>
          <a:ln/>
        </p:spPr>
        <p:txBody>
          <a:bodyPr wrap="square" lIns="0" tIns="0" rIns="0" bIns="0" rtlCol="0" anchor="b"/>
          <a:lstStyle/>
          <a:p>
            <a:pPr indent="0" marL="0">
              <a:buNone/>
            </a:pPr>
            <a:r>
              <a:rPr lang="en-US" sz="3600" b="1" dirty="0">
                <a:solidFill>
                  <a:srgbClr val="FFFFFF"/>
                </a:solidFill>
                <a:latin typeface="Arial" pitchFamily="34" charset="0"/>
                <a:ea typeface="Arial" pitchFamily="34" charset="-122"/>
                <a:cs typeface="Arial" pitchFamily="34" charset="-120"/>
              </a:rPr>
              <a:t>Authentication mechanism</a:t>
            </a:r>
            <a:endParaRPr lang="en-US" sz="3600" dirty="0"/>
          </a:p>
        </p:txBody>
      </p:sp>
      <p:sp>
        <p:nvSpPr>
          <p:cNvPr id="5" name="Text 3"/>
          <p:cNvSpPr txBox="1"/>
          <p:nvPr/>
        </p:nvSpPr>
        <p:spPr>
          <a:xfrm>
            <a:off x="457200" y="3291840"/>
            <a:ext cx="7772400" cy="457200"/>
          </a:xfrm>
          <a:prstGeom prst="rect">
            <a:avLst/>
          </a:prstGeom>
          <a:noFill/>
          <a:ln/>
        </p:spPr>
        <p:txBody>
          <a:bodyPr wrap="square" lIns="0" tIns="0" rIns="0" bIns="0" rtlCol="0" anchor="ctr"/>
          <a:lstStyle/>
          <a:p>
            <a:pPr indent="0" marL="0">
              <a:buNone/>
            </a:pPr>
            <a:r>
              <a:rPr lang="en-US" sz="1600" dirty="0">
                <a:solidFill>
                  <a:srgbClr val="B8BEC7"/>
                </a:solidFill>
                <a:latin typeface="Calibri" pitchFamily="34" charset="0"/>
                <a:ea typeface="Calibri" pitchFamily="34" charset="-122"/>
                <a:cs typeface="Calibri" pitchFamily="34" charset="-120"/>
              </a:rPr>
              <a:t>How Ansible logs in, becomes root, and protects secrets</a:t>
            </a:r>
            <a:endParaRPr lang="en-US" sz="1600" dirty="0"/>
          </a:p>
        </p:txBody>
      </p:sp>
      <p:sp>
        <p:nvSpPr>
          <p:cNvPr id="6" name="Shape 4"/>
          <p:cNvSpPr/>
          <p:nvPr/>
        </p:nvSpPr>
        <p:spPr>
          <a:xfrm>
            <a:off x="457200" y="4023360"/>
            <a:ext cx="1371600" cy="365760"/>
          </a:xfrm>
          <a:prstGeom prst="roundRect">
            <a:avLst>
              <a:gd name="adj" fmla="val 50000"/>
            </a:avLst>
          </a:prstGeom>
          <a:solidFill>
            <a:srgbClr val="2A2E36"/>
          </a:solidFill>
          <a:ln w="12700">
            <a:solidFill>
              <a:srgbClr val="2A2E36"/>
            </a:solidFill>
            <a:prstDash val="solid"/>
          </a:ln>
        </p:spPr>
      </p:sp>
      <p:sp>
        <p:nvSpPr>
          <p:cNvPr id="7" name="Text 5"/>
          <p:cNvSpPr txBox="1"/>
          <p:nvPr/>
        </p:nvSpPr>
        <p:spPr>
          <a:xfrm>
            <a:off x="457200" y="4023360"/>
            <a:ext cx="137160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 10 min</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9AA1AA"/>
                </a:solidFill>
                <a:latin typeface="Calibri" pitchFamily="34" charset="0"/>
                <a:ea typeface="Calibri" pitchFamily="34" charset="-122"/>
                <a:cs typeface="Calibri" pitchFamily="34" charset="-120"/>
              </a:rPr>
              <a:t>29</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Three layers of authentication</a:t>
            </a:r>
            <a:endParaRPr lang="en-US" sz="2800" dirty="0"/>
          </a:p>
        </p:txBody>
      </p:sp>
      <p:sp>
        <p:nvSpPr>
          <p:cNvPr id="4" name="Shape 2"/>
          <p:cNvSpPr/>
          <p:nvPr/>
        </p:nvSpPr>
        <p:spPr>
          <a:xfrm>
            <a:off x="457200" y="1097280"/>
            <a:ext cx="2606040" cy="3520440"/>
          </a:xfrm>
          <a:prstGeom prst="roundRect">
            <a:avLst>
              <a:gd name="adj" fmla="val 2807"/>
            </a:avLst>
          </a:prstGeom>
          <a:solidFill>
            <a:srgbClr val="F2F3F5"/>
          </a:solidFill>
          <a:ln w="12700">
            <a:solidFill>
              <a:srgbClr val="F2F3F5"/>
            </a:solidFill>
            <a:prstDash val="solid"/>
          </a:ln>
        </p:spPr>
      </p:sp>
      <p:sp>
        <p:nvSpPr>
          <p:cNvPr id="5" name="Shape 3"/>
          <p:cNvSpPr/>
          <p:nvPr/>
        </p:nvSpPr>
        <p:spPr>
          <a:xfrm>
            <a:off x="640080" y="1280160"/>
            <a:ext cx="548640" cy="548640"/>
          </a:xfrm>
          <a:prstGeom prst="ellipse">
            <a:avLst/>
          </a:prstGeom>
          <a:solidFill>
            <a:srgbClr val="D92D27"/>
          </a:solidFill>
          <a:ln w="12700">
            <a:solidFill>
              <a:srgbClr val="D92D27"/>
            </a:solidFill>
            <a:prstDash val="solid"/>
          </a:ln>
        </p:spPr>
      </p:sp>
      <p:pic>
        <p:nvPicPr>
          <p:cNvPr id="6" name="Image 0" descr="preencoded.png">    </p:cNvPr>
          <p:cNvPicPr>
            <a:picLocks noChangeAspect="1"/>
          </p:cNvPicPr>
          <p:nvPr/>
        </p:nvPicPr>
        <p:blipFill>
          <a:blip r:embed="rId1"/>
          <a:stretch>
            <a:fillRect/>
          </a:stretch>
        </p:blipFill>
        <p:spPr>
          <a:xfrm>
            <a:off x="782726" y="1422806"/>
            <a:ext cx="263347" cy="263347"/>
          </a:xfrm>
          <a:prstGeom prst="rect">
            <a:avLst/>
          </a:prstGeom>
        </p:spPr>
      </p:pic>
      <p:sp>
        <p:nvSpPr>
          <p:cNvPr id="7" name="Text 4"/>
          <p:cNvSpPr txBox="1"/>
          <p:nvPr/>
        </p:nvSpPr>
        <p:spPr>
          <a:xfrm>
            <a:off x="1325880" y="1280160"/>
            <a:ext cx="1691640" cy="320040"/>
          </a:xfrm>
          <a:prstGeom prst="rect">
            <a:avLst/>
          </a:prstGeom>
          <a:noFill/>
          <a:ln/>
        </p:spPr>
        <p:txBody>
          <a:bodyPr wrap="square" lIns="0" tIns="0" rIns="0" bIns="0" rtlCol="0" anchor="t"/>
          <a:lstStyle/>
          <a:p>
            <a:pPr indent="0" marL="0">
              <a:buNone/>
            </a:pPr>
            <a:r>
              <a:rPr lang="en-US" sz="1500" b="1" dirty="0">
                <a:solidFill>
                  <a:srgbClr val="1F2328"/>
                </a:solidFill>
                <a:latin typeface="Calibri" pitchFamily="34" charset="0"/>
                <a:ea typeface="Calibri" pitchFamily="34" charset="-122"/>
                <a:cs typeface="Calibri" pitchFamily="34" charset="-120"/>
              </a:rPr>
              <a:t>1 · Connect</a:t>
            </a:r>
            <a:endParaRPr lang="en-US" sz="1500" dirty="0"/>
          </a:p>
        </p:txBody>
      </p:sp>
      <p:sp>
        <p:nvSpPr>
          <p:cNvPr id="8" name="Text 5"/>
          <p:cNvSpPr txBox="1"/>
          <p:nvPr/>
        </p:nvSpPr>
        <p:spPr>
          <a:xfrm>
            <a:off x="1325880" y="1572768"/>
            <a:ext cx="1691640" cy="365760"/>
          </a:xfrm>
          <a:prstGeom prst="rect">
            <a:avLst/>
          </a:prstGeom>
          <a:noFill/>
          <a:ln/>
        </p:spPr>
        <p:txBody>
          <a:bodyPr wrap="square" lIns="0" tIns="0" rIns="0" bIns="0" rtlCol="0" anchor="t"/>
          <a:lstStyle/>
          <a:p>
            <a:pPr indent="0" marL="0">
              <a:buNone/>
            </a:pPr>
            <a:r>
              <a:rPr lang="en-US" sz="1050" dirty="0">
                <a:solidFill>
                  <a:srgbClr val="5B6470"/>
                </a:solidFill>
                <a:latin typeface="Calibri" pitchFamily="34" charset="0"/>
                <a:ea typeface="Calibri" pitchFamily="34" charset="-122"/>
                <a:cs typeface="Calibri" pitchFamily="34" charset="-120"/>
              </a:rPr>
              <a:t>Log in to the managed node</a:t>
            </a:r>
            <a:endParaRPr lang="en-US" sz="1050" dirty="0"/>
          </a:p>
        </p:txBody>
      </p:sp>
      <p:sp>
        <p:nvSpPr>
          <p:cNvPr id="9" name="Text 6"/>
          <p:cNvSpPr txBox="1"/>
          <p:nvPr/>
        </p:nvSpPr>
        <p:spPr>
          <a:xfrm>
            <a:off x="640080" y="2148840"/>
            <a:ext cx="2286000" cy="23774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328"/>
                </a:solidFill>
                <a:latin typeface="Calibri" pitchFamily="34" charset="0"/>
                <a:ea typeface="Calibri" pitchFamily="34" charset="-122"/>
                <a:cs typeface="Calibri" pitchFamily="34" charset="-120"/>
              </a:rPr>
              <a:t>SSH password  (-k, needs sshpass)</a:t>
            </a:r>
            <a:endParaRPr lang="en-US" sz="1150" dirty="0"/>
          </a:p>
          <a:p>
            <a:pPr marL="342900" indent="-342900">
              <a:spcAft>
                <a:spcPts val="600"/>
              </a:spcAft>
              <a:buSzPct val="100000"/>
              <a:buChar char="•"/>
            </a:pPr>
            <a:r>
              <a:rPr lang="en-US" sz="1150" dirty="0">
                <a:solidFill>
                  <a:srgbClr val="1F2328"/>
                </a:solidFill>
                <a:latin typeface="Calibri" pitchFamily="34" charset="0"/>
                <a:ea typeface="Calibri" pitchFamily="34" charset="-122"/>
                <a:cs typeface="Calibri" pitchFamily="34" charset="-120"/>
              </a:rPr>
              <a:t>SSH key pair  (recommended)</a:t>
            </a:r>
            <a:endParaRPr lang="en-US" sz="1150" dirty="0"/>
          </a:p>
          <a:p>
            <a:pPr marL="342900" indent="-342900">
              <a:spcAft>
                <a:spcPts val="600"/>
              </a:spcAft>
              <a:buSzPct val="100000"/>
              <a:buChar char="•"/>
            </a:pPr>
            <a:r>
              <a:rPr lang="en-US" sz="1150" dirty="0">
                <a:solidFill>
                  <a:srgbClr val="1F2328"/>
                </a:solidFill>
                <a:latin typeface="Calibri" pitchFamily="34" charset="0"/>
                <a:ea typeface="Calibri" pitchFamily="34" charset="-122"/>
                <a:cs typeface="Calibri" pitchFamily="34" charset="-120"/>
              </a:rPr>
              <a:t>WinRM / SSH for Windows (NTLM, Kerberos, cert)</a:t>
            </a:r>
            <a:endParaRPr lang="en-US" sz="1150" dirty="0"/>
          </a:p>
          <a:p>
            <a:pPr marL="342900" indent="-342900">
              <a:spcAft>
                <a:spcPts val="600"/>
              </a:spcAft>
              <a:buSzPct val="100000"/>
              <a:buChar char="•"/>
            </a:pPr>
            <a:r>
              <a:rPr lang="en-US" sz="1150" dirty="0">
                <a:solidFill>
                  <a:srgbClr val="1F2328"/>
                </a:solidFill>
                <a:latin typeface="Calibri" pitchFamily="34" charset="0"/>
                <a:ea typeface="Calibri" pitchFamily="34" charset="-122"/>
                <a:cs typeface="Calibri" pitchFamily="34" charset="-120"/>
              </a:rPr>
              <a:t>ansible_user / remote_user sets the login</a:t>
            </a:r>
            <a:endParaRPr lang="en-US" sz="1150" dirty="0"/>
          </a:p>
        </p:txBody>
      </p:sp>
      <p:sp>
        <p:nvSpPr>
          <p:cNvPr id="10" name="Shape 7"/>
          <p:cNvSpPr/>
          <p:nvPr/>
        </p:nvSpPr>
        <p:spPr>
          <a:xfrm>
            <a:off x="3246120" y="1097280"/>
            <a:ext cx="2606040" cy="3520440"/>
          </a:xfrm>
          <a:prstGeom prst="roundRect">
            <a:avLst>
              <a:gd name="adj" fmla="val 2807"/>
            </a:avLst>
          </a:prstGeom>
          <a:solidFill>
            <a:srgbClr val="F2F3F5"/>
          </a:solidFill>
          <a:ln w="12700">
            <a:solidFill>
              <a:srgbClr val="F2F3F5"/>
            </a:solidFill>
            <a:prstDash val="solid"/>
          </a:ln>
        </p:spPr>
      </p:sp>
      <p:sp>
        <p:nvSpPr>
          <p:cNvPr id="11" name="Shape 8"/>
          <p:cNvSpPr/>
          <p:nvPr/>
        </p:nvSpPr>
        <p:spPr>
          <a:xfrm>
            <a:off x="3429000" y="1280160"/>
            <a:ext cx="548640" cy="548640"/>
          </a:xfrm>
          <a:prstGeom prst="ellipse">
            <a:avLst/>
          </a:prstGeom>
          <a:solidFill>
            <a:srgbClr val="D92D27"/>
          </a:solidFill>
          <a:ln w="12700">
            <a:solidFill>
              <a:srgbClr val="D92D27"/>
            </a:solidFill>
            <a:prstDash val="solid"/>
          </a:ln>
        </p:spPr>
      </p:sp>
      <p:pic>
        <p:nvPicPr>
          <p:cNvPr id="12" name="Image 1" descr="preencoded.png">    </p:cNvPr>
          <p:cNvPicPr>
            <a:picLocks noChangeAspect="1"/>
          </p:cNvPicPr>
          <p:nvPr/>
        </p:nvPicPr>
        <p:blipFill>
          <a:blip r:embed="rId2"/>
          <a:stretch>
            <a:fillRect/>
          </a:stretch>
        </p:blipFill>
        <p:spPr>
          <a:xfrm>
            <a:off x="3571646" y="1422806"/>
            <a:ext cx="263347" cy="263347"/>
          </a:xfrm>
          <a:prstGeom prst="rect">
            <a:avLst/>
          </a:prstGeom>
        </p:spPr>
      </p:pic>
      <p:sp>
        <p:nvSpPr>
          <p:cNvPr id="13" name="Text 9"/>
          <p:cNvSpPr txBox="1"/>
          <p:nvPr/>
        </p:nvSpPr>
        <p:spPr>
          <a:xfrm>
            <a:off x="4114800" y="1280160"/>
            <a:ext cx="1691640" cy="320040"/>
          </a:xfrm>
          <a:prstGeom prst="rect">
            <a:avLst/>
          </a:prstGeom>
          <a:noFill/>
          <a:ln/>
        </p:spPr>
        <p:txBody>
          <a:bodyPr wrap="square" lIns="0" tIns="0" rIns="0" bIns="0" rtlCol="0" anchor="t"/>
          <a:lstStyle/>
          <a:p>
            <a:pPr indent="0" marL="0">
              <a:buNone/>
            </a:pPr>
            <a:r>
              <a:rPr lang="en-US" sz="1500" b="1" dirty="0">
                <a:solidFill>
                  <a:srgbClr val="1F2328"/>
                </a:solidFill>
                <a:latin typeface="Calibri" pitchFamily="34" charset="0"/>
                <a:ea typeface="Calibri" pitchFamily="34" charset="-122"/>
                <a:cs typeface="Calibri" pitchFamily="34" charset="-120"/>
              </a:rPr>
              <a:t>2 · Escalate</a:t>
            </a:r>
            <a:endParaRPr lang="en-US" sz="1500" dirty="0"/>
          </a:p>
        </p:txBody>
      </p:sp>
      <p:sp>
        <p:nvSpPr>
          <p:cNvPr id="14" name="Text 10"/>
          <p:cNvSpPr txBox="1"/>
          <p:nvPr/>
        </p:nvSpPr>
        <p:spPr>
          <a:xfrm>
            <a:off x="4114800" y="1572768"/>
            <a:ext cx="1691640" cy="365760"/>
          </a:xfrm>
          <a:prstGeom prst="rect">
            <a:avLst/>
          </a:prstGeom>
          <a:noFill/>
          <a:ln/>
        </p:spPr>
        <p:txBody>
          <a:bodyPr wrap="square" lIns="0" tIns="0" rIns="0" bIns="0" rtlCol="0" anchor="t"/>
          <a:lstStyle/>
          <a:p>
            <a:pPr indent="0" marL="0">
              <a:buNone/>
            </a:pPr>
            <a:r>
              <a:rPr lang="en-US" sz="1050" dirty="0">
                <a:solidFill>
                  <a:srgbClr val="5B6470"/>
                </a:solidFill>
                <a:latin typeface="Calibri" pitchFamily="34" charset="0"/>
                <a:ea typeface="Calibri" pitchFamily="34" charset="-122"/>
                <a:cs typeface="Calibri" pitchFamily="34" charset="-120"/>
              </a:rPr>
              <a:t>Become another user, usually root</a:t>
            </a:r>
            <a:endParaRPr lang="en-US" sz="1050" dirty="0"/>
          </a:p>
        </p:txBody>
      </p:sp>
      <p:sp>
        <p:nvSpPr>
          <p:cNvPr id="15" name="Text 11"/>
          <p:cNvSpPr txBox="1"/>
          <p:nvPr/>
        </p:nvSpPr>
        <p:spPr>
          <a:xfrm>
            <a:off x="3429000" y="2148840"/>
            <a:ext cx="2286000" cy="23774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328"/>
                </a:solidFill>
                <a:latin typeface="Calibri" pitchFamily="34" charset="0"/>
                <a:ea typeface="Calibri" pitchFamily="34" charset="-122"/>
                <a:cs typeface="Calibri" pitchFamily="34" charset="-120"/>
              </a:rPr>
              <a:t>become: true  (sudo by default)</a:t>
            </a:r>
            <a:endParaRPr lang="en-US" sz="1150" dirty="0"/>
          </a:p>
          <a:p>
            <a:pPr marL="342900" indent="-342900">
              <a:spcAft>
                <a:spcPts val="600"/>
              </a:spcAft>
              <a:buSzPct val="100000"/>
              <a:buChar char="•"/>
            </a:pPr>
            <a:r>
              <a:rPr lang="en-US" sz="1150" dirty="0">
                <a:solidFill>
                  <a:srgbClr val="1F2328"/>
                </a:solidFill>
                <a:latin typeface="Calibri" pitchFamily="34" charset="0"/>
                <a:ea typeface="Calibri" pitchFamily="34" charset="-122"/>
                <a:cs typeface="Calibri" pitchFamily="34" charset="-120"/>
              </a:rPr>
              <a:t>become_user: postgres</a:t>
            </a:r>
            <a:endParaRPr lang="en-US" sz="1150" dirty="0"/>
          </a:p>
          <a:p>
            <a:pPr marL="342900" indent="-342900">
              <a:spcAft>
                <a:spcPts val="600"/>
              </a:spcAft>
              <a:buSzPct val="100000"/>
              <a:buChar char="•"/>
            </a:pPr>
            <a:r>
              <a:rPr lang="en-US" sz="1150" dirty="0">
                <a:solidFill>
                  <a:srgbClr val="1F2328"/>
                </a:solidFill>
                <a:latin typeface="Calibri" pitchFamily="34" charset="0"/>
                <a:ea typeface="Calibri" pitchFamily="34" charset="-122"/>
                <a:cs typeface="Calibri" pitchFamily="34" charset="-120"/>
              </a:rPr>
              <a:t>become_method: sudo | su | runas</a:t>
            </a:r>
            <a:endParaRPr lang="en-US" sz="1150" dirty="0"/>
          </a:p>
          <a:p>
            <a:pPr marL="342900" indent="-342900">
              <a:spcAft>
                <a:spcPts val="600"/>
              </a:spcAft>
              <a:buSzPct val="100000"/>
              <a:buChar char="•"/>
            </a:pPr>
            <a:r>
              <a:rPr lang="en-US" sz="1150" dirty="0">
                <a:solidFill>
                  <a:srgbClr val="1F2328"/>
                </a:solidFill>
                <a:latin typeface="Calibri" pitchFamily="34" charset="0"/>
                <a:ea typeface="Calibri" pitchFamily="34" charset="-122"/>
                <a:cs typeface="Calibri" pitchFamily="34" charset="-120"/>
              </a:rPr>
              <a:t>-K prompts for the sudo password</a:t>
            </a:r>
            <a:endParaRPr lang="en-US" sz="1150" dirty="0"/>
          </a:p>
        </p:txBody>
      </p:sp>
      <p:sp>
        <p:nvSpPr>
          <p:cNvPr id="16" name="Shape 12"/>
          <p:cNvSpPr/>
          <p:nvPr/>
        </p:nvSpPr>
        <p:spPr>
          <a:xfrm>
            <a:off x="6035040" y="1097280"/>
            <a:ext cx="2606040" cy="3520440"/>
          </a:xfrm>
          <a:prstGeom prst="roundRect">
            <a:avLst>
              <a:gd name="adj" fmla="val 2807"/>
            </a:avLst>
          </a:prstGeom>
          <a:solidFill>
            <a:srgbClr val="F2F3F5"/>
          </a:solidFill>
          <a:ln w="12700">
            <a:solidFill>
              <a:srgbClr val="F2F3F5"/>
            </a:solidFill>
            <a:prstDash val="solid"/>
          </a:ln>
        </p:spPr>
      </p:sp>
      <p:sp>
        <p:nvSpPr>
          <p:cNvPr id="17" name="Shape 13"/>
          <p:cNvSpPr/>
          <p:nvPr/>
        </p:nvSpPr>
        <p:spPr>
          <a:xfrm>
            <a:off x="6217920" y="1280160"/>
            <a:ext cx="548640" cy="548640"/>
          </a:xfrm>
          <a:prstGeom prst="ellipse">
            <a:avLst/>
          </a:prstGeom>
          <a:solidFill>
            <a:srgbClr val="D92D27"/>
          </a:solidFill>
          <a:ln w="12700">
            <a:solidFill>
              <a:srgbClr val="D92D27"/>
            </a:solidFill>
            <a:prstDash val="solid"/>
          </a:ln>
        </p:spPr>
      </p:sp>
      <p:pic>
        <p:nvPicPr>
          <p:cNvPr id="18" name="Image 2" descr="preencoded.png">    </p:cNvPr>
          <p:cNvPicPr>
            <a:picLocks noChangeAspect="1"/>
          </p:cNvPicPr>
          <p:nvPr/>
        </p:nvPicPr>
        <p:blipFill>
          <a:blip r:embed="rId3"/>
          <a:stretch>
            <a:fillRect/>
          </a:stretch>
        </p:blipFill>
        <p:spPr>
          <a:xfrm>
            <a:off x="6360566" y="1422806"/>
            <a:ext cx="263347" cy="263347"/>
          </a:xfrm>
          <a:prstGeom prst="rect">
            <a:avLst/>
          </a:prstGeom>
        </p:spPr>
      </p:pic>
      <p:sp>
        <p:nvSpPr>
          <p:cNvPr id="19" name="Text 14"/>
          <p:cNvSpPr txBox="1"/>
          <p:nvPr/>
        </p:nvSpPr>
        <p:spPr>
          <a:xfrm>
            <a:off x="6903720" y="1280160"/>
            <a:ext cx="1691640" cy="320040"/>
          </a:xfrm>
          <a:prstGeom prst="rect">
            <a:avLst/>
          </a:prstGeom>
          <a:noFill/>
          <a:ln/>
        </p:spPr>
        <p:txBody>
          <a:bodyPr wrap="square" lIns="0" tIns="0" rIns="0" bIns="0" rtlCol="0" anchor="t"/>
          <a:lstStyle/>
          <a:p>
            <a:pPr indent="0" marL="0">
              <a:buNone/>
            </a:pPr>
            <a:r>
              <a:rPr lang="en-US" sz="1500" b="1" dirty="0">
                <a:solidFill>
                  <a:srgbClr val="1F2328"/>
                </a:solidFill>
                <a:latin typeface="Calibri" pitchFamily="34" charset="0"/>
                <a:ea typeface="Calibri" pitchFamily="34" charset="-122"/>
                <a:cs typeface="Calibri" pitchFamily="34" charset="-120"/>
              </a:rPr>
              <a:t>3 · Protect secrets</a:t>
            </a:r>
            <a:endParaRPr lang="en-US" sz="1500" dirty="0"/>
          </a:p>
        </p:txBody>
      </p:sp>
      <p:sp>
        <p:nvSpPr>
          <p:cNvPr id="20" name="Text 15"/>
          <p:cNvSpPr txBox="1"/>
          <p:nvPr/>
        </p:nvSpPr>
        <p:spPr>
          <a:xfrm>
            <a:off x="6903720" y="1572768"/>
            <a:ext cx="1691640" cy="365760"/>
          </a:xfrm>
          <a:prstGeom prst="rect">
            <a:avLst/>
          </a:prstGeom>
          <a:noFill/>
          <a:ln/>
        </p:spPr>
        <p:txBody>
          <a:bodyPr wrap="square" lIns="0" tIns="0" rIns="0" bIns="0" rtlCol="0" anchor="t"/>
          <a:lstStyle/>
          <a:p>
            <a:pPr indent="0" marL="0">
              <a:buNone/>
            </a:pPr>
            <a:r>
              <a:rPr lang="en-US" sz="1050" dirty="0">
                <a:solidFill>
                  <a:srgbClr val="5B6470"/>
                </a:solidFill>
                <a:latin typeface="Calibri" pitchFamily="34" charset="0"/>
                <a:ea typeface="Calibri" pitchFamily="34" charset="-122"/>
                <a:cs typeface="Calibri" pitchFamily="34" charset="-120"/>
              </a:rPr>
              <a:t>Keep passwords out of plain text</a:t>
            </a:r>
            <a:endParaRPr lang="en-US" sz="1050" dirty="0"/>
          </a:p>
        </p:txBody>
      </p:sp>
      <p:sp>
        <p:nvSpPr>
          <p:cNvPr id="21" name="Text 16"/>
          <p:cNvSpPr txBox="1"/>
          <p:nvPr/>
        </p:nvSpPr>
        <p:spPr>
          <a:xfrm>
            <a:off x="6217920" y="2148840"/>
            <a:ext cx="2286000" cy="23774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328"/>
                </a:solidFill>
                <a:latin typeface="Calibri" pitchFamily="34" charset="0"/>
                <a:ea typeface="Calibri" pitchFamily="34" charset="-122"/>
                <a:cs typeface="Calibri" pitchFamily="34" charset="-120"/>
              </a:rPr>
              <a:t>Ansible Vault (AES-256)</a:t>
            </a:r>
            <a:endParaRPr lang="en-US" sz="1150" dirty="0"/>
          </a:p>
          <a:p>
            <a:pPr marL="342900" indent="-342900">
              <a:spcAft>
                <a:spcPts val="600"/>
              </a:spcAft>
              <a:buSzPct val="100000"/>
              <a:buChar char="•"/>
            </a:pPr>
            <a:r>
              <a:rPr lang="en-US" sz="1150" dirty="0">
                <a:solidFill>
                  <a:srgbClr val="1F2328"/>
                </a:solidFill>
                <a:latin typeface="Calibri" pitchFamily="34" charset="0"/>
                <a:ea typeface="Calibri" pitchFamily="34" charset="-122"/>
                <a:cs typeface="Calibri" pitchFamily="34" charset="-120"/>
              </a:rPr>
              <a:t>--ask-vault-pass / --vault-password-file</a:t>
            </a:r>
            <a:endParaRPr lang="en-US" sz="1150" dirty="0"/>
          </a:p>
          <a:p>
            <a:pPr marL="342900" indent="-342900">
              <a:spcAft>
                <a:spcPts val="600"/>
              </a:spcAft>
              <a:buSzPct val="100000"/>
              <a:buChar char="•"/>
            </a:pPr>
            <a:r>
              <a:rPr lang="en-US" sz="1150" dirty="0">
                <a:solidFill>
                  <a:srgbClr val="1F2328"/>
                </a:solidFill>
                <a:latin typeface="Calibri" pitchFamily="34" charset="0"/>
                <a:ea typeface="Calibri" pitchFamily="34" charset="-122"/>
                <a:cs typeface="Calibri" pitchFamily="34" charset="-120"/>
              </a:rPr>
              <a:t>no_log: true hides output</a:t>
            </a:r>
            <a:endParaRPr lang="en-US" sz="1150" dirty="0"/>
          </a:p>
          <a:p>
            <a:pPr marL="342900" indent="-342900">
              <a:spcAft>
                <a:spcPts val="600"/>
              </a:spcAft>
              <a:buSzPct val="100000"/>
              <a:buChar char="•"/>
            </a:pPr>
            <a:r>
              <a:rPr lang="en-US" sz="1150" dirty="0">
                <a:solidFill>
                  <a:srgbClr val="1F2328"/>
                </a:solidFill>
                <a:latin typeface="Calibri" pitchFamily="34" charset="0"/>
                <a:ea typeface="Calibri" pitchFamily="34" charset="-122"/>
                <a:cs typeface="Calibri" pitchFamily="34" charset="-120"/>
              </a:rPr>
              <a:t>Or external vaults: HashiCorp, CyberArk</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9AA1AA"/>
                </a:solidFill>
                <a:latin typeface="Calibri" pitchFamily="34" charset="0"/>
                <a:ea typeface="Calibri" pitchFamily="34" charset="-122"/>
                <a:cs typeface="Calibri" pitchFamily="34" charset="-120"/>
              </a:rPr>
              <a:t>30</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From password to SSH keys</a:t>
            </a:r>
            <a:endParaRPr lang="en-US" sz="28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B6470"/>
                </a:solidFill>
                <a:latin typeface="Calibri" pitchFamily="34" charset="0"/>
                <a:ea typeface="Calibri" pitchFamily="34" charset="-122"/>
                <a:cs typeface="Calibri" pitchFamily="34" charset="-120"/>
              </a:rPr>
              <a:t>Exactly what we do in the lab — playbooks/06_ssh_keys.yml</a:t>
            </a:r>
            <a:endParaRPr lang="en-US" sz="1300" dirty="0"/>
          </a:p>
        </p:txBody>
      </p:sp>
      <p:sp>
        <p:nvSpPr>
          <p:cNvPr id="5" name="Shape 3"/>
          <p:cNvSpPr/>
          <p:nvPr/>
        </p:nvSpPr>
        <p:spPr>
          <a:xfrm>
            <a:off x="457200" y="1234440"/>
            <a:ext cx="548640" cy="548640"/>
          </a:xfrm>
          <a:prstGeom prst="ellipse">
            <a:avLst/>
          </a:prstGeom>
          <a:solidFill>
            <a:srgbClr val="D92D27"/>
          </a:solidFill>
          <a:ln w="12700">
            <a:solidFill>
              <a:srgbClr val="D92D27"/>
            </a:solidFill>
            <a:prstDash val="solid"/>
          </a:ln>
        </p:spPr>
      </p:sp>
      <p:pic>
        <p:nvPicPr>
          <p:cNvPr id="6" name="Image 0" descr="preencoded.png">    </p:cNvPr>
          <p:cNvPicPr>
            <a:picLocks noChangeAspect="1"/>
          </p:cNvPicPr>
          <p:nvPr/>
        </p:nvPicPr>
        <p:blipFill>
          <a:blip r:embed="rId1"/>
          <a:stretch>
            <a:fillRect/>
          </a:stretch>
        </p:blipFill>
        <p:spPr>
          <a:xfrm>
            <a:off x="599846" y="1377086"/>
            <a:ext cx="263347" cy="263347"/>
          </a:xfrm>
          <a:prstGeom prst="rect">
            <a:avLst/>
          </a:prstGeom>
        </p:spPr>
      </p:pic>
      <p:sp>
        <p:nvSpPr>
          <p:cNvPr id="7" name="Text 4"/>
          <p:cNvSpPr txBox="1"/>
          <p:nvPr/>
        </p:nvSpPr>
        <p:spPr>
          <a:xfrm>
            <a:off x="1143000" y="1216152"/>
            <a:ext cx="3017520" cy="274320"/>
          </a:xfrm>
          <a:prstGeom prst="rect">
            <a:avLst/>
          </a:prstGeom>
          <a:noFill/>
          <a:ln/>
        </p:spPr>
        <p:txBody>
          <a:bodyPr wrap="square" lIns="0" tIns="0" rIns="0" bIns="0" rtlCol="0" anchor="t"/>
          <a:lstStyle/>
          <a:p>
            <a:pPr indent="0" marL="0">
              <a:buNone/>
            </a:pPr>
            <a:r>
              <a:rPr lang="en-US" sz="1350" b="1" dirty="0">
                <a:solidFill>
                  <a:srgbClr val="1F2328"/>
                </a:solidFill>
                <a:latin typeface="Calibri" pitchFamily="34" charset="0"/>
                <a:ea typeface="Calibri" pitchFamily="34" charset="-122"/>
                <a:cs typeface="Calibri" pitchFamily="34" charset="-120"/>
              </a:rPr>
              <a:t>Generate a key pair</a:t>
            </a:r>
            <a:endParaRPr lang="en-US" sz="1350" dirty="0"/>
          </a:p>
        </p:txBody>
      </p:sp>
      <p:sp>
        <p:nvSpPr>
          <p:cNvPr id="8" name="Text 5"/>
          <p:cNvSpPr txBox="1"/>
          <p:nvPr/>
        </p:nvSpPr>
        <p:spPr>
          <a:xfrm>
            <a:off x="1143000" y="1508760"/>
            <a:ext cx="3703320" cy="274320"/>
          </a:xfrm>
          <a:prstGeom prst="rect">
            <a:avLst/>
          </a:prstGeom>
          <a:noFill/>
          <a:ln/>
        </p:spPr>
        <p:txBody>
          <a:bodyPr wrap="square" lIns="0" tIns="0" rIns="0" bIns="0" rtlCol="0" anchor="t"/>
          <a:lstStyle/>
          <a:p>
            <a:pPr indent="0" marL="0">
              <a:buNone/>
            </a:pPr>
            <a:r>
              <a:rPr lang="en-US" sz="950" dirty="0">
                <a:solidFill>
                  <a:srgbClr val="5B6470"/>
                </a:solidFill>
                <a:latin typeface="Courier New" pitchFamily="34" charset="0"/>
                <a:ea typeface="Courier New" pitchFamily="34" charset="-122"/>
                <a:cs typeface="Courier New" pitchFamily="34" charset="-120"/>
              </a:rPr>
              <a:t>$ ssh-keygen -t ed25519 -N ""</a:t>
            </a:r>
            <a:endParaRPr lang="en-US" sz="950" dirty="0"/>
          </a:p>
        </p:txBody>
      </p:sp>
      <p:sp>
        <p:nvSpPr>
          <p:cNvPr id="9" name="Shape 6"/>
          <p:cNvSpPr/>
          <p:nvPr/>
        </p:nvSpPr>
        <p:spPr>
          <a:xfrm>
            <a:off x="731520" y="1810512"/>
            <a:ext cx="0" cy="274320"/>
          </a:xfrm>
          <a:prstGeom prst="line">
            <a:avLst/>
          </a:prstGeom>
          <a:noFill/>
          <a:ln w="19050">
            <a:solidFill>
              <a:srgbClr val="C4C9D0"/>
            </a:solidFill>
            <a:prstDash val="solid"/>
          </a:ln>
        </p:spPr>
      </p:sp>
      <p:sp>
        <p:nvSpPr>
          <p:cNvPr id="10" name="Shape 7"/>
          <p:cNvSpPr/>
          <p:nvPr/>
        </p:nvSpPr>
        <p:spPr>
          <a:xfrm>
            <a:off x="457200" y="2103120"/>
            <a:ext cx="548640" cy="548640"/>
          </a:xfrm>
          <a:prstGeom prst="ellipse">
            <a:avLst/>
          </a:prstGeom>
          <a:solidFill>
            <a:srgbClr val="D92D27"/>
          </a:solidFill>
          <a:ln w="12700">
            <a:solidFill>
              <a:srgbClr val="D92D27"/>
            </a:solidFill>
            <a:prstDash val="solid"/>
          </a:ln>
        </p:spPr>
      </p:sp>
      <p:pic>
        <p:nvPicPr>
          <p:cNvPr id="11" name="Image 1" descr="preencoded.png">    </p:cNvPr>
          <p:cNvPicPr>
            <a:picLocks noChangeAspect="1"/>
          </p:cNvPicPr>
          <p:nvPr/>
        </p:nvPicPr>
        <p:blipFill>
          <a:blip r:embed="rId2"/>
          <a:stretch>
            <a:fillRect/>
          </a:stretch>
        </p:blipFill>
        <p:spPr>
          <a:xfrm>
            <a:off x="599846" y="2245766"/>
            <a:ext cx="263347" cy="263347"/>
          </a:xfrm>
          <a:prstGeom prst="rect">
            <a:avLst/>
          </a:prstGeom>
        </p:spPr>
      </p:pic>
      <p:sp>
        <p:nvSpPr>
          <p:cNvPr id="12" name="Text 8"/>
          <p:cNvSpPr txBox="1"/>
          <p:nvPr/>
        </p:nvSpPr>
        <p:spPr>
          <a:xfrm>
            <a:off x="1143000" y="2084832"/>
            <a:ext cx="3017520" cy="274320"/>
          </a:xfrm>
          <a:prstGeom prst="rect">
            <a:avLst/>
          </a:prstGeom>
          <a:noFill/>
          <a:ln/>
        </p:spPr>
        <p:txBody>
          <a:bodyPr wrap="square" lIns="0" tIns="0" rIns="0" bIns="0" rtlCol="0" anchor="t"/>
          <a:lstStyle/>
          <a:p>
            <a:pPr indent="0" marL="0">
              <a:buNone/>
            </a:pPr>
            <a:r>
              <a:rPr lang="en-US" sz="1350" b="1" dirty="0">
                <a:solidFill>
                  <a:srgbClr val="1F2328"/>
                </a:solidFill>
                <a:latin typeface="Calibri" pitchFamily="34" charset="0"/>
                <a:ea typeface="Calibri" pitchFamily="34" charset="-122"/>
                <a:cs typeface="Calibri" pitchFamily="34" charset="-120"/>
              </a:rPr>
              <a:t>First contact with a password</a:t>
            </a:r>
            <a:endParaRPr lang="en-US" sz="1350" dirty="0"/>
          </a:p>
        </p:txBody>
      </p:sp>
      <p:sp>
        <p:nvSpPr>
          <p:cNvPr id="13" name="Text 9"/>
          <p:cNvSpPr txBox="1"/>
          <p:nvPr/>
        </p:nvSpPr>
        <p:spPr>
          <a:xfrm>
            <a:off x="1143000" y="2377440"/>
            <a:ext cx="3703320" cy="274320"/>
          </a:xfrm>
          <a:prstGeom prst="rect">
            <a:avLst/>
          </a:prstGeom>
          <a:noFill/>
          <a:ln/>
        </p:spPr>
        <p:txBody>
          <a:bodyPr wrap="square" lIns="0" tIns="0" rIns="0" bIns="0" rtlCol="0" anchor="t"/>
          <a:lstStyle/>
          <a:p>
            <a:pPr indent="0" marL="0">
              <a:buNone/>
            </a:pPr>
            <a:r>
              <a:rPr lang="en-US" sz="950" dirty="0">
                <a:solidFill>
                  <a:srgbClr val="5B6470"/>
                </a:solidFill>
                <a:latin typeface="Courier New" pitchFamily="34" charset="0"/>
                <a:ea typeface="Courier New" pitchFamily="34" charset="-122"/>
                <a:cs typeface="Courier New" pitchFamily="34" charset="-120"/>
              </a:rPr>
              <a:t>$ ansible all -m ping -k</a:t>
            </a:r>
            <a:endParaRPr lang="en-US" sz="950" dirty="0"/>
          </a:p>
        </p:txBody>
      </p:sp>
      <p:sp>
        <p:nvSpPr>
          <p:cNvPr id="14" name="Shape 10"/>
          <p:cNvSpPr/>
          <p:nvPr/>
        </p:nvSpPr>
        <p:spPr>
          <a:xfrm>
            <a:off x="731520" y="2679192"/>
            <a:ext cx="0" cy="274320"/>
          </a:xfrm>
          <a:prstGeom prst="line">
            <a:avLst/>
          </a:prstGeom>
          <a:noFill/>
          <a:ln w="19050">
            <a:solidFill>
              <a:srgbClr val="C4C9D0"/>
            </a:solidFill>
            <a:prstDash val="solid"/>
          </a:ln>
        </p:spPr>
      </p:sp>
      <p:sp>
        <p:nvSpPr>
          <p:cNvPr id="15" name="Shape 11"/>
          <p:cNvSpPr/>
          <p:nvPr/>
        </p:nvSpPr>
        <p:spPr>
          <a:xfrm>
            <a:off x="457200" y="2971800"/>
            <a:ext cx="548640" cy="548640"/>
          </a:xfrm>
          <a:prstGeom prst="ellipse">
            <a:avLst/>
          </a:prstGeom>
          <a:solidFill>
            <a:srgbClr val="D92D27"/>
          </a:solidFill>
          <a:ln w="12700">
            <a:solidFill>
              <a:srgbClr val="D92D27"/>
            </a:solidFill>
            <a:prstDash val="solid"/>
          </a:ln>
        </p:spPr>
      </p:sp>
      <p:pic>
        <p:nvPicPr>
          <p:cNvPr id="16" name="Image 2" descr="preencoded.png">    </p:cNvPr>
          <p:cNvPicPr>
            <a:picLocks noChangeAspect="1"/>
          </p:cNvPicPr>
          <p:nvPr/>
        </p:nvPicPr>
        <p:blipFill>
          <a:blip r:embed="rId3"/>
          <a:stretch>
            <a:fillRect/>
          </a:stretch>
        </p:blipFill>
        <p:spPr>
          <a:xfrm>
            <a:off x="599846" y="3114446"/>
            <a:ext cx="263347" cy="263347"/>
          </a:xfrm>
          <a:prstGeom prst="rect">
            <a:avLst/>
          </a:prstGeom>
        </p:spPr>
      </p:pic>
      <p:sp>
        <p:nvSpPr>
          <p:cNvPr id="17" name="Text 12"/>
          <p:cNvSpPr txBox="1"/>
          <p:nvPr/>
        </p:nvSpPr>
        <p:spPr>
          <a:xfrm>
            <a:off x="1143000" y="2953512"/>
            <a:ext cx="3017520" cy="274320"/>
          </a:xfrm>
          <a:prstGeom prst="rect">
            <a:avLst/>
          </a:prstGeom>
          <a:noFill/>
          <a:ln/>
        </p:spPr>
        <p:txBody>
          <a:bodyPr wrap="square" lIns="0" tIns="0" rIns="0" bIns="0" rtlCol="0" anchor="t"/>
          <a:lstStyle/>
          <a:p>
            <a:pPr indent="0" marL="0">
              <a:buNone/>
            </a:pPr>
            <a:r>
              <a:rPr lang="en-US" sz="1350" b="1" dirty="0">
                <a:solidFill>
                  <a:srgbClr val="1F2328"/>
                </a:solidFill>
                <a:latin typeface="Calibri" pitchFamily="34" charset="0"/>
                <a:ea typeface="Calibri" pitchFamily="34" charset="-122"/>
                <a:cs typeface="Calibri" pitchFamily="34" charset="-120"/>
              </a:rPr>
              <a:t>Push the public key</a:t>
            </a:r>
            <a:endParaRPr lang="en-US" sz="1350" dirty="0"/>
          </a:p>
        </p:txBody>
      </p:sp>
      <p:sp>
        <p:nvSpPr>
          <p:cNvPr id="18" name="Text 13"/>
          <p:cNvSpPr txBox="1"/>
          <p:nvPr/>
        </p:nvSpPr>
        <p:spPr>
          <a:xfrm>
            <a:off x="1143000" y="3246120"/>
            <a:ext cx="3703320" cy="274320"/>
          </a:xfrm>
          <a:prstGeom prst="rect">
            <a:avLst/>
          </a:prstGeom>
          <a:noFill/>
          <a:ln/>
        </p:spPr>
        <p:txBody>
          <a:bodyPr wrap="square" lIns="0" tIns="0" rIns="0" bIns="0" rtlCol="0" anchor="t"/>
          <a:lstStyle/>
          <a:p>
            <a:pPr indent="0" marL="0">
              <a:buNone/>
            </a:pPr>
            <a:r>
              <a:rPr lang="en-US" sz="950" dirty="0">
                <a:solidFill>
                  <a:srgbClr val="5B6470"/>
                </a:solidFill>
                <a:latin typeface="Courier New" pitchFamily="34" charset="0"/>
                <a:ea typeface="Courier New" pitchFamily="34" charset="-122"/>
                <a:cs typeface="Courier New" pitchFamily="34" charset="-120"/>
              </a:rPr>
              <a:t>$ ansible-playbook playbooks/06_ssh_keys.yml -k</a:t>
            </a:r>
            <a:endParaRPr lang="en-US" sz="950" dirty="0"/>
          </a:p>
        </p:txBody>
      </p:sp>
      <p:sp>
        <p:nvSpPr>
          <p:cNvPr id="19" name="Shape 14"/>
          <p:cNvSpPr/>
          <p:nvPr/>
        </p:nvSpPr>
        <p:spPr>
          <a:xfrm>
            <a:off x="731520" y="3547872"/>
            <a:ext cx="0" cy="274320"/>
          </a:xfrm>
          <a:prstGeom prst="line">
            <a:avLst/>
          </a:prstGeom>
          <a:noFill/>
          <a:ln w="19050">
            <a:solidFill>
              <a:srgbClr val="C4C9D0"/>
            </a:solidFill>
            <a:prstDash val="solid"/>
          </a:ln>
        </p:spPr>
      </p:sp>
      <p:sp>
        <p:nvSpPr>
          <p:cNvPr id="20" name="Shape 15"/>
          <p:cNvSpPr/>
          <p:nvPr/>
        </p:nvSpPr>
        <p:spPr>
          <a:xfrm>
            <a:off x="457200" y="3840480"/>
            <a:ext cx="548640" cy="548640"/>
          </a:xfrm>
          <a:prstGeom prst="ellipse">
            <a:avLst/>
          </a:prstGeom>
          <a:solidFill>
            <a:srgbClr val="2E8B57"/>
          </a:solidFill>
          <a:ln w="12700">
            <a:solidFill>
              <a:srgbClr val="2E8B57"/>
            </a:solidFill>
            <a:prstDash val="solid"/>
          </a:ln>
        </p:spPr>
      </p:sp>
      <p:pic>
        <p:nvPicPr>
          <p:cNvPr id="21" name="Image 3" descr="preencoded.png">    </p:cNvPr>
          <p:cNvPicPr>
            <a:picLocks noChangeAspect="1"/>
          </p:cNvPicPr>
          <p:nvPr/>
        </p:nvPicPr>
        <p:blipFill>
          <a:blip r:embed="rId4"/>
          <a:stretch>
            <a:fillRect/>
          </a:stretch>
        </p:blipFill>
        <p:spPr>
          <a:xfrm>
            <a:off x="599846" y="3983126"/>
            <a:ext cx="263347" cy="263347"/>
          </a:xfrm>
          <a:prstGeom prst="rect">
            <a:avLst/>
          </a:prstGeom>
        </p:spPr>
      </p:pic>
      <p:sp>
        <p:nvSpPr>
          <p:cNvPr id="22" name="Text 16"/>
          <p:cNvSpPr txBox="1"/>
          <p:nvPr/>
        </p:nvSpPr>
        <p:spPr>
          <a:xfrm>
            <a:off x="1143000" y="3822192"/>
            <a:ext cx="3017520" cy="274320"/>
          </a:xfrm>
          <a:prstGeom prst="rect">
            <a:avLst/>
          </a:prstGeom>
          <a:noFill/>
          <a:ln/>
        </p:spPr>
        <p:txBody>
          <a:bodyPr wrap="square" lIns="0" tIns="0" rIns="0" bIns="0" rtlCol="0" anchor="t"/>
          <a:lstStyle/>
          <a:p>
            <a:pPr indent="0" marL="0">
              <a:buNone/>
            </a:pPr>
            <a:r>
              <a:rPr lang="en-US" sz="1350" b="1" dirty="0">
                <a:solidFill>
                  <a:srgbClr val="1F2328"/>
                </a:solidFill>
                <a:latin typeface="Calibri" pitchFamily="34" charset="0"/>
                <a:ea typeface="Calibri" pitchFamily="34" charset="-122"/>
                <a:cs typeface="Calibri" pitchFamily="34" charset="-120"/>
              </a:rPr>
              <a:t>Password-free from now on</a:t>
            </a:r>
            <a:endParaRPr lang="en-US" sz="1350" dirty="0"/>
          </a:p>
        </p:txBody>
      </p:sp>
      <p:sp>
        <p:nvSpPr>
          <p:cNvPr id="23" name="Text 17"/>
          <p:cNvSpPr txBox="1"/>
          <p:nvPr/>
        </p:nvSpPr>
        <p:spPr>
          <a:xfrm>
            <a:off x="1143000" y="4114800"/>
            <a:ext cx="3703320" cy="274320"/>
          </a:xfrm>
          <a:prstGeom prst="rect">
            <a:avLst/>
          </a:prstGeom>
          <a:noFill/>
          <a:ln/>
        </p:spPr>
        <p:txBody>
          <a:bodyPr wrap="square" lIns="0" tIns="0" rIns="0" bIns="0" rtlCol="0" anchor="t"/>
          <a:lstStyle/>
          <a:p>
            <a:pPr indent="0" marL="0">
              <a:buNone/>
            </a:pPr>
            <a:r>
              <a:rPr lang="en-US" sz="950" dirty="0">
                <a:solidFill>
                  <a:srgbClr val="5B6470"/>
                </a:solidFill>
                <a:latin typeface="Courier New" pitchFamily="34" charset="0"/>
                <a:ea typeface="Courier New" pitchFamily="34" charset="-122"/>
                <a:cs typeface="Courier New" pitchFamily="34" charset="-120"/>
              </a:rPr>
              <a:t>$ ansible all -m ping</a:t>
            </a:r>
            <a:endParaRPr lang="en-US" sz="950" dirty="0"/>
          </a:p>
        </p:txBody>
      </p:sp>
      <p:sp>
        <p:nvSpPr>
          <p:cNvPr id="24" name="Shape 18"/>
          <p:cNvSpPr/>
          <p:nvPr/>
        </p:nvSpPr>
        <p:spPr>
          <a:xfrm>
            <a:off x="4937760" y="1234440"/>
            <a:ext cx="3749040" cy="2468880"/>
          </a:xfrm>
          <a:prstGeom prst="roundRect">
            <a:avLst>
              <a:gd name="adj" fmla="val 2222"/>
            </a:avLst>
          </a:prstGeom>
          <a:solidFill>
            <a:srgbClr val="1E2229"/>
          </a:solidFill>
          <a:ln w="12700">
            <a:solidFill>
              <a:srgbClr val="1E2229"/>
            </a:solidFill>
            <a:prstDash val="solid"/>
          </a:ln>
        </p:spPr>
      </p:sp>
      <p:sp>
        <p:nvSpPr>
          <p:cNvPr id="25" name="Text 19"/>
          <p:cNvSpPr txBox="1"/>
          <p:nvPr/>
        </p:nvSpPr>
        <p:spPr>
          <a:xfrm>
            <a:off x="5074920" y="1344168"/>
            <a:ext cx="3474720" cy="2249424"/>
          </a:xfrm>
          <a:prstGeom prst="rect">
            <a:avLst/>
          </a:prstGeom>
          <a:noFill/>
          <a:ln/>
        </p:spPr>
        <p:txBody>
          <a:bodyPr wrap="square" lIns="0" tIns="0" rIns="0" bIns="0" rtlCol="0" anchor="t"/>
          <a:lstStyle/>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name:</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Distribute public key</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hosts:</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all</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gather_facts:</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false</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tasks:</a:t>
            </a:r>
            <a:pPr indent="0" marL="0">
              <a:lnSpc>
                <a:spcPct val="100000"/>
              </a:lnSpc>
              <a:buNone/>
            </a:pP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name:</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Add key to authorized_keys</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ansible.posix.authorized_key:</a:t>
            </a:r>
            <a:pPr indent="0" marL="0">
              <a:lnSpc>
                <a:spcPct val="100000"/>
              </a:lnSpc>
              <a:buNone/>
            </a:pP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user:</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ansible</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state:</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present</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key:</a:t>
            </a:r>
            <a:pPr indent="0" marL="0">
              <a:lnSpc>
                <a:spcPct val="100000"/>
              </a:lnSpc>
              <a:buNone/>
            </a:pPr>
            <a:r>
              <a:rPr lang="en-US" sz="950" dirty="0">
                <a:solidFill>
                  <a:srgbClr val="F2C67C"/>
                </a:solidFill>
                <a:latin typeface="Courier New" pitchFamily="34" charset="0"/>
                <a:ea typeface="Courier New" pitchFamily="34" charset="-122"/>
                <a:cs typeface="Courier New" pitchFamily="34" charset="-120"/>
              </a:rPr>
              <a:t> "{{ lookup('file',</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'~/.ssh/id_ed25519.pub') }}"</a:t>
            </a:r>
            <a:endParaRPr lang="en-US" sz="950" dirty="0"/>
          </a:p>
        </p:txBody>
      </p:sp>
      <p:sp>
        <p:nvSpPr>
          <p:cNvPr id="26" name="Shape 20"/>
          <p:cNvSpPr/>
          <p:nvPr/>
        </p:nvSpPr>
        <p:spPr>
          <a:xfrm>
            <a:off x="4937760" y="3840480"/>
            <a:ext cx="3749040" cy="777240"/>
          </a:xfrm>
          <a:prstGeom prst="roundRect">
            <a:avLst>
              <a:gd name="adj" fmla="val 9412"/>
            </a:avLst>
          </a:prstGeom>
          <a:solidFill>
            <a:srgbClr val="FBE7E6"/>
          </a:solidFill>
          <a:ln w="12700">
            <a:solidFill>
              <a:srgbClr val="FBE7E6"/>
            </a:solidFill>
            <a:prstDash val="solid"/>
          </a:ln>
        </p:spPr>
      </p:sp>
      <p:sp>
        <p:nvSpPr>
          <p:cNvPr id="27" name="Text 21"/>
          <p:cNvSpPr txBox="1"/>
          <p:nvPr/>
        </p:nvSpPr>
        <p:spPr>
          <a:xfrm>
            <a:off x="5074920" y="3840480"/>
            <a:ext cx="3520440" cy="777240"/>
          </a:xfrm>
          <a:prstGeom prst="rect">
            <a:avLst/>
          </a:prstGeom>
          <a:noFill/>
          <a:ln/>
        </p:spPr>
        <p:txBody>
          <a:bodyPr wrap="square" lIns="0" tIns="0" rIns="0" bIns="0" rtlCol="0" anchor="ctr"/>
          <a:lstStyle/>
          <a:p>
            <a:pPr indent="0" marL="0">
              <a:buNone/>
            </a:pPr>
            <a:r>
              <a:rPr lang="en-US" sz="1150" dirty="0">
                <a:solidFill>
                  <a:srgbClr val="1F2328"/>
                </a:solidFill>
                <a:latin typeface="Calibri" pitchFamily="34" charset="0"/>
                <a:ea typeface="Calibri" pitchFamily="34" charset="-122"/>
                <a:cs typeface="Calibri" pitchFamily="34" charset="-120"/>
              </a:rPr>
              <a:t>The private key never leaves the control node. Only the public key is copied to the servers.</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9AA1AA"/>
                </a:solidFill>
                <a:latin typeface="Calibri" pitchFamily="34" charset="0"/>
                <a:ea typeface="Calibri" pitchFamily="34" charset="-122"/>
                <a:cs typeface="Calibri" pitchFamily="34" charset="-120"/>
              </a:rPr>
              <a:t>31</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Privilege escalation and Ansible Vault</a:t>
            </a:r>
            <a:endParaRPr lang="en-US" sz="2800" dirty="0"/>
          </a:p>
        </p:txBody>
      </p:sp>
      <p:sp>
        <p:nvSpPr>
          <p:cNvPr id="4" name="Text 2"/>
          <p:cNvSpPr txBox="1"/>
          <p:nvPr/>
        </p:nvSpPr>
        <p:spPr>
          <a:xfrm>
            <a:off x="457200" y="1097280"/>
            <a:ext cx="3931920" cy="320040"/>
          </a:xfrm>
          <a:prstGeom prst="rect">
            <a:avLst/>
          </a:prstGeom>
          <a:noFill/>
          <a:ln/>
        </p:spPr>
        <p:txBody>
          <a:bodyPr wrap="square" lIns="0" tIns="0" rIns="0" bIns="0" rtlCol="0" anchor="t"/>
          <a:lstStyle/>
          <a:p>
            <a:pPr indent="0" marL="0">
              <a:buNone/>
            </a:pPr>
            <a:r>
              <a:rPr lang="en-US" sz="1500" b="1" dirty="0">
                <a:solidFill>
                  <a:srgbClr val="1F2328"/>
                </a:solidFill>
                <a:latin typeface="Calibri" pitchFamily="34" charset="0"/>
                <a:ea typeface="Calibri" pitchFamily="34" charset="-122"/>
                <a:cs typeface="Calibri" pitchFamily="34" charset="-120"/>
              </a:rPr>
              <a:t>become — run tasks as root</a:t>
            </a:r>
            <a:endParaRPr lang="en-US" sz="1500" dirty="0"/>
          </a:p>
        </p:txBody>
      </p:sp>
      <p:sp>
        <p:nvSpPr>
          <p:cNvPr id="5" name="Shape 3"/>
          <p:cNvSpPr/>
          <p:nvPr/>
        </p:nvSpPr>
        <p:spPr>
          <a:xfrm>
            <a:off x="457200" y="1463040"/>
            <a:ext cx="3931920" cy="1600200"/>
          </a:xfrm>
          <a:prstGeom prst="roundRect">
            <a:avLst>
              <a:gd name="adj" fmla="val 3429"/>
            </a:avLst>
          </a:prstGeom>
          <a:solidFill>
            <a:srgbClr val="1E2229"/>
          </a:solidFill>
          <a:ln w="12700">
            <a:solidFill>
              <a:srgbClr val="1E2229"/>
            </a:solidFill>
            <a:prstDash val="solid"/>
          </a:ln>
        </p:spPr>
      </p:sp>
      <p:sp>
        <p:nvSpPr>
          <p:cNvPr id="6" name="Text 4"/>
          <p:cNvSpPr txBox="1"/>
          <p:nvPr/>
        </p:nvSpPr>
        <p:spPr>
          <a:xfrm>
            <a:off x="594360" y="1572768"/>
            <a:ext cx="3657600" cy="1380744"/>
          </a:xfrm>
          <a:prstGeom prst="rect">
            <a:avLst/>
          </a:prstGeom>
          <a:noFill/>
          <a:ln/>
        </p:spPr>
        <p:txBody>
          <a:bodyPr wrap="square" lIns="0" tIns="0" rIns="0" bIns="0" rtlCol="0" anchor="t"/>
          <a:lstStyle/>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hosts:</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dbservers</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become:</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true            </a:t>
            </a:r>
            <a:pPr indent="0" marL="0">
              <a:lnSpc>
                <a:spcPct val="100000"/>
              </a:lnSpc>
              <a:buNone/>
            </a:pPr>
            <a:r>
              <a:rPr lang="en-US" sz="950" dirty="0">
                <a:solidFill>
                  <a:srgbClr val="8B949E"/>
                </a:solidFill>
                <a:latin typeface="Courier New" pitchFamily="34" charset="0"/>
                <a:ea typeface="Courier New" pitchFamily="34" charset="-122"/>
                <a:cs typeface="Courier New" pitchFamily="34" charset="-120"/>
              </a:rPr>
              <a:t># whole play as root</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tasks:</a:t>
            </a:r>
            <a:pPr indent="0" marL="0">
              <a:lnSpc>
                <a:spcPct val="100000"/>
              </a:lnSpc>
              <a:buNone/>
            </a:pP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name:</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Create DB as postgres</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ansible.builtin.command:</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createdb app</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7EC8E3"/>
                </a:solidFill>
                <a:latin typeface="Courier New" pitchFamily="34" charset="0"/>
                <a:ea typeface="Courier New" pitchFamily="34" charset="-122"/>
                <a:cs typeface="Courier New" pitchFamily="34" charset="-120"/>
              </a:rPr>
              <a:t>become_user:</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postgres   </a:t>
            </a:r>
            <a:pPr indent="0" marL="0">
              <a:lnSpc>
                <a:spcPct val="100000"/>
              </a:lnSpc>
              <a:buNone/>
            </a:pPr>
            <a:r>
              <a:rPr lang="en-US" sz="950" dirty="0">
                <a:solidFill>
                  <a:srgbClr val="8B949E"/>
                </a:solidFill>
                <a:latin typeface="Courier New" pitchFamily="34" charset="0"/>
                <a:ea typeface="Courier New" pitchFamily="34" charset="-122"/>
                <a:cs typeface="Courier New" pitchFamily="34" charset="-120"/>
              </a:rPr>
              <a:t># just this task</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8B949E"/>
                </a:solidFill>
                <a:latin typeface="Courier New" pitchFamily="34" charset="0"/>
                <a:ea typeface="Courier New" pitchFamily="34" charset="-122"/>
                <a:cs typeface="Courier New" pitchFamily="34" charset="-120"/>
              </a:rPr>
              <a:t># ad-hoc:  -b  (become)   -K  (ask sudo pwd)</a:t>
            </a:r>
            <a:endParaRPr lang="en-US" sz="950" dirty="0"/>
          </a:p>
        </p:txBody>
      </p:sp>
      <p:sp>
        <p:nvSpPr>
          <p:cNvPr id="7" name="Text 5"/>
          <p:cNvSpPr txBox="1"/>
          <p:nvPr/>
        </p:nvSpPr>
        <p:spPr>
          <a:xfrm>
            <a:off x="457200" y="3246120"/>
            <a:ext cx="3931920" cy="457200"/>
          </a:xfrm>
          <a:prstGeom prst="rect">
            <a:avLst/>
          </a:prstGeom>
          <a:noFill/>
          <a:ln/>
        </p:spPr>
        <p:txBody>
          <a:bodyPr wrap="square" lIns="0" tIns="0" rIns="0" bIns="0" rtlCol="0" anchor="t"/>
          <a:lstStyle/>
          <a:p>
            <a:pPr indent="0" marL="0">
              <a:buNone/>
            </a:pPr>
            <a:r>
              <a:rPr lang="en-US" sz="1200" i="1" dirty="0">
                <a:solidFill>
                  <a:srgbClr val="5B6470"/>
                </a:solidFill>
                <a:latin typeface="Calibri" pitchFamily="34" charset="0"/>
                <a:ea typeface="Calibri" pitchFamily="34" charset="-122"/>
                <a:cs typeface="Calibri" pitchFamily="34" charset="-120"/>
              </a:rPr>
              <a:t>Only escalate where needed — not every task needs root.</a:t>
            </a:r>
            <a:endParaRPr lang="en-US" sz="1200" dirty="0"/>
          </a:p>
        </p:txBody>
      </p:sp>
      <p:sp>
        <p:nvSpPr>
          <p:cNvPr id="8" name="Text 6"/>
          <p:cNvSpPr txBox="1"/>
          <p:nvPr/>
        </p:nvSpPr>
        <p:spPr>
          <a:xfrm>
            <a:off x="4754880" y="1097280"/>
            <a:ext cx="3931920" cy="320040"/>
          </a:xfrm>
          <a:prstGeom prst="rect">
            <a:avLst/>
          </a:prstGeom>
          <a:noFill/>
          <a:ln/>
        </p:spPr>
        <p:txBody>
          <a:bodyPr wrap="square" lIns="0" tIns="0" rIns="0" bIns="0" rtlCol="0" anchor="t"/>
          <a:lstStyle/>
          <a:p>
            <a:pPr indent="0" marL="0">
              <a:buNone/>
            </a:pPr>
            <a:r>
              <a:rPr lang="en-US" sz="1500" b="1" dirty="0">
                <a:solidFill>
                  <a:srgbClr val="1F2328"/>
                </a:solidFill>
                <a:latin typeface="Calibri" pitchFamily="34" charset="0"/>
                <a:ea typeface="Calibri" pitchFamily="34" charset="-122"/>
                <a:cs typeface="Calibri" pitchFamily="34" charset="-120"/>
              </a:rPr>
              <a:t>Vault — encrypt secrets at rest</a:t>
            </a:r>
            <a:endParaRPr lang="en-US" sz="1500" dirty="0"/>
          </a:p>
        </p:txBody>
      </p:sp>
      <p:sp>
        <p:nvSpPr>
          <p:cNvPr id="9" name="Shape 7"/>
          <p:cNvSpPr/>
          <p:nvPr/>
        </p:nvSpPr>
        <p:spPr>
          <a:xfrm>
            <a:off x="4754880" y="1463040"/>
            <a:ext cx="3931920" cy="1600200"/>
          </a:xfrm>
          <a:prstGeom prst="roundRect">
            <a:avLst>
              <a:gd name="adj" fmla="val 3429"/>
            </a:avLst>
          </a:prstGeom>
          <a:solidFill>
            <a:srgbClr val="1E2229"/>
          </a:solidFill>
          <a:ln w="12700">
            <a:solidFill>
              <a:srgbClr val="1E2229"/>
            </a:solidFill>
            <a:prstDash val="solid"/>
          </a:ln>
        </p:spPr>
      </p:sp>
      <p:sp>
        <p:nvSpPr>
          <p:cNvPr id="10" name="Text 8"/>
          <p:cNvSpPr txBox="1"/>
          <p:nvPr/>
        </p:nvSpPr>
        <p:spPr>
          <a:xfrm>
            <a:off x="4892040" y="1572768"/>
            <a:ext cx="3657600" cy="1380744"/>
          </a:xfrm>
          <a:prstGeom prst="rect">
            <a:avLst/>
          </a:prstGeom>
          <a:noFill/>
          <a:ln/>
        </p:spPr>
        <p:txBody>
          <a:bodyPr wrap="square" lIns="0" tIns="0" rIns="0" bIns="0" rtlCol="0" anchor="t"/>
          <a:lstStyle/>
          <a:p>
            <a:pPr indent="0" marL="0">
              <a:lnSpc>
                <a:spcPct val="100000"/>
              </a:lnSpc>
              <a:buNone/>
            </a:pPr>
            <a:r>
              <a:rPr lang="en-US" sz="950" dirty="0">
                <a:solidFill>
                  <a:srgbClr val="6EE7A8"/>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ansible-vault create  vault/secrets.yml</a:t>
            </a:r>
            <a:endParaRPr lang="en-US" sz="950" dirty="0"/>
          </a:p>
          <a:p>
            <a:pPr indent="0" marL="0">
              <a:lnSpc>
                <a:spcPct val="100000"/>
              </a:lnSpc>
              <a:buNone/>
            </a:pPr>
            <a:r>
              <a:rPr lang="en-US" sz="950" dirty="0">
                <a:solidFill>
                  <a:srgbClr val="6EE7A8"/>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ansible-vault encrypt vault/secrets.yml</a:t>
            </a:r>
            <a:endParaRPr lang="en-US" sz="950" dirty="0"/>
          </a:p>
          <a:p>
            <a:pPr indent="0" marL="0">
              <a:lnSpc>
                <a:spcPct val="100000"/>
              </a:lnSpc>
              <a:buNone/>
            </a:pPr>
            <a:r>
              <a:rPr lang="en-US" sz="950" dirty="0">
                <a:solidFill>
                  <a:srgbClr val="6EE7A8"/>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ansible-vault view    vault/secrets.yml</a:t>
            </a:r>
            <a:endParaRPr lang="en-US" sz="950" dirty="0"/>
          </a:p>
          <a:p>
            <a:pPr indent="0" marL="0">
              <a:lnSpc>
                <a:spcPct val="100000"/>
              </a:lnSpc>
              <a:buNone/>
            </a:pPr>
            <a:r>
              <a:rPr lang="en-US" sz="950" dirty="0">
                <a:solidFill>
                  <a:srgbClr val="6EE7A8"/>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ansible-vault edit    vault/secrets.yml</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t>
            </a:r>
            <a:endParaRPr lang="en-US" sz="950" dirty="0"/>
          </a:p>
          <a:p>
            <a:pPr indent="0" marL="0">
              <a:lnSpc>
                <a:spcPct val="100000"/>
              </a:lnSpc>
              <a:buNone/>
            </a:pPr>
            <a:r>
              <a:rPr lang="en-US" sz="950" dirty="0">
                <a:solidFill>
                  <a:srgbClr val="6EE7A8"/>
                </a:solidFill>
                <a:latin typeface="Courier New" pitchFamily="34" charset="0"/>
                <a:ea typeface="Courier New" pitchFamily="34" charset="-122"/>
                <a:cs typeface="Courier New" pitchFamily="34" charset="-120"/>
              </a:rPr>
              <a:t>$ </a:t>
            </a:r>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ansible-playbook playbooks/07_vault.yml \</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    --ask-vault-pass</a:t>
            </a:r>
            <a:endParaRPr lang="en-US" sz="950" dirty="0"/>
          </a:p>
        </p:txBody>
      </p:sp>
      <p:sp>
        <p:nvSpPr>
          <p:cNvPr id="11" name="Shape 9"/>
          <p:cNvSpPr/>
          <p:nvPr/>
        </p:nvSpPr>
        <p:spPr>
          <a:xfrm>
            <a:off x="4754880" y="3200400"/>
            <a:ext cx="3931920" cy="594360"/>
          </a:xfrm>
          <a:prstGeom prst="roundRect">
            <a:avLst>
              <a:gd name="adj" fmla="val 9231"/>
            </a:avLst>
          </a:prstGeom>
          <a:solidFill>
            <a:srgbClr val="1E2229"/>
          </a:solidFill>
          <a:ln w="12700">
            <a:solidFill>
              <a:srgbClr val="1E2229"/>
            </a:solidFill>
            <a:prstDash val="solid"/>
          </a:ln>
        </p:spPr>
      </p:sp>
      <p:sp>
        <p:nvSpPr>
          <p:cNvPr id="12" name="Text 10"/>
          <p:cNvSpPr txBox="1"/>
          <p:nvPr/>
        </p:nvSpPr>
        <p:spPr>
          <a:xfrm>
            <a:off x="4892040" y="3310128"/>
            <a:ext cx="3657600" cy="374904"/>
          </a:xfrm>
          <a:prstGeom prst="rect">
            <a:avLst/>
          </a:prstGeom>
          <a:noFill/>
          <a:ln/>
        </p:spPr>
        <p:txBody>
          <a:bodyPr wrap="square" lIns="0" tIns="0" rIns="0" bIns="0" rtlCol="0" anchor="t"/>
          <a:lstStyle/>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$ANSIBLE_VAULT;1.1;AES256</a:t>
            </a:r>
            <a:endParaRPr lang="en-US" sz="950" dirty="0"/>
          </a:p>
          <a:p>
            <a:pPr indent="0" marL="0">
              <a:lnSpc>
                <a:spcPct val="100000"/>
              </a:lnSpc>
              <a:buNone/>
            </a:pPr>
            <a:r>
              <a:rPr lang="en-US" sz="950" dirty="0">
                <a:solidFill>
                  <a:srgbClr val="E6E8EB"/>
                </a:solidFill>
                <a:latin typeface="Courier New" pitchFamily="34" charset="0"/>
                <a:ea typeface="Courier New" pitchFamily="34" charset="-122"/>
                <a:cs typeface="Courier New" pitchFamily="34" charset="-120"/>
              </a:rPr>
              <a:t>6638643965326165363162...</a:t>
            </a:r>
            <a:endParaRPr lang="en-US" sz="950" dirty="0"/>
          </a:p>
        </p:txBody>
      </p:sp>
      <p:sp>
        <p:nvSpPr>
          <p:cNvPr id="13" name="Shape 11"/>
          <p:cNvSpPr/>
          <p:nvPr/>
        </p:nvSpPr>
        <p:spPr>
          <a:xfrm>
            <a:off x="457200" y="4023360"/>
            <a:ext cx="8229600" cy="548640"/>
          </a:xfrm>
          <a:prstGeom prst="roundRect">
            <a:avLst>
              <a:gd name="adj" fmla="val 13333"/>
            </a:avLst>
          </a:prstGeom>
          <a:solidFill>
            <a:srgbClr val="FBE7E6"/>
          </a:solidFill>
          <a:ln w="12700">
            <a:solidFill>
              <a:srgbClr val="FBE7E6"/>
            </a:solidFill>
            <a:prstDash val="solid"/>
          </a:ln>
        </p:spPr>
      </p:sp>
      <p:sp>
        <p:nvSpPr>
          <p:cNvPr id="14" name="Text 12"/>
          <p:cNvSpPr txBox="1"/>
          <p:nvPr/>
        </p:nvSpPr>
        <p:spPr>
          <a:xfrm>
            <a:off x="640080" y="4023360"/>
            <a:ext cx="7863840" cy="548640"/>
          </a:xfrm>
          <a:prstGeom prst="rect">
            <a:avLst/>
          </a:prstGeom>
          <a:noFill/>
          <a:ln/>
        </p:spPr>
        <p:txBody>
          <a:bodyPr wrap="square" lIns="0" tIns="0" rIns="0" bIns="0" rtlCol="0" anchor="ctr"/>
          <a:lstStyle/>
          <a:p>
            <a:pPr indent="0" marL="0">
              <a:buNone/>
            </a:pPr>
            <a:r>
              <a:rPr lang="en-US" sz="1200" b="1" dirty="0">
                <a:solidFill>
                  <a:srgbClr val="D92D27"/>
                </a:solidFill>
                <a:latin typeface="Calibri" pitchFamily="34" charset="0"/>
                <a:ea typeface="Calibri" pitchFamily="34" charset="-122"/>
                <a:cs typeface="Calibri" pitchFamily="34" charset="-120"/>
              </a:rPr>
              <a:t>Never commit plain-text passwords. </a:t>
            </a:r>
            <a:pPr indent="0" marL="0">
              <a:buNone/>
            </a:pPr>
            <a:r>
              <a:rPr lang="en-US" sz="1200" dirty="0">
                <a:solidFill>
                  <a:srgbClr val="1F2328"/>
                </a:solidFill>
                <a:latin typeface="Calibri" pitchFamily="34" charset="0"/>
                <a:ea typeface="Calibri" pitchFamily="34" charset="-122"/>
                <a:cs typeface="Calibri" pitchFamily="34" charset="-120"/>
              </a:rPr>
              <a:t>Encrypt the file, commit the encrypted version, share the vault password separately.</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6181D"/>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32</a:t>
            </a:r>
            <a:endParaRPr lang="en-US" sz="900" dirty="0"/>
          </a:p>
        </p:txBody>
      </p:sp>
      <p:sp>
        <p:nvSpPr>
          <p:cNvPr id="3" name="Text 1"/>
          <p:cNvSpPr txBox="1"/>
          <p:nvPr/>
        </p:nvSpPr>
        <p:spPr>
          <a:xfrm>
            <a:off x="457200" y="685800"/>
            <a:ext cx="2743200" cy="1280160"/>
          </a:xfrm>
          <a:prstGeom prst="rect">
            <a:avLst/>
          </a:prstGeom>
          <a:noFill/>
          <a:ln/>
        </p:spPr>
        <p:txBody>
          <a:bodyPr wrap="square" lIns="0" tIns="0" rIns="0" bIns="0" rtlCol="0" anchor="ctr"/>
          <a:lstStyle/>
          <a:p>
            <a:pPr indent="0" marL="0">
              <a:buNone/>
            </a:pPr>
            <a:r>
              <a:rPr lang="en-US" sz="9600" b="1" dirty="0">
                <a:solidFill>
                  <a:srgbClr val="D92D27"/>
                </a:solidFill>
                <a:latin typeface="Arial" pitchFamily="34" charset="0"/>
                <a:ea typeface="Arial" pitchFamily="34" charset="-122"/>
                <a:cs typeface="Arial" pitchFamily="34" charset="-120"/>
              </a:rPr>
              <a:t>06</a:t>
            </a:r>
            <a:endParaRPr lang="en-US" sz="9600" dirty="0"/>
          </a:p>
        </p:txBody>
      </p:sp>
      <p:sp>
        <p:nvSpPr>
          <p:cNvPr id="4" name="Text 2"/>
          <p:cNvSpPr txBox="1"/>
          <p:nvPr/>
        </p:nvSpPr>
        <p:spPr>
          <a:xfrm>
            <a:off x="457200" y="2011680"/>
            <a:ext cx="8046720" cy="1234440"/>
          </a:xfrm>
          <a:prstGeom prst="rect">
            <a:avLst/>
          </a:prstGeom>
          <a:noFill/>
          <a:ln/>
        </p:spPr>
        <p:txBody>
          <a:bodyPr wrap="square" lIns="0" tIns="0" rIns="0" bIns="0" rtlCol="0" anchor="b"/>
          <a:lstStyle/>
          <a:p>
            <a:pPr indent="0" marL="0">
              <a:buNone/>
            </a:pPr>
            <a:r>
              <a:rPr lang="en-US" sz="3600" b="1" dirty="0">
                <a:solidFill>
                  <a:srgbClr val="FFFFFF"/>
                </a:solidFill>
                <a:latin typeface="Arial" pitchFamily="34" charset="0"/>
                <a:ea typeface="Arial" pitchFamily="34" charset="-122"/>
                <a:cs typeface="Arial" pitchFamily="34" charset="-120"/>
              </a:rPr>
              <a:t>Executing modules &amp; Modules</a:t>
            </a:r>
            <a:endParaRPr lang="en-US" sz="3600" dirty="0"/>
          </a:p>
        </p:txBody>
      </p:sp>
      <p:sp>
        <p:nvSpPr>
          <p:cNvPr id="5" name="Text 3"/>
          <p:cNvSpPr txBox="1"/>
          <p:nvPr/>
        </p:nvSpPr>
        <p:spPr>
          <a:xfrm>
            <a:off x="457200" y="3291840"/>
            <a:ext cx="7772400" cy="457200"/>
          </a:xfrm>
          <a:prstGeom prst="rect">
            <a:avLst/>
          </a:prstGeom>
          <a:noFill/>
          <a:ln/>
        </p:spPr>
        <p:txBody>
          <a:bodyPr wrap="square" lIns="0" tIns="0" rIns="0" bIns="0" rtlCol="0" anchor="ctr"/>
          <a:lstStyle/>
          <a:p>
            <a:pPr indent="0" marL="0">
              <a:buNone/>
            </a:pPr>
            <a:r>
              <a:rPr lang="en-US" sz="1600" dirty="0">
                <a:solidFill>
                  <a:srgbClr val="B8BEC7"/>
                </a:solidFill>
                <a:latin typeface="Calibri" pitchFamily="34" charset="0"/>
                <a:ea typeface="Calibri" pitchFamily="34" charset="-122"/>
                <a:cs typeface="Calibri" pitchFamily="34" charset="-120"/>
              </a:rPr>
              <a:t>Ad-hoc commands, the modules you'll use daily, and how to find more</a:t>
            </a:r>
            <a:endParaRPr lang="en-US" sz="1600" dirty="0"/>
          </a:p>
        </p:txBody>
      </p:sp>
      <p:sp>
        <p:nvSpPr>
          <p:cNvPr id="6" name="Shape 4"/>
          <p:cNvSpPr/>
          <p:nvPr/>
        </p:nvSpPr>
        <p:spPr>
          <a:xfrm>
            <a:off x="457200" y="4023360"/>
            <a:ext cx="1371600" cy="365760"/>
          </a:xfrm>
          <a:prstGeom prst="roundRect">
            <a:avLst>
              <a:gd name="adj" fmla="val 50000"/>
            </a:avLst>
          </a:prstGeom>
          <a:solidFill>
            <a:srgbClr val="2A2E36"/>
          </a:solidFill>
          <a:ln w="12700">
            <a:solidFill>
              <a:srgbClr val="2A2E36"/>
            </a:solidFill>
            <a:prstDash val="solid"/>
          </a:ln>
        </p:spPr>
      </p:sp>
      <p:sp>
        <p:nvSpPr>
          <p:cNvPr id="7" name="Text 5"/>
          <p:cNvSpPr txBox="1"/>
          <p:nvPr/>
        </p:nvSpPr>
        <p:spPr>
          <a:xfrm>
            <a:off x="457200" y="4023360"/>
            <a:ext cx="137160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 18 min</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9AA1AA"/>
                </a:solidFill>
                <a:latin typeface="Calibri" pitchFamily="34" charset="0"/>
                <a:ea typeface="Calibri" pitchFamily="34" charset="-122"/>
                <a:cs typeface="Calibri" pitchFamily="34" charset="-120"/>
              </a:rPr>
              <a:t>33</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Executing a module: the ad-hoc command</a:t>
            </a:r>
            <a:endParaRPr lang="en-US" sz="28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B6470"/>
                </a:solidFill>
                <a:latin typeface="Calibri" pitchFamily="34" charset="0"/>
                <a:ea typeface="Calibri" pitchFamily="34" charset="-122"/>
                <a:cs typeface="Calibri" pitchFamily="34" charset="-120"/>
              </a:rPr>
              <a:t>One-off tasks straight from the terminal — no playbook needed</a:t>
            </a:r>
            <a:endParaRPr lang="en-US" sz="1300" dirty="0"/>
          </a:p>
        </p:txBody>
      </p:sp>
      <p:sp>
        <p:nvSpPr>
          <p:cNvPr id="5" name="Shape 3"/>
          <p:cNvSpPr/>
          <p:nvPr/>
        </p:nvSpPr>
        <p:spPr>
          <a:xfrm>
            <a:off x="457200" y="1417320"/>
            <a:ext cx="1097280" cy="594360"/>
          </a:xfrm>
          <a:prstGeom prst="roundRect">
            <a:avLst>
              <a:gd name="adj" fmla="val 9231"/>
            </a:avLst>
          </a:prstGeom>
          <a:solidFill>
            <a:srgbClr val="1F2328"/>
          </a:solidFill>
          <a:ln w="12700">
            <a:solidFill>
              <a:srgbClr val="1F2328"/>
            </a:solidFill>
            <a:prstDash val="solid"/>
          </a:ln>
        </p:spPr>
      </p:sp>
      <p:sp>
        <p:nvSpPr>
          <p:cNvPr id="6" name="Text 4"/>
          <p:cNvSpPr txBox="1"/>
          <p:nvPr/>
        </p:nvSpPr>
        <p:spPr>
          <a:xfrm>
            <a:off x="457200" y="1417320"/>
            <a:ext cx="109728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ansible</a:t>
            </a:r>
            <a:endParaRPr lang="en-US" sz="1300" dirty="0"/>
          </a:p>
        </p:txBody>
      </p:sp>
      <p:sp>
        <p:nvSpPr>
          <p:cNvPr id="7" name="Text 5"/>
          <p:cNvSpPr txBox="1"/>
          <p:nvPr/>
        </p:nvSpPr>
        <p:spPr>
          <a:xfrm>
            <a:off x="457200" y="2103120"/>
            <a:ext cx="1097280" cy="320040"/>
          </a:xfrm>
          <a:prstGeom prst="rect">
            <a:avLst/>
          </a:prstGeom>
          <a:noFill/>
          <a:ln/>
        </p:spPr>
        <p:txBody>
          <a:bodyPr wrap="square" lIns="0" tIns="0" rIns="0" bIns="0" rtlCol="0" anchor="t"/>
          <a:lstStyle/>
          <a:p>
            <a:pPr algn="ctr" indent="0" marL="0">
              <a:buNone/>
            </a:pPr>
            <a:r>
              <a:rPr lang="en-US" sz="1100" dirty="0">
                <a:solidFill>
                  <a:srgbClr val="5B6470"/>
                </a:solidFill>
                <a:latin typeface="Calibri" pitchFamily="34" charset="0"/>
                <a:ea typeface="Calibri" pitchFamily="34" charset="-122"/>
                <a:cs typeface="Calibri" pitchFamily="34" charset="-120"/>
              </a:rPr>
              <a:t>the command</a:t>
            </a:r>
            <a:endParaRPr lang="en-US" sz="1100" dirty="0"/>
          </a:p>
        </p:txBody>
      </p:sp>
      <p:sp>
        <p:nvSpPr>
          <p:cNvPr id="8" name="Shape 6"/>
          <p:cNvSpPr/>
          <p:nvPr/>
        </p:nvSpPr>
        <p:spPr>
          <a:xfrm>
            <a:off x="1691640" y="1417320"/>
            <a:ext cx="1417320" cy="594360"/>
          </a:xfrm>
          <a:prstGeom prst="roundRect">
            <a:avLst>
              <a:gd name="adj" fmla="val 9231"/>
            </a:avLst>
          </a:prstGeom>
          <a:solidFill>
            <a:srgbClr val="D92D27"/>
          </a:solidFill>
          <a:ln w="12700">
            <a:solidFill>
              <a:srgbClr val="D92D27"/>
            </a:solidFill>
            <a:prstDash val="solid"/>
          </a:ln>
        </p:spPr>
      </p:sp>
      <p:sp>
        <p:nvSpPr>
          <p:cNvPr id="9" name="Text 7"/>
          <p:cNvSpPr txBox="1"/>
          <p:nvPr/>
        </p:nvSpPr>
        <p:spPr>
          <a:xfrm>
            <a:off x="1691640" y="1417320"/>
            <a:ext cx="141732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webservers</a:t>
            </a:r>
            <a:endParaRPr lang="en-US" sz="1300" dirty="0"/>
          </a:p>
        </p:txBody>
      </p:sp>
      <p:sp>
        <p:nvSpPr>
          <p:cNvPr id="10" name="Text 8"/>
          <p:cNvSpPr txBox="1"/>
          <p:nvPr/>
        </p:nvSpPr>
        <p:spPr>
          <a:xfrm>
            <a:off x="1691640" y="2103120"/>
            <a:ext cx="1417320" cy="320040"/>
          </a:xfrm>
          <a:prstGeom prst="rect">
            <a:avLst/>
          </a:prstGeom>
          <a:noFill/>
          <a:ln/>
        </p:spPr>
        <p:txBody>
          <a:bodyPr wrap="square" lIns="0" tIns="0" rIns="0" bIns="0" rtlCol="0" anchor="t"/>
          <a:lstStyle/>
          <a:p>
            <a:pPr algn="ctr" indent="0" marL="0">
              <a:buNone/>
            </a:pPr>
            <a:r>
              <a:rPr lang="en-US" sz="1100" dirty="0">
                <a:solidFill>
                  <a:srgbClr val="5B6470"/>
                </a:solidFill>
                <a:latin typeface="Calibri" pitchFamily="34" charset="0"/>
                <a:ea typeface="Calibri" pitchFamily="34" charset="-122"/>
                <a:cs typeface="Calibri" pitchFamily="34" charset="-120"/>
              </a:rPr>
              <a:t>host pattern</a:t>
            </a:r>
            <a:endParaRPr lang="en-US" sz="1100" dirty="0"/>
          </a:p>
        </p:txBody>
      </p:sp>
      <p:sp>
        <p:nvSpPr>
          <p:cNvPr id="11" name="Shape 9"/>
          <p:cNvSpPr/>
          <p:nvPr/>
        </p:nvSpPr>
        <p:spPr>
          <a:xfrm>
            <a:off x="3246120" y="1417320"/>
            <a:ext cx="548640" cy="594360"/>
          </a:xfrm>
          <a:prstGeom prst="roundRect">
            <a:avLst>
              <a:gd name="adj" fmla="val 10000"/>
            </a:avLst>
          </a:prstGeom>
          <a:solidFill>
            <a:srgbClr val="4A5260"/>
          </a:solidFill>
          <a:ln w="12700">
            <a:solidFill>
              <a:srgbClr val="4A5260"/>
            </a:solidFill>
            <a:prstDash val="solid"/>
          </a:ln>
        </p:spPr>
      </p:sp>
      <p:sp>
        <p:nvSpPr>
          <p:cNvPr id="12" name="Text 10"/>
          <p:cNvSpPr txBox="1"/>
          <p:nvPr/>
        </p:nvSpPr>
        <p:spPr>
          <a:xfrm>
            <a:off x="3246120" y="1417320"/>
            <a:ext cx="54864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-b</a:t>
            </a:r>
            <a:endParaRPr lang="en-US" sz="1300" dirty="0"/>
          </a:p>
        </p:txBody>
      </p:sp>
      <p:sp>
        <p:nvSpPr>
          <p:cNvPr id="13" name="Text 11"/>
          <p:cNvSpPr txBox="1"/>
          <p:nvPr/>
        </p:nvSpPr>
        <p:spPr>
          <a:xfrm>
            <a:off x="3246120" y="2103120"/>
            <a:ext cx="548640" cy="320040"/>
          </a:xfrm>
          <a:prstGeom prst="rect">
            <a:avLst/>
          </a:prstGeom>
          <a:noFill/>
          <a:ln/>
        </p:spPr>
        <p:txBody>
          <a:bodyPr wrap="square" lIns="0" tIns="0" rIns="0" bIns="0" rtlCol="0" anchor="t"/>
          <a:lstStyle/>
          <a:p>
            <a:pPr algn="ctr" indent="0" marL="0">
              <a:buNone/>
            </a:pPr>
            <a:r>
              <a:rPr lang="en-US" sz="1100" dirty="0">
                <a:solidFill>
                  <a:srgbClr val="5B6470"/>
                </a:solidFill>
                <a:latin typeface="Calibri" pitchFamily="34" charset="0"/>
                <a:ea typeface="Calibri" pitchFamily="34" charset="-122"/>
                <a:cs typeface="Calibri" pitchFamily="34" charset="-120"/>
              </a:rPr>
              <a:t>become root</a:t>
            </a:r>
            <a:endParaRPr lang="en-US" sz="1100" dirty="0"/>
          </a:p>
        </p:txBody>
      </p:sp>
      <p:sp>
        <p:nvSpPr>
          <p:cNvPr id="14" name="Shape 12"/>
          <p:cNvSpPr/>
          <p:nvPr/>
        </p:nvSpPr>
        <p:spPr>
          <a:xfrm>
            <a:off x="3931920" y="1417320"/>
            <a:ext cx="1005840" cy="594360"/>
          </a:xfrm>
          <a:prstGeom prst="roundRect">
            <a:avLst>
              <a:gd name="adj" fmla="val 9231"/>
            </a:avLst>
          </a:prstGeom>
          <a:solidFill>
            <a:srgbClr val="2F80C8"/>
          </a:solidFill>
          <a:ln w="12700">
            <a:solidFill>
              <a:srgbClr val="2F80C8"/>
            </a:solidFill>
            <a:prstDash val="solid"/>
          </a:ln>
        </p:spPr>
      </p:sp>
      <p:sp>
        <p:nvSpPr>
          <p:cNvPr id="15" name="Text 13"/>
          <p:cNvSpPr txBox="1"/>
          <p:nvPr/>
        </p:nvSpPr>
        <p:spPr>
          <a:xfrm>
            <a:off x="3931920" y="1417320"/>
            <a:ext cx="100584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-m apt</a:t>
            </a:r>
            <a:endParaRPr lang="en-US" sz="1300" dirty="0"/>
          </a:p>
        </p:txBody>
      </p:sp>
      <p:sp>
        <p:nvSpPr>
          <p:cNvPr id="16" name="Text 14"/>
          <p:cNvSpPr txBox="1"/>
          <p:nvPr/>
        </p:nvSpPr>
        <p:spPr>
          <a:xfrm>
            <a:off x="3931920" y="2103120"/>
            <a:ext cx="1005840" cy="320040"/>
          </a:xfrm>
          <a:prstGeom prst="rect">
            <a:avLst/>
          </a:prstGeom>
          <a:noFill/>
          <a:ln/>
        </p:spPr>
        <p:txBody>
          <a:bodyPr wrap="square" lIns="0" tIns="0" rIns="0" bIns="0" rtlCol="0" anchor="t"/>
          <a:lstStyle/>
          <a:p>
            <a:pPr algn="ctr" indent="0" marL="0">
              <a:buNone/>
            </a:pPr>
            <a:r>
              <a:rPr lang="en-US" sz="1100" dirty="0">
                <a:solidFill>
                  <a:srgbClr val="5B6470"/>
                </a:solidFill>
                <a:latin typeface="Calibri" pitchFamily="34" charset="0"/>
                <a:ea typeface="Calibri" pitchFamily="34" charset="-122"/>
                <a:cs typeface="Calibri" pitchFamily="34" charset="-120"/>
              </a:rPr>
              <a:t>module</a:t>
            </a:r>
            <a:endParaRPr lang="en-US" sz="1100" dirty="0"/>
          </a:p>
        </p:txBody>
      </p:sp>
      <p:sp>
        <p:nvSpPr>
          <p:cNvPr id="17" name="Shape 15"/>
          <p:cNvSpPr/>
          <p:nvPr/>
        </p:nvSpPr>
        <p:spPr>
          <a:xfrm>
            <a:off x="5074920" y="1417320"/>
            <a:ext cx="3611880" cy="594360"/>
          </a:xfrm>
          <a:prstGeom prst="roundRect">
            <a:avLst>
              <a:gd name="adj" fmla="val 9231"/>
            </a:avLst>
          </a:prstGeom>
          <a:solidFill>
            <a:srgbClr val="2E8B57"/>
          </a:solidFill>
          <a:ln w="12700">
            <a:solidFill>
              <a:srgbClr val="2E8B57"/>
            </a:solidFill>
            <a:prstDash val="solid"/>
          </a:ln>
        </p:spPr>
      </p:sp>
      <p:sp>
        <p:nvSpPr>
          <p:cNvPr id="18" name="Text 16"/>
          <p:cNvSpPr txBox="1"/>
          <p:nvPr/>
        </p:nvSpPr>
        <p:spPr>
          <a:xfrm>
            <a:off x="5074920" y="1417320"/>
            <a:ext cx="361188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-a "name=tree state=present"</a:t>
            </a:r>
            <a:endParaRPr lang="en-US" sz="1300" dirty="0"/>
          </a:p>
        </p:txBody>
      </p:sp>
      <p:sp>
        <p:nvSpPr>
          <p:cNvPr id="19" name="Text 17"/>
          <p:cNvSpPr txBox="1"/>
          <p:nvPr/>
        </p:nvSpPr>
        <p:spPr>
          <a:xfrm>
            <a:off x="5074920" y="2103120"/>
            <a:ext cx="3611880" cy="320040"/>
          </a:xfrm>
          <a:prstGeom prst="rect">
            <a:avLst/>
          </a:prstGeom>
          <a:noFill/>
          <a:ln/>
        </p:spPr>
        <p:txBody>
          <a:bodyPr wrap="square" lIns="0" tIns="0" rIns="0" bIns="0" rtlCol="0" anchor="t"/>
          <a:lstStyle/>
          <a:p>
            <a:pPr algn="ctr" indent="0" marL="0">
              <a:buNone/>
            </a:pPr>
            <a:r>
              <a:rPr lang="en-US" sz="1100" dirty="0">
                <a:solidFill>
                  <a:srgbClr val="5B6470"/>
                </a:solidFill>
                <a:latin typeface="Calibri" pitchFamily="34" charset="0"/>
                <a:ea typeface="Calibri" pitchFamily="34" charset="-122"/>
                <a:cs typeface="Calibri" pitchFamily="34" charset="-120"/>
              </a:rPr>
              <a:t>module arguments</a:t>
            </a:r>
            <a:endParaRPr lang="en-US" sz="1100" dirty="0"/>
          </a:p>
        </p:txBody>
      </p:sp>
      <p:sp>
        <p:nvSpPr>
          <p:cNvPr id="20" name="Shape 18"/>
          <p:cNvSpPr/>
          <p:nvPr/>
        </p:nvSpPr>
        <p:spPr>
          <a:xfrm>
            <a:off x="457200" y="2697480"/>
            <a:ext cx="3977640" cy="1920240"/>
          </a:xfrm>
          <a:prstGeom prst="roundRect">
            <a:avLst>
              <a:gd name="adj" fmla="val 3810"/>
            </a:avLst>
          </a:prstGeom>
          <a:solidFill>
            <a:srgbClr val="F2F3F5"/>
          </a:solidFill>
          <a:ln w="12700">
            <a:solidFill>
              <a:srgbClr val="F2F3F5"/>
            </a:solidFill>
            <a:prstDash val="solid"/>
          </a:ln>
        </p:spPr>
      </p:sp>
      <p:sp>
        <p:nvSpPr>
          <p:cNvPr id="21" name="Text 19"/>
          <p:cNvSpPr txBox="1"/>
          <p:nvPr/>
        </p:nvSpPr>
        <p:spPr>
          <a:xfrm>
            <a:off x="640080" y="2788920"/>
            <a:ext cx="3657600" cy="320040"/>
          </a:xfrm>
          <a:prstGeom prst="rect">
            <a:avLst/>
          </a:prstGeom>
          <a:noFill/>
          <a:ln/>
        </p:spPr>
        <p:txBody>
          <a:bodyPr wrap="square" lIns="0" tIns="0" rIns="0" bIns="0" rtlCol="0" anchor="t"/>
          <a:lstStyle/>
          <a:p>
            <a:pPr indent="0" marL="0">
              <a:buNone/>
            </a:pPr>
            <a:r>
              <a:rPr lang="en-US" sz="1400" b="1" dirty="0">
                <a:solidFill>
                  <a:srgbClr val="2E8B57"/>
                </a:solidFill>
                <a:latin typeface="Calibri" pitchFamily="34" charset="0"/>
                <a:ea typeface="Calibri" pitchFamily="34" charset="-122"/>
                <a:cs typeface="Calibri" pitchFamily="34" charset="-120"/>
              </a:rPr>
              <a:t>Use ad-hoc for…</a:t>
            </a:r>
            <a:endParaRPr lang="en-US" sz="1400" dirty="0"/>
          </a:p>
        </p:txBody>
      </p:sp>
      <p:sp>
        <p:nvSpPr>
          <p:cNvPr id="22" name="Text 20"/>
          <p:cNvSpPr txBox="1"/>
          <p:nvPr/>
        </p:nvSpPr>
        <p:spPr>
          <a:xfrm>
            <a:off x="640080" y="3154680"/>
            <a:ext cx="3657600" cy="13716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328"/>
                </a:solidFill>
                <a:latin typeface="Calibri" pitchFamily="34" charset="0"/>
                <a:ea typeface="Calibri" pitchFamily="34" charset="-122"/>
                <a:cs typeface="Calibri" pitchFamily="34" charset="-120"/>
              </a:rPr>
              <a:t>Quick checks: ping, uptime, disk space</a:t>
            </a:r>
            <a:endParaRPr lang="en-US" sz="1200" dirty="0"/>
          </a:p>
          <a:p>
            <a:pPr marL="342900" indent="-342900">
              <a:spcAft>
                <a:spcPts val="600"/>
              </a:spcAft>
              <a:buSzPct val="100000"/>
              <a:buChar char="•"/>
            </a:pPr>
            <a:r>
              <a:rPr lang="en-US" sz="1200" dirty="0">
                <a:solidFill>
                  <a:srgbClr val="1F2328"/>
                </a:solidFill>
                <a:latin typeface="Calibri" pitchFamily="34" charset="0"/>
                <a:ea typeface="Calibri" pitchFamily="34" charset="-122"/>
                <a:cs typeface="Calibri" pitchFamily="34" charset="-120"/>
              </a:rPr>
              <a:t>One-time fixes: restart a service</a:t>
            </a:r>
            <a:endParaRPr lang="en-US" sz="1200" dirty="0"/>
          </a:p>
          <a:p>
            <a:pPr marL="342900" indent="-342900">
              <a:spcAft>
                <a:spcPts val="600"/>
              </a:spcAft>
              <a:buSzPct val="100000"/>
              <a:buChar char="•"/>
            </a:pPr>
            <a:r>
              <a:rPr lang="en-US" sz="1200" dirty="0">
                <a:solidFill>
                  <a:srgbClr val="1F2328"/>
                </a:solidFill>
                <a:latin typeface="Calibri" pitchFamily="34" charset="0"/>
                <a:ea typeface="Calibri" pitchFamily="34" charset="-122"/>
                <a:cs typeface="Calibri" pitchFamily="34" charset="-120"/>
              </a:rPr>
              <a:t>Gathering facts from many hosts</a:t>
            </a:r>
            <a:endParaRPr lang="en-US" sz="1200" dirty="0"/>
          </a:p>
          <a:p>
            <a:pPr marL="342900" indent="-342900">
              <a:spcAft>
                <a:spcPts val="600"/>
              </a:spcAft>
              <a:buSzPct val="100000"/>
              <a:buChar char="•"/>
            </a:pPr>
            <a:r>
              <a:rPr lang="en-US" sz="1200" dirty="0">
                <a:solidFill>
                  <a:srgbClr val="1F2328"/>
                </a:solidFill>
                <a:latin typeface="Calibri" pitchFamily="34" charset="0"/>
                <a:ea typeface="Calibri" pitchFamily="34" charset="-122"/>
                <a:cs typeface="Calibri" pitchFamily="34" charset="-120"/>
              </a:rPr>
              <a:t>Trying a module before writing a task</a:t>
            </a:r>
            <a:endParaRPr lang="en-US" sz="1200" dirty="0"/>
          </a:p>
        </p:txBody>
      </p:sp>
      <p:sp>
        <p:nvSpPr>
          <p:cNvPr id="23" name="Shape 21"/>
          <p:cNvSpPr/>
          <p:nvPr/>
        </p:nvSpPr>
        <p:spPr>
          <a:xfrm>
            <a:off x="4709160" y="2697480"/>
            <a:ext cx="3977640" cy="1920240"/>
          </a:xfrm>
          <a:prstGeom prst="roundRect">
            <a:avLst>
              <a:gd name="adj" fmla="val 3810"/>
            </a:avLst>
          </a:prstGeom>
          <a:solidFill>
            <a:srgbClr val="F2F3F5"/>
          </a:solidFill>
          <a:ln w="12700">
            <a:solidFill>
              <a:srgbClr val="F2F3F5"/>
            </a:solidFill>
            <a:prstDash val="solid"/>
          </a:ln>
        </p:spPr>
      </p:sp>
      <p:sp>
        <p:nvSpPr>
          <p:cNvPr id="24" name="Text 22"/>
          <p:cNvSpPr txBox="1"/>
          <p:nvPr/>
        </p:nvSpPr>
        <p:spPr>
          <a:xfrm>
            <a:off x="4892040" y="2788920"/>
            <a:ext cx="3657600" cy="320040"/>
          </a:xfrm>
          <a:prstGeom prst="rect">
            <a:avLst/>
          </a:prstGeom>
          <a:noFill/>
          <a:ln/>
        </p:spPr>
        <p:txBody>
          <a:bodyPr wrap="square" lIns="0" tIns="0" rIns="0" bIns="0" rtlCol="0" anchor="t"/>
          <a:lstStyle/>
          <a:p>
            <a:pPr indent="0" marL="0">
              <a:buNone/>
            </a:pPr>
            <a:r>
              <a:rPr lang="en-US" sz="1400" b="1" dirty="0">
                <a:solidFill>
                  <a:srgbClr val="D92D27"/>
                </a:solidFill>
                <a:latin typeface="Calibri" pitchFamily="34" charset="0"/>
                <a:ea typeface="Calibri" pitchFamily="34" charset="-122"/>
                <a:cs typeface="Calibri" pitchFamily="34" charset="-120"/>
              </a:rPr>
              <a:t>Use a playbook for…</a:t>
            </a:r>
            <a:endParaRPr lang="en-US" sz="1400" dirty="0"/>
          </a:p>
        </p:txBody>
      </p:sp>
      <p:sp>
        <p:nvSpPr>
          <p:cNvPr id="25" name="Text 23"/>
          <p:cNvSpPr txBox="1"/>
          <p:nvPr/>
        </p:nvSpPr>
        <p:spPr>
          <a:xfrm>
            <a:off x="4892040" y="3154680"/>
            <a:ext cx="3657600" cy="13716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328"/>
                </a:solidFill>
                <a:latin typeface="Calibri" pitchFamily="34" charset="0"/>
                <a:ea typeface="Calibri" pitchFamily="34" charset="-122"/>
                <a:cs typeface="Calibri" pitchFamily="34" charset="-120"/>
              </a:rPr>
              <a:t>Anything repeatable or multi-step</a:t>
            </a:r>
            <a:endParaRPr lang="en-US" sz="1200" dirty="0"/>
          </a:p>
          <a:p>
            <a:pPr marL="342900" indent="-342900">
              <a:spcAft>
                <a:spcPts val="600"/>
              </a:spcAft>
              <a:buSzPct val="100000"/>
              <a:buChar char="•"/>
            </a:pPr>
            <a:r>
              <a:rPr lang="en-US" sz="1200" dirty="0">
                <a:solidFill>
                  <a:srgbClr val="1F2328"/>
                </a:solidFill>
                <a:latin typeface="Calibri" pitchFamily="34" charset="0"/>
                <a:ea typeface="Calibri" pitchFamily="34" charset="-122"/>
                <a:cs typeface="Calibri" pitchFamily="34" charset="-120"/>
              </a:rPr>
              <a:t>Changes that must be reviewed in Git</a:t>
            </a:r>
            <a:endParaRPr lang="en-US" sz="1200" dirty="0"/>
          </a:p>
          <a:p>
            <a:pPr marL="342900" indent="-342900">
              <a:spcAft>
                <a:spcPts val="600"/>
              </a:spcAft>
              <a:buSzPct val="100000"/>
              <a:buChar char="•"/>
            </a:pPr>
            <a:r>
              <a:rPr lang="en-US" sz="1200" dirty="0">
                <a:solidFill>
                  <a:srgbClr val="1F2328"/>
                </a:solidFill>
                <a:latin typeface="Calibri" pitchFamily="34" charset="0"/>
                <a:ea typeface="Calibri" pitchFamily="34" charset="-122"/>
                <a:cs typeface="Calibri" pitchFamily="34" charset="-120"/>
              </a:rPr>
              <a:t>Using handlers, templates, roles</a:t>
            </a:r>
            <a:endParaRPr lang="en-US" sz="1200" dirty="0"/>
          </a:p>
          <a:p>
            <a:pPr marL="342900" indent="-342900">
              <a:spcAft>
                <a:spcPts val="600"/>
              </a:spcAft>
              <a:buSzPct val="100000"/>
              <a:buChar char="•"/>
            </a:pPr>
            <a:r>
              <a:rPr lang="en-US" sz="1200" dirty="0">
                <a:solidFill>
                  <a:srgbClr val="1F2328"/>
                </a:solidFill>
                <a:latin typeface="Calibri" pitchFamily="34" charset="0"/>
                <a:ea typeface="Calibri" pitchFamily="34" charset="-122"/>
                <a:cs typeface="Calibri" pitchFamily="34" charset="-120"/>
              </a:rPr>
              <a:t>Documenting how a server is built</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9AA1AA"/>
                </a:solidFill>
                <a:latin typeface="Calibri" pitchFamily="34" charset="0"/>
                <a:ea typeface="Calibri" pitchFamily="34" charset="-122"/>
                <a:cs typeface="Calibri" pitchFamily="34" charset="-120"/>
              </a:rPr>
              <a:t>34</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Ad-hoc commands to try now</a:t>
            </a:r>
            <a:endParaRPr lang="en-US" sz="28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B6470"/>
                </a:solidFill>
                <a:latin typeface="Calibri" pitchFamily="34" charset="0"/>
                <a:ea typeface="Calibri" pitchFamily="34" charset="-122"/>
                <a:cs typeface="Calibri" pitchFamily="34" charset="-120"/>
              </a:rPr>
              <a:t>Run these in your lab (see CHEATSHEET.md)</a:t>
            </a:r>
            <a:endParaRPr lang="en-US" sz="1300" dirty="0"/>
          </a:p>
        </p:txBody>
      </p:sp>
      <p:sp>
        <p:nvSpPr>
          <p:cNvPr id="5" name="Shape 3"/>
          <p:cNvSpPr/>
          <p:nvPr/>
        </p:nvSpPr>
        <p:spPr>
          <a:xfrm>
            <a:off x="457200" y="1234440"/>
            <a:ext cx="8229600" cy="2423160"/>
          </a:xfrm>
          <a:prstGeom prst="roundRect">
            <a:avLst>
              <a:gd name="adj" fmla="val 2264"/>
            </a:avLst>
          </a:prstGeom>
          <a:solidFill>
            <a:srgbClr val="1E2229"/>
          </a:solidFill>
          <a:ln w="12700">
            <a:solidFill>
              <a:srgbClr val="1E2229"/>
            </a:solidFill>
            <a:prstDash val="solid"/>
          </a:ln>
        </p:spPr>
      </p:sp>
      <p:sp>
        <p:nvSpPr>
          <p:cNvPr id="6" name="Text 4"/>
          <p:cNvSpPr txBox="1"/>
          <p:nvPr/>
        </p:nvSpPr>
        <p:spPr>
          <a:xfrm>
            <a:off x="594360" y="1344168"/>
            <a:ext cx="7955280" cy="2203704"/>
          </a:xfrm>
          <a:prstGeom prst="rect">
            <a:avLst/>
          </a:prstGeom>
          <a:noFill/>
          <a:ln/>
        </p:spPr>
        <p:txBody>
          <a:bodyPr wrap="square" lIns="0" tIns="0" rIns="0" bIns="0" rtlCol="0" anchor="t"/>
          <a:lstStyle/>
          <a:p>
            <a:pPr indent="0" marL="0">
              <a:lnSpc>
                <a:spcPct val="100000"/>
              </a:lnSpc>
              <a:buNone/>
            </a:pPr>
            <a:r>
              <a:rPr lang="en-US" sz="1000" dirty="0">
                <a:solidFill>
                  <a:srgbClr val="6EE7A8"/>
                </a:solidFill>
                <a:latin typeface="Courier New" pitchFamily="34" charset="0"/>
                <a:ea typeface="Courier New" pitchFamily="34" charset="-122"/>
                <a:cs typeface="Courier New" pitchFamily="34" charset="-120"/>
              </a:rPr>
              <a:t>$ </a:t>
            </a:r>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ansible all -m ping</a:t>
            </a:r>
            <a:endParaRPr lang="en-US" sz="1000" dirty="0"/>
          </a:p>
          <a:p>
            <a:pPr indent="0" marL="0">
              <a:lnSpc>
                <a:spcPct val="100000"/>
              </a:lnSpc>
              <a:buNone/>
            </a:pPr>
            <a:r>
              <a:rPr lang="en-US" sz="1000" dirty="0">
                <a:solidFill>
                  <a:srgbClr val="6EE7A8"/>
                </a:solidFill>
                <a:latin typeface="Courier New" pitchFamily="34" charset="0"/>
                <a:ea typeface="Courier New" pitchFamily="34" charset="-122"/>
                <a:cs typeface="Courier New" pitchFamily="34" charset="-120"/>
              </a:rPr>
              <a:t>$ </a:t>
            </a:r>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ansible all -m ansible.builtin.command -a "hostname"</a:t>
            </a:r>
            <a:endParaRPr lang="en-US" sz="1000" dirty="0"/>
          </a:p>
          <a:p>
            <a:pPr indent="0" marL="0">
              <a:lnSpc>
                <a:spcPct val="100000"/>
              </a:lnSpc>
              <a:buNone/>
            </a:pPr>
            <a:r>
              <a:rPr lang="en-US" sz="1000" dirty="0">
                <a:solidFill>
                  <a:srgbClr val="6EE7A8"/>
                </a:solidFill>
                <a:latin typeface="Courier New" pitchFamily="34" charset="0"/>
                <a:ea typeface="Courier New" pitchFamily="34" charset="-122"/>
                <a:cs typeface="Courier New" pitchFamily="34" charset="-120"/>
              </a:rPr>
              <a:t>$ </a:t>
            </a:r>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ansible all -m ansible.builtin.shell -a "df -h | grep /"</a:t>
            </a:r>
            <a:endParaRPr lang="en-US" sz="1000" dirty="0"/>
          </a:p>
          <a:p>
            <a:pPr indent="0" marL="0">
              <a:lnSpc>
                <a:spcPct val="100000"/>
              </a:lnSpc>
              <a:buNone/>
            </a:pPr>
            <a:r>
              <a:rPr lang="en-US" sz="1000" dirty="0">
                <a:solidFill>
                  <a:srgbClr val="6EE7A8"/>
                </a:solidFill>
                <a:latin typeface="Courier New" pitchFamily="34" charset="0"/>
                <a:ea typeface="Courier New" pitchFamily="34" charset="-122"/>
                <a:cs typeface="Courier New" pitchFamily="34" charset="-120"/>
              </a:rPr>
              <a:t>$ </a:t>
            </a:r>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ansible web1 -m ansible.builtin.setup -a "filter=ansible_distribution*"</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6EE7A8"/>
                </a:solidFill>
                <a:latin typeface="Courier New" pitchFamily="34" charset="0"/>
                <a:ea typeface="Courier New" pitchFamily="34" charset="-122"/>
                <a:cs typeface="Courier New" pitchFamily="34" charset="-120"/>
              </a:rPr>
              <a:t>$ </a:t>
            </a:r>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ansible webservers -b -m ansible.builtin.apt -a "name=tree state=present update_cache=true"</a:t>
            </a:r>
            <a:endParaRPr lang="en-US" sz="1000" dirty="0"/>
          </a:p>
          <a:p>
            <a:pPr indent="0" marL="0">
              <a:lnSpc>
                <a:spcPct val="100000"/>
              </a:lnSpc>
              <a:buNone/>
            </a:pPr>
            <a:r>
              <a:rPr lang="en-US" sz="1000" dirty="0">
                <a:solidFill>
                  <a:srgbClr val="6EE7A8"/>
                </a:solidFill>
                <a:latin typeface="Courier New" pitchFamily="34" charset="0"/>
                <a:ea typeface="Courier New" pitchFamily="34" charset="-122"/>
                <a:cs typeface="Courier New" pitchFamily="34" charset="-120"/>
              </a:rPr>
              <a:t>$ </a:t>
            </a:r>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ansible all -b -m ansible.builtin.copy -a "content='hello' dest=/tmp/hello.txt"</a:t>
            </a:r>
            <a:endParaRPr lang="en-US" sz="1000" dirty="0"/>
          </a:p>
          <a:p>
            <a:pPr indent="0" marL="0">
              <a:lnSpc>
                <a:spcPct val="100000"/>
              </a:lnSpc>
              <a:buNone/>
            </a:pPr>
            <a:r>
              <a:rPr lang="en-US" sz="1000" dirty="0">
                <a:solidFill>
                  <a:srgbClr val="6EE7A8"/>
                </a:solidFill>
                <a:latin typeface="Courier New" pitchFamily="34" charset="0"/>
                <a:ea typeface="Courier New" pitchFamily="34" charset="-122"/>
                <a:cs typeface="Courier New" pitchFamily="34" charset="-120"/>
              </a:rPr>
              <a:t>$ </a:t>
            </a:r>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ansible dbservers -b -m ansible.builtin.user -a "name=carol state=present"</a:t>
            </a:r>
            <a:endParaRPr lang="en-US" sz="1000" dirty="0"/>
          </a:p>
          <a:p>
            <a:pPr indent="0" marL="0">
              <a:lnSpc>
                <a:spcPct val="100000"/>
              </a:lnSpc>
              <a:buNone/>
            </a:pPr>
            <a:r>
              <a:rPr lang="en-US" sz="1000" dirty="0">
                <a:solidFill>
                  <a:srgbClr val="6EE7A8"/>
                </a:solidFill>
                <a:latin typeface="Courier New" pitchFamily="34" charset="0"/>
                <a:ea typeface="Courier New" pitchFamily="34" charset="-122"/>
                <a:cs typeface="Courier New" pitchFamily="34" charset="-120"/>
              </a:rPr>
              <a:t>$ </a:t>
            </a:r>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ansible webservers -b -m ansible.builtin.service -a "name=nginx state=restarted"</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6EE7A8"/>
                </a:solidFill>
                <a:latin typeface="Courier New" pitchFamily="34" charset="0"/>
                <a:ea typeface="Courier New" pitchFamily="34" charset="-122"/>
                <a:cs typeface="Courier New" pitchFamily="34" charset="-120"/>
              </a:rPr>
              <a:t>$ </a:t>
            </a:r>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ansible 'webservers:!web2' -m ping           </a:t>
            </a:r>
            <a:pPr indent="0" marL="0">
              <a:lnSpc>
                <a:spcPct val="100000"/>
              </a:lnSpc>
              <a:buNone/>
            </a:pPr>
            <a:r>
              <a:rPr lang="en-US" sz="1000" dirty="0">
                <a:solidFill>
                  <a:srgbClr val="8B949E"/>
                </a:solidFill>
                <a:latin typeface="Courier New" pitchFamily="34" charset="0"/>
                <a:ea typeface="Courier New" pitchFamily="34" charset="-122"/>
                <a:cs typeface="Courier New" pitchFamily="34" charset="-120"/>
              </a:rPr>
              <a:t># pattern: all web except web2</a:t>
            </a:r>
            <a:endParaRPr lang="en-US" sz="1000" dirty="0"/>
          </a:p>
          <a:p>
            <a:pPr indent="0" marL="0">
              <a:lnSpc>
                <a:spcPct val="100000"/>
              </a:lnSpc>
              <a:buNone/>
            </a:pPr>
            <a:r>
              <a:rPr lang="en-US" sz="1000" dirty="0">
                <a:solidFill>
                  <a:srgbClr val="6EE7A8"/>
                </a:solidFill>
                <a:latin typeface="Courier New" pitchFamily="34" charset="0"/>
                <a:ea typeface="Courier New" pitchFamily="34" charset="-122"/>
                <a:cs typeface="Courier New" pitchFamily="34" charset="-120"/>
              </a:rPr>
              <a:t>$ </a:t>
            </a:r>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ansible all -m ping -f 10 -v                 </a:t>
            </a:r>
            <a:pPr indent="0" marL="0">
              <a:lnSpc>
                <a:spcPct val="100000"/>
              </a:lnSpc>
              <a:buNone/>
            </a:pPr>
            <a:r>
              <a:rPr lang="en-US" sz="1000" dirty="0">
                <a:solidFill>
                  <a:srgbClr val="8B949E"/>
                </a:solidFill>
                <a:latin typeface="Courier New" pitchFamily="34" charset="0"/>
                <a:ea typeface="Courier New" pitchFamily="34" charset="-122"/>
                <a:cs typeface="Courier New" pitchFamily="34" charset="-120"/>
              </a:rPr>
              <a:t># 10 forks, verbose</a:t>
            </a:r>
            <a:endParaRPr lang="en-US" sz="1000" dirty="0"/>
          </a:p>
        </p:txBody>
      </p:sp>
      <p:sp>
        <p:nvSpPr>
          <p:cNvPr id="7" name="Shape 5"/>
          <p:cNvSpPr/>
          <p:nvPr/>
        </p:nvSpPr>
        <p:spPr>
          <a:xfrm>
            <a:off x="457200" y="3840480"/>
            <a:ext cx="8229600" cy="502920"/>
          </a:xfrm>
          <a:prstGeom prst="roundRect">
            <a:avLst>
              <a:gd name="adj" fmla="val 14545"/>
            </a:avLst>
          </a:prstGeom>
          <a:solidFill>
            <a:srgbClr val="FFF5E0"/>
          </a:solidFill>
          <a:ln w="12700">
            <a:solidFill>
              <a:srgbClr val="FFF5E0"/>
            </a:solidFill>
            <a:prstDash val="solid"/>
          </a:ln>
        </p:spPr>
      </p:sp>
      <p:sp>
        <p:nvSpPr>
          <p:cNvPr id="8" name="Text 6"/>
          <p:cNvSpPr txBox="1"/>
          <p:nvPr/>
        </p:nvSpPr>
        <p:spPr>
          <a:xfrm>
            <a:off x="640080" y="3840480"/>
            <a:ext cx="7863840" cy="502920"/>
          </a:xfrm>
          <a:prstGeom prst="rect">
            <a:avLst/>
          </a:prstGeom>
          <a:noFill/>
          <a:ln/>
        </p:spPr>
        <p:txBody>
          <a:bodyPr wrap="square" lIns="0" tIns="0" rIns="0" bIns="0" rtlCol="0" anchor="ctr"/>
          <a:lstStyle/>
          <a:p>
            <a:pPr indent="0" marL="0">
              <a:buNone/>
            </a:pPr>
            <a:r>
              <a:rPr lang="en-US" sz="1200" b="1" dirty="0">
                <a:solidFill>
                  <a:srgbClr val="C98A0B"/>
                </a:solidFill>
                <a:latin typeface="Calibri" pitchFamily="34" charset="0"/>
                <a:ea typeface="Calibri" pitchFamily="34" charset="-122"/>
                <a:cs typeface="Calibri" pitchFamily="34" charset="-120"/>
              </a:rPr>
              <a:t>Try it: </a:t>
            </a:r>
            <a:pPr indent="0" marL="0">
              <a:buNone/>
            </a:pPr>
            <a:r>
              <a:rPr lang="en-US" sz="1200" dirty="0">
                <a:solidFill>
                  <a:srgbClr val="1F2328"/>
                </a:solidFill>
                <a:latin typeface="Calibri" pitchFamily="34" charset="0"/>
                <a:ea typeface="Calibri" pitchFamily="34" charset="-122"/>
                <a:cs typeface="Calibri" pitchFamily="34" charset="-120"/>
              </a:rPr>
              <a:t>run the apt command twice. First run is yellow (changed), second is green (ok) — idempotency in action.</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9AA1AA"/>
                </a:solidFill>
                <a:latin typeface="Calibri" pitchFamily="34" charset="0"/>
                <a:ea typeface="Calibri" pitchFamily="34" charset="-122"/>
                <a:cs typeface="Calibri" pitchFamily="34" charset="-120"/>
              </a:rPr>
              <a:t>35</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command vs shell vs raw</a:t>
            </a:r>
            <a:endParaRPr lang="en-US" sz="28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B6470"/>
                </a:solidFill>
                <a:latin typeface="Calibri" pitchFamily="34" charset="0"/>
                <a:ea typeface="Calibri" pitchFamily="34" charset="-122"/>
                <a:cs typeface="Calibri" pitchFamily="34" charset="-120"/>
              </a:rPr>
              <a:t>Three ways to run commands — pick the least powerful one that works</a:t>
            </a:r>
            <a:endParaRPr lang="en-US" sz="1300" dirty="0"/>
          </a:p>
        </p:txBody>
      </p:sp>
      <p:sp>
        <p:nvSpPr>
          <p:cNvPr id="5" name="Shape 3"/>
          <p:cNvSpPr/>
          <p:nvPr/>
        </p:nvSpPr>
        <p:spPr>
          <a:xfrm>
            <a:off x="457200" y="1188720"/>
            <a:ext cx="2606040" cy="3429000"/>
          </a:xfrm>
          <a:prstGeom prst="roundRect">
            <a:avLst>
              <a:gd name="adj" fmla="val 2807"/>
            </a:avLst>
          </a:prstGeom>
          <a:solidFill>
            <a:srgbClr val="F2F3F5"/>
          </a:solidFill>
          <a:ln w="12700">
            <a:solidFill>
              <a:srgbClr val="F2F3F5"/>
            </a:solidFill>
            <a:prstDash val="solid"/>
          </a:ln>
        </p:spPr>
      </p:sp>
      <p:sp>
        <p:nvSpPr>
          <p:cNvPr id="6" name="Shape 4"/>
          <p:cNvSpPr/>
          <p:nvPr/>
        </p:nvSpPr>
        <p:spPr>
          <a:xfrm>
            <a:off x="640080" y="1371600"/>
            <a:ext cx="1188720" cy="384048"/>
          </a:xfrm>
          <a:prstGeom prst="roundRect">
            <a:avLst>
              <a:gd name="adj" fmla="val 14286"/>
            </a:avLst>
          </a:prstGeom>
          <a:solidFill>
            <a:srgbClr val="2E8B57"/>
          </a:solidFill>
          <a:ln w="12700">
            <a:solidFill>
              <a:srgbClr val="2E8B57"/>
            </a:solidFill>
            <a:prstDash val="solid"/>
          </a:ln>
        </p:spPr>
      </p:sp>
      <p:sp>
        <p:nvSpPr>
          <p:cNvPr id="7" name="Text 5"/>
          <p:cNvSpPr txBox="1"/>
          <p:nvPr/>
        </p:nvSpPr>
        <p:spPr>
          <a:xfrm>
            <a:off x="640080" y="1371600"/>
            <a:ext cx="118872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command</a:t>
            </a:r>
            <a:endParaRPr lang="en-US" sz="1400" dirty="0"/>
          </a:p>
        </p:txBody>
      </p:sp>
      <p:sp>
        <p:nvSpPr>
          <p:cNvPr id="8" name="Text 6"/>
          <p:cNvSpPr txBox="1"/>
          <p:nvPr/>
        </p:nvSpPr>
        <p:spPr>
          <a:xfrm>
            <a:off x="640080" y="1874520"/>
            <a:ext cx="2286000" cy="594360"/>
          </a:xfrm>
          <a:prstGeom prst="rect">
            <a:avLst/>
          </a:prstGeom>
          <a:noFill/>
          <a:ln/>
        </p:spPr>
        <p:txBody>
          <a:bodyPr wrap="square" lIns="0" tIns="0" rIns="0" bIns="0" rtlCol="0" anchor="t"/>
          <a:lstStyle/>
          <a:p>
            <a:pPr indent="0" marL="0">
              <a:buNone/>
            </a:pPr>
            <a:r>
              <a:rPr lang="en-US" sz="1200" b="1" dirty="0">
                <a:solidFill>
                  <a:srgbClr val="1F2328"/>
                </a:solidFill>
                <a:latin typeface="Calibri" pitchFamily="34" charset="0"/>
                <a:ea typeface="Calibri" pitchFamily="34" charset="-122"/>
                <a:cs typeface="Calibri" pitchFamily="34" charset="-120"/>
              </a:rPr>
              <a:t>Default module. Runs a program directly, no shell.</a:t>
            </a:r>
            <a:endParaRPr lang="en-US" sz="1200" dirty="0"/>
          </a:p>
        </p:txBody>
      </p:sp>
      <p:sp>
        <p:nvSpPr>
          <p:cNvPr id="9" name="Text 7"/>
          <p:cNvSpPr txBox="1"/>
          <p:nvPr/>
        </p:nvSpPr>
        <p:spPr>
          <a:xfrm>
            <a:off x="640080" y="2514600"/>
            <a:ext cx="2286000" cy="109728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328"/>
                </a:solidFill>
                <a:latin typeface="Calibri" pitchFamily="34" charset="0"/>
                <a:ea typeface="Calibri" pitchFamily="34" charset="-122"/>
                <a:cs typeface="Calibri" pitchFamily="34" charset="-120"/>
              </a:rPr>
              <a:t>Safe from shell injection</a:t>
            </a:r>
            <a:endParaRPr lang="en-US" sz="1150" dirty="0"/>
          </a:p>
          <a:p>
            <a:pPr marL="342900" indent="-342900">
              <a:spcAft>
                <a:spcPts val="600"/>
              </a:spcAft>
              <a:buSzPct val="100000"/>
              <a:buChar char="•"/>
            </a:pPr>
            <a:r>
              <a:rPr lang="en-US" sz="1150" dirty="0">
                <a:solidFill>
                  <a:srgbClr val="1F2328"/>
                </a:solidFill>
                <a:latin typeface="Calibri" pitchFamily="34" charset="0"/>
                <a:ea typeface="Calibri" pitchFamily="34" charset="-122"/>
                <a:cs typeface="Calibri" pitchFamily="34" charset="-120"/>
              </a:rPr>
              <a:t>No pipes |, redirects &gt;, $VARS, &amp;&amp;</a:t>
            </a:r>
            <a:endParaRPr lang="en-US" sz="1150" dirty="0"/>
          </a:p>
        </p:txBody>
      </p:sp>
      <p:sp>
        <p:nvSpPr>
          <p:cNvPr id="10" name="Shape 8"/>
          <p:cNvSpPr/>
          <p:nvPr/>
        </p:nvSpPr>
        <p:spPr>
          <a:xfrm>
            <a:off x="640080" y="3840480"/>
            <a:ext cx="2240280" cy="548640"/>
          </a:xfrm>
          <a:prstGeom prst="roundRect">
            <a:avLst>
              <a:gd name="adj" fmla="val 10000"/>
            </a:avLst>
          </a:prstGeom>
          <a:solidFill>
            <a:srgbClr val="1E2229"/>
          </a:solidFill>
          <a:ln w="12700">
            <a:solidFill>
              <a:srgbClr val="1E2229"/>
            </a:solidFill>
            <a:prstDash val="solid"/>
          </a:ln>
        </p:spPr>
      </p:sp>
      <p:sp>
        <p:nvSpPr>
          <p:cNvPr id="11" name="Text 9"/>
          <p:cNvSpPr txBox="1"/>
          <p:nvPr/>
        </p:nvSpPr>
        <p:spPr>
          <a:xfrm>
            <a:off x="777240" y="3950208"/>
            <a:ext cx="1965960" cy="329184"/>
          </a:xfrm>
          <a:prstGeom prst="rect">
            <a:avLst/>
          </a:prstGeom>
          <a:noFill/>
          <a:ln/>
        </p:spPr>
        <p:txBody>
          <a:bodyPr wrap="square" lIns="0" tIns="0" rIns="0" bIns="0" rtlCol="0" anchor="t"/>
          <a:lstStyle/>
          <a:p>
            <a:pPr indent="0" marL="0">
              <a:lnSpc>
                <a:spcPct val="100000"/>
              </a:lnSpc>
              <a:buNone/>
            </a:pPr>
            <a:pPr indent="0" marL="0">
              <a:lnSpc>
                <a:spcPct val="100000"/>
              </a:lnSpc>
              <a:buNone/>
            </a:pPr>
            <a:r>
              <a:rPr lang="en-US" sz="900" dirty="0">
                <a:solidFill>
                  <a:srgbClr val="7EC8E3"/>
                </a:solidFill>
                <a:latin typeface="Courier New" pitchFamily="34" charset="0"/>
                <a:ea typeface="Courier New" pitchFamily="34" charset="-122"/>
                <a:cs typeface="Courier New" pitchFamily="34" charset="-120"/>
              </a:rPr>
              <a:t>command:</a:t>
            </a:r>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uptime</a:t>
            </a:r>
            <a:endParaRPr lang="en-US" sz="900" dirty="0"/>
          </a:p>
        </p:txBody>
      </p:sp>
      <p:sp>
        <p:nvSpPr>
          <p:cNvPr id="12" name="Shape 10"/>
          <p:cNvSpPr/>
          <p:nvPr/>
        </p:nvSpPr>
        <p:spPr>
          <a:xfrm>
            <a:off x="3246120" y="1188720"/>
            <a:ext cx="2606040" cy="3429000"/>
          </a:xfrm>
          <a:prstGeom prst="roundRect">
            <a:avLst>
              <a:gd name="adj" fmla="val 2807"/>
            </a:avLst>
          </a:prstGeom>
          <a:solidFill>
            <a:srgbClr val="F2F3F5"/>
          </a:solidFill>
          <a:ln w="12700">
            <a:solidFill>
              <a:srgbClr val="F2F3F5"/>
            </a:solidFill>
            <a:prstDash val="solid"/>
          </a:ln>
        </p:spPr>
      </p:sp>
      <p:sp>
        <p:nvSpPr>
          <p:cNvPr id="13" name="Shape 11"/>
          <p:cNvSpPr/>
          <p:nvPr/>
        </p:nvSpPr>
        <p:spPr>
          <a:xfrm>
            <a:off x="3429000" y="1371600"/>
            <a:ext cx="1188720" cy="384048"/>
          </a:xfrm>
          <a:prstGeom prst="roundRect">
            <a:avLst>
              <a:gd name="adj" fmla="val 14286"/>
            </a:avLst>
          </a:prstGeom>
          <a:solidFill>
            <a:srgbClr val="C98A0B"/>
          </a:solidFill>
          <a:ln w="12700">
            <a:solidFill>
              <a:srgbClr val="C98A0B"/>
            </a:solidFill>
            <a:prstDash val="solid"/>
          </a:ln>
        </p:spPr>
      </p:sp>
      <p:sp>
        <p:nvSpPr>
          <p:cNvPr id="14" name="Text 12"/>
          <p:cNvSpPr txBox="1"/>
          <p:nvPr/>
        </p:nvSpPr>
        <p:spPr>
          <a:xfrm>
            <a:off x="3429000" y="1371600"/>
            <a:ext cx="118872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shell</a:t>
            </a:r>
            <a:endParaRPr lang="en-US" sz="1400" dirty="0"/>
          </a:p>
        </p:txBody>
      </p:sp>
      <p:sp>
        <p:nvSpPr>
          <p:cNvPr id="15" name="Text 13"/>
          <p:cNvSpPr txBox="1"/>
          <p:nvPr/>
        </p:nvSpPr>
        <p:spPr>
          <a:xfrm>
            <a:off x="3429000" y="1874520"/>
            <a:ext cx="2286000" cy="594360"/>
          </a:xfrm>
          <a:prstGeom prst="rect">
            <a:avLst/>
          </a:prstGeom>
          <a:noFill/>
          <a:ln/>
        </p:spPr>
        <p:txBody>
          <a:bodyPr wrap="square" lIns="0" tIns="0" rIns="0" bIns="0" rtlCol="0" anchor="t"/>
          <a:lstStyle/>
          <a:p>
            <a:pPr indent="0" marL="0">
              <a:buNone/>
            </a:pPr>
            <a:r>
              <a:rPr lang="en-US" sz="1200" b="1" dirty="0">
                <a:solidFill>
                  <a:srgbClr val="1F2328"/>
                </a:solidFill>
                <a:latin typeface="Calibri" pitchFamily="34" charset="0"/>
                <a:ea typeface="Calibri" pitchFamily="34" charset="-122"/>
                <a:cs typeface="Calibri" pitchFamily="34" charset="-120"/>
              </a:rPr>
              <a:t>Runs through /bin/sh on the node.</a:t>
            </a:r>
            <a:endParaRPr lang="en-US" sz="1200" dirty="0"/>
          </a:p>
        </p:txBody>
      </p:sp>
      <p:sp>
        <p:nvSpPr>
          <p:cNvPr id="16" name="Text 14"/>
          <p:cNvSpPr txBox="1"/>
          <p:nvPr/>
        </p:nvSpPr>
        <p:spPr>
          <a:xfrm>
            <a:off x="3429000" y="2514600"/>
            <a:ext cx="2286000" cy="109728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328"/>
                </a:solidFill>
                <a:latin typeface="Calibri" pitchFamily="34" charset="0"/>
                <a:ea typeface="Calibri" pitchFamily="34" charset="-122"/>
                <a:cs typeface="Calibri" pitchFamily="34" charset="-120"/>
              </a:rPr>
              <a:t>Pipes, redirects, env vars work</a:t>
            </a:r>
            <a:endParaRPr lang="en-US" sz="1150" dirty="0"/>
          </a:p>
          <a:p>
            <a:pPr marL="342900" indent="-342900">
              <a:spcAft>
                <a:spcPts val="600"/>
              </a:spcAft>
              <a:buSzPct val="100000"/>
              <a:buChar char="•"/>
            </a:pPr>
            <a:r>
              <a:rPr lang="en-US" sz="1150" dirty="0">
                <a:solidFill>
                  <a:srgbClr val="1F2328"/>
                </a:solidFill>
                <a:latin typeface="Calibri" pitchFamily="34" charset="0"/>
                <a:ea typeface="Calibri" pitchFamily="34" charset="-122"/>
                <a:cs typeface="Calibri" pitchFamily="34" charset="-120"/>
              </a:rPr>
              <a:t>Easy to write non-idempotent tasks</a:t>
            </a:r>
            <a:endParaRPr lang="en-US" sz="1150" dirty="0"/>
          </a:p>
        </p:txBody>
      </p:sp>
      <p:sp>
        <p:nvSpPr>
          <p:cNvPr id="17" name="Shape 15"/>
          <p:cNvSpPr/>
          <p:nvPr/>
        </p:nvSpPr>
        <p:spPr>
          <a:xfrm>
            <a:off x="3429000" y="3840480"/>
            <a:ext cx="2240280" cy="548640"/>
          </a:xfrm>
          <a:prstGeom prst="roundRect">
            <a:avLst>
              <a:gd name="adj" fmla="val 10000"/>
            </a:avLst>
          </a:prstGeom>
          <a:solidFill>
            <a:srgbClr val="1E2229"/>
          </a:solidFill>
          <a:ln w="12700">
            <a:solidFill>
              <a:srgbClr val="1E2229"/>
            </a:solidFill>
            <a:prstDash val="solid"/>
          </a:ln>
        </p:spPr>
      </p:sp>
      <p:sp>
        <p:nvSpPr>
          <p:cNvPr id="18" name="Text 16"/>
          <p:cNvSpPr txBox="1"/>
          <p:nvPr/>
        </p:nvSpPr>
        <p:spPr>
          <a:xfrm>
            <a:off x="3566160" y="3950208"/>
            <a:ext cx="1965960" cy="329184"/>
          </a:xfrm>
          <a:prstGeom prst="rect">
            <a:avLst/>
          </a:prstGeom>
          <a:noFill/>
          <a:ln/>
        </p:spPr>
        <p:txBody>
          <a:bodyPr wrap="square" lIns="0" tIns="0" rIns="0" bIns="0" rtlCol="0" anchor="t"/>
          <a:lstStyle/>
          <a:p>
            <a:pPr indent="0" marL="0">
              <a:lnSpc>
                <a:spcPct val="100000"/>
              </a:lnSpc>
              <a:buNone/>
            </a:pPr>
            <a:pPr indent="0" marL="0">
              <a:lnSpc>
                <a:spcPct val="100000"/>
              </a:lnSpc>
              <a:buNone/>
            </a:pPr>
            <a:r>
              <a:rPr lang="en-US" sz="900" dirty="0">
                <a:solidFill>
                  <a:srgbClr val="7EC8E3"/>
                </a:solidFill>
                <a:latin typeface="Courier New" pitchFamily="34" charset="0"/>
                <a:ea typeface="Courier New" pitchFamily="34" charset="-122"/>
                <a:cs typeface="Courier New" pitchFamily="34" charset="-120"/>
              </a:rPr>
              <a:t>shell:</a:t>
            </a:r>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cat log | grep ERR</a:t>
            </a:r>
            <a:endParaRPr lang="en-US" sz="900" dirty="0"/>
          </a:p>
        </p:txBody>
      </p:sp>
      <p:sp>
        <p:nvSpPr>
          <p:cNvPr id="19" name="Shape 17"/>
          <p:cNvSpPr/>
          <p:nvPr/>
        </p:nvSpPr>
        <p:spPr>
          <a:xfrm>
            <a:off x="6035040" y="1188720"/>
            <a:ext cx="2606040" cy="3429000"/>
          </a:xfrm>
          <a:prstGeom prst="roundRect">
            <a:avLst>
              <a:gd name="adj" fmla="val 2807"/>
            </a:avLst>
          </a:prstGeom>
          <a:solidFill>
            <a:srgbClr val="F2F3F5"/>
          </a:solidFill>
          <a:ln w="12700">
            <a:solidFill>
              <a:srgbClr val="F2F3F5"/>
            </a:solidFill>
            <a:prstDash val="solid"/>
          </a:ln>
        </p:spPr>
      </p:sp>
      <p:sp>
        <p:nvSpPr>
          <p:cNvPr id="20" name="Shape 18"/>
          <p:cNvSpPr/>
          <p:nvPr/>
        </p:nvSpPr>
        <p:spPr>
          <a:xfrm>
            <a:off x="6217920" y="1371600"/>
            <a:ext cx="1188720" cy="384048"/>
          </a:xfrm>
          <a:prstGeom prst="roundRect">
            <a:avLst>
              <a:gd name="adj" fmla="val 14286"/>
            </a:avLst>
          </a:prstGeom>
          <a:solidFill>
            <a:srgbClr val="D92D27"/>
          </a:solidFill>
          <a:ln w="12700">
            <a:solidFill>
              <a:srgbClr val="D92D27"/>
            </a:solidFill>
            <a:prstDash val="solid"/>
          </a:ln>
        </p:spPr>
      </p:sp>
      <p:sp>
        <p:nvSpPr>
          <p:cNvPr id="21" name="Text 19"/>
          <p:cNvSpPr txBox="1"/>
          <p:nvPr/>
        </p:nvSpPr>
        <p:spPr>
          <a:xfrm>
            <a:off x="6217920" y="1371600"/>
            <a:ext cx="118872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raw</a:t>
            </a:r>
            <a:endParaRPr lang="en-US" sz="1400" dirty="0"/>
          </a:p>
        </p:txBody>
      </p:sp>
      <p:sp>
        <p:nvSpPr>
          <p:cNvPr id="22" name="Text 20"/>
          <p:cNvSpPr txBox="1"/>
          <p:nvPr/>
        </p:nvSpPr>
        <p:spPr>
          <a:xfrm>
            <a:off x="6217920" y="1874520"/>
            <a:ext cx="2286000" cy="594360"/>
          </a:xfrm>
          <a:prstGeom prst="rect">
            <a:avLst/>
          </a:prstGeom>
          <a:noFill/>
          <a:ln/>
        </p:spPr>
        <p:txBody>
          <a:bodyPr wrap="square" lIns="0" tIns="0" rIns="0" bIns="0" rtlCol="0" anchor="t"/>
          <a:lstStyle/>
          <a:p>
            <a:pPr indent="0" marL="0">
              <a:buNone/>
            </a:pPr>
            <a:r>
              <a:rPr lang="en-US" sz="1200" b="1" dirty="0">
                <a:solidFill>
                  <a:srgbClr val="1F2328"/>
                </a:solidFill>
                <a:latin typeface="Calibri" pitchFamily="34" charset="0"/>
                <a:ea typeface="Calibri" pitchFamily="34" charset="-122"/>
                <a:cs typeface="Calibri" pitchFamily="34" charset="-120"/>
              </a:rPr>
              <a:t>Sends a raw SSH command. Needs no Python.</a:t>
            </a:r>
            <a:endParaRPr lang="en-US" sz="1200" dirty="0"/>
          </a:p>
        </p:txBody>
      </p:sp>
      <p:sp>
        <p:nvSpPr>
          <p:cNvPr id="23" name="Text 21"/>
          <p:cNvSpPr txBox="1"/>
          <p:nvPr/>
        </p:nvSpPr>
        <p:spPr>
          <a:xfrm>
            <a:off x="6217920" y="2514600"/>
            <a:ext cx="2286000" cy="109728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328"/>
                </a:solidFill>
                <a:latin typeface="Calibri" pitchFamily="34" charset="0"/>
                <a:ea typeface="Calibri" pitchFamily="34" charset="-122"/>
                <a:cs typeface="Calibri" pitchFamily="34" charset="-120"/>
              </a:rPr>
              <a:t>Bootstrap: install Python first</a:t>
            </a:r>
            <a:endParaRPr lang="en-US" sz="1150" dirty="0"/>
          </a:p>
          <a:p>
            <a:pPr marL="342900" indent="-342900">
              <a:spcAft>
                <a:spcPts val="600"/>
              </a:spcAft>
              <a:buSzPct val="100000"/>
              <a:buChar char="•"/>
            </a:pPr>
            <a:r>
              <a:rPr lang="en-US" sz="1150" dirty="0">
                <a:solidFill>
                  <a:srgbClr val="1F2328"/>
                </a:solidFill>
                <a:latin typeface="Calibri" pitchFamily="34" charset="0"/>
                <a:ea typeface="Calibri" pitchFamily="34" charset="-122"/>
                <a:cs typeface="Calibri" pitchFamily="34" charset="-120"/>
              </a:rPr>
              <a:t>Network devices without Python</a:t>
            </a:r>
            <a:endParaRPr lang="en-US" sz="1150" dirty="0"/>
          </a:p>
        </p:txBody>
      </p:sp>
      <p:sp>
        <p:nvSpPr>
          <p:cNvPr id="24" name="Shape 22"/>
          <p:cNvSpPr/>
          <p:nvPr/>
        </p:nvSpPr>
        <p:spPr>
          <a:xfrm>
            <a:off x="6217920" y="3840480"/>
            <a:ext cx="2240280" cy="548640"/>
          </a:xfrm>
          <a:prstGeom prst="roundRect">
            <a:avLst>
              <a:gd name="adj" fmla="val 10000"/>
            </a:avLst>
          </a:prstGeom>
          <a:solidFill>
            <a:srgbClr val="1E2229"/>
          </a:solidFill>
          <a:ln w="12700">
            <a:solidFill>
              <a:srgbClr val="1E2229"/>
            </a:solidFill>
            <a:prstDash val="solid"/>
          </a:ln>
        </p:spPr>
      </p:sp>
      <p:sp>
        <p:nvSpPr>
          <p:cNvPr id="25" name="Text 23"/>
          <p:cNvSpPr txBox="1"/>
          <p:nvPr/>
        </p:nvSpPr>
        <p:spPr>
          <a:xfrm>
            <a:off x="6355080" y="3950208"/>
            <a:ext cx="1965960" cy="329184"/>
          </a:xfrm>
          <a:prstGeom prst="rect">
            <a:avLst/>
          </a:prstGeom>
          <a:noFill/>
          <a:ln/>
        </p:spPr>
        <p:txBody>
          <a:bodyPr wrap="square" lIns="0" tIns="0" rIns="0" bIns="0" rtlCol="0" anchor="t"/>
          <a:lstStyle/>
          <a:p>
            <a:pPr indent="0" marL="0">
              <a:lnSpc>
                <a:spcPct val="100000"/>
              </a:lnSpc>
              <a:buNone/>
            </a:pPr>
            <a:pPr indent="0" marL="0">
              <a:lnSpc>
                <a:spcPct val="100000"/>
              </a:lnSpc>
              <a:buNone/>
            </a:pPr>
            <a:r>
              <a:rPr lang="en-US" sz="900" dirty="0">
                <a:solidFill>
                  <a:srgbClr val="7EC8E3"/>
                </a:solidFill>
                <a:latin typeface="Courier New" pitchFamily="34" charset="0"/>
                <a:ea typeface="Courier New" pitchFamily="34" charset="-122"/>
                <a:cs typeface="Courier New" pitchFamily="34" charset="-120"/>
              </a:rPr>
              <a:t>raw:</a:t>
            </a:r>
            <a:pPr indent="0" marL="0">
              <a:lnSpc>
                <a:spcPct val="100000"/>
              </a:lnSpc>
              <a:buNone/>
            </a:pPr>
            <a:r>
              <a:rPr lang="en-US" sz="900" dirty="0">
                <a:solidFill>
                  <a:srgbClr val="E6E8EB"/>
                </a:solidFill>
                <a:latin typeface="Courier New" pitchFamily="34" charset="0"/>
                <a:ea typeface="Courier New" pitchFamily="34" charset="-122"/>
                <a:cs typeface="Courier New" pitchFamily="34" charset="-120"/>
              </a:rPr>
              <a:t> apt install -y python3</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9AA1AA"/>
                </a:solidFill>
                <a:latin typeface="Calibri" pitchFamily="34" charset="0"/>
                <a:ea typeface="Calibri" pitchFamily="34" charset="-122"/>
                <a:cs typeface="Calibri" pitchFamily="34" charset="-120"/>
              </a:rPr>
              <a:t>36</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Modules — thousands of them, grouped by job</a:t>
            </a:r>
            <a:endParaRPr lang="en-US" sz="2800" dirty="0"/>
          </a:p>
        </p:txBody>
      </p:sp>
      <p:sp>
        <p:nvSpPr>
          <p:cNvPr id="4" name="Shape 2"/>
          <p:cNvSpPr/>
          <p:nvPr/>
        </p:nvSpPr>
        <p:spPr>
          <a:xfrm>
            <a:off x="457200" y="1097280"/>
            <a:ext cx="1920240" cy="1600200"/>
          </a:xfrm>
          <a:prstGeom prst="roundRect">
            <a:avLst>
              <a:gd name="adj" fmla="val 4571"/>
            </a:avLst>
          </a:prstGeom>
          <a:solidFill>
            <a:srgbClr val="F2F3F5"/>
          </a:solidFill>
          <a:ln w="12700">
            <a:solidFill>
              <a:srgbClr val="F2F3F5"/>
            </a:solidFill>
            <a:prstDash val="solid"/>
          </a:ln>
        </p:spPr>
      </p:sp>
      <p:sp>
        <p:nvSpPr>
          <p:cNvPr id="5" name="Shape 3"/>
          <p:cNvSpPr/>
          <p:nvPr/>
        </p:nvSpPr>
        <p:spPr>
          <a:xfrm>
            <a:off x="640080" y="1280160"/>
            <a:ext cx="457200" cy="457200"/>
          </a:xfrm>
          <a:prstGeom prst="ellipse">
            <a:avLst/>
          </a:prstGeom>
          <a:solidFill>
            <a:srgbClr val="D92D27"/>
          </a:solidFill>
          <a:ln w="12700">
            <a:solidFill>
              <a:srgbClr val="D92D27"/>
            </a:solidFill>
            <a:prstDash val="solid"/>
          </a:ln>
        </p:spPr>
      </p:sp>
      <p:pic>
        <p:nvPicPr>
          <p:cNvPr id="6" name="Image 0" descr="preencoded.png">    </p:cNvPr>
          <p:cNvPicPr>
            <a:picLocks noChangeAspect="1"/>
          </p:cNvPicPr>
          <p:nvPr/>
        </p:nvPicPr>
        <p:blipFill>
          <a:blip r:embed="rId1"/>
          <a:stretch>
            <a:fillRect/>
          </a:stretch>
        </p:blipFill>
        <p:spPr>
          <a:xfrm>
            <a:off x="758952" y="1399032"/>
            <a:ext cx="219456" cy="219456"/>
          </a:xfrm>
          <a:prstGeom prst="rect">
            <a:avLst/>
          </a:prstGeom>
        </p:spPr>
      </p:pic>
      <p:sp>
        <p:nvSpPr>
          <p:cNvPr id="7" name="Text 4"/>
          <p:cNvSpPr txBox="1"/>
          <p:nvPr/>
        </p:nvSpPr>
        <p:spPr>
          <a:xfrm>
            <a:off x="640080" y="1828800"/>
            <a:ext cx="1645920" cy="320040"/>
          </a:xfrm>
          <a:prstGeom prst="rect">
            <a:avLst/>
          </a:prstGeom>
          <a:noFill/>
          <a:ln/>
        </p:spPr>
        <p:txBody>
          <a:bodyPr wrap="square" lIns="0" tIns="0" rIns="0" bIns="0" rtlCol="0" anchor="t"/>
          <a:lstStyle/>
          <a:p>
            <a:pPr indent="0" marL="0">
              <a:buNone/>
            </a:pPr>
            <a:r>
              <a:rPr lang="en-US" sz="1300" b="1" dirty="0">
                <a:solidFill>
                  <a:srgbClr val="1F2328"/>
                </a:solidFill>
                <a:latin typeface="Calibri" pitchFamily="34" charset="0"/>
                <a:ea typeface="Calibri" pitchFamily="34" charset="-122"/>
                <a:cs typeface="Calibri" pitchFamily="34" charset="-120"/>
              </a:rPr>
              <a:t>Packages</a:t>
            </a:r>
            <a:endParaRPr lang="en-US" sz="1300" dirty="0"/>
          </a:p>
        </p:txBody>
      </p:sp>
      <p:sp>
        <p:nvSpPr>
          <p:cNvPr id="8" name="Text 5"/>
          <p:cNvSpPr txBox="1"/>
          <p:nvPr/>
        </p:nvSpPr>
        <p:spPr>
          <a:xfrm>
            <a:off x="640080" y="2130552"/>
            <a:ext cx="1645920" cy="502920"/>
          </a:xfrm>
          <a:prstGeom prst="rect">
            <a:avLst/>
          </a:prstGeom>
          <a:noFill/>
          <a:ln/>
        </p:spPr>
        <p:txBody>
          <a:bodyPr wrap="square" lIns="0" tIns="0" rIns="0" bIns="0" rtlCol="0" anchor="t"/>
          <a:lstStyle/>
          <a:p>
            <a:pPr indent="0" marL="0">
              <a:buNone/>
            </a:pPr>
            <a:r>
              <a:rPr lang="en-US" sz="1000" dirty="0">
                <a:solidFill>
                  <a:srgbClr val="5B6470"/>
                </a:solidFill>
                <a:latin typeface="Courier New" pitchFamily="34" charset="0"/>
                <a:ea typeface="Courier New" pitchFamily="34" charset="-122"/>
                <a:cs typeface="Courier New" pitchFamily="34" charset="-120"/>
              </a:rPr>
              <a:t>apt · dnf · yum · package · pip</a:t>
            </a:r>
            <a:endParaRPr lang="en-US" sz="1000" dirty="0"/>
          </a:p>
        </p:txBody>
      </p:sp>
      <p:sp>
        <p:nvSpPr>
          <p:cNvPr id="9" name="Shape 6"/>
          <p:cNvSpPr/>
          <p:nvPr/>
        </p:nvSpPr>
        <p:spPr>
          <a:xfrm>
            <a:off x="2560320" y="1097280"/>
            <a:ext cx="1920240" cy="1600200"/>
          </a:xfrm>
          <a:prstGeom prst="roundRect">
            <a:avLst>
              <a:gd name="adj" fmla="val 4571"/>
            </a:avLst>
          </a:prstGeom>
          <a:solidFill>
            <a:srgbClr val="F2F3F5"/>
          </a:solidFill>
          <a:ln w="12700">
            <a:solidFill>
              <a:srgbClr val="F2F3F5"/>
            </a:solidFill>
            <a:prstDash val="solid"/>
          </a:ln>
        </p:spPr>
      </p:sp>
      <p:sp>
        <p:nvSpPr>
          <p:cNvPr id="10" name="Shape 7"/>
          <p:cNvSpPr/>
          <p:nvPr/>
        </p:nvSpPr>
        <p:spPr>
          <a:xfrm>
            <a:off x="2743200" y="1280160"/>
            <a:ext cx="457200" cy="457200"/>
          </a:xfrm>
          <a:prstGeom prst="ellipse">
            <a:avLst/>
          </a:prstGeom>
          <a:solidFill>
            <a:srgbClr val="D92D27"/>
          </a:solidFill>
          <a:ln w="12700">
            <a:solidFill>
              <a:srgbClr val="D92D27"/>
            </a:solidFill>
            <a:prstDash val="solid"/>
          </a:ln>
        </p:spPr>
      </p:sp>
      <p:pic>
        <p:nvPicPr>
          <p:cNvPr id="11" name="Image 1" descr="preencoded.png">    </p:cNvPr>
          <p:cNvPicPr>
            <a:picLocks noChangeAspect="1"/>
          </p:cNvPicPr>
          <p:nvPr/>
        </p:nvPicPr>
        <p:blipFill>
          <a:blip r:embed="rId2"/>
          <a:stretch>
            <a:fillRect/>
          </a:stretch>
        </p:blipFill>
        <p:spPr>
          <a:xfrm>
            <a:off x="2862072" y="1399032"/>
            <a:ext cx="219456" cy="219456"/>
          </a:xfrm>
          <a:prstGeom prst="rect">
            <a:avLst/>
          </a:prstGeom>
        </p:spPr>
      </p:pic>
      <p:sp>
        <p:nvSpPr>
          <p:cNvPr id="12" name="Text 8"/>
          <p:cNvSpPr txBox="1"/>
          <p:nvPr/>
        </p:nvSpPr>
        <p:spPr>
          <a:xfrm>
            <a:off x="2743200" y="1828800"/>
            <a:ext cx="1645920" cy="320040"/>
          </a:xfrm>
          <a:prstGeom prst="rect">
            <a:avLst/>
          </a:prstGeom>
          <a:noFill/>
          <a:ln/>
        </p:spPr>
        <p:txBody>
          <a:bodyPr wrap="square" lIns="0" tIns="0" rIns="0" bIns="0" rtlCol="0" anchor="t"/>
          <a:lstStyle/>
          <a:p>
            <a:pPr indent="0" marL="0">
              <a:buNone/>
            </a:pPr>
            <a:r>
              <a:rPr lang="en-US" sz="1300" b="1" dirty="0">
                <a:solidFill>
                  <a:srgbClr val="1F2328"/>
                </a:solidFill>
                <a:latin typeface="Calibri" pitchFamily="34" charset="0"/>
                <a:ea typeface="Calibri" pitchFamily="34" charset="-122"/>
                <a:cs typeface="Calibri" pitchFamily="34" charset="-120"/>
              </a:rPr>
              <a:t>Files</a:t>
            </a:r>
            <a:endParaRPr lang="en-US" sz="1300" dirty="0"/>
          </a:p>
        </p:txBody>
      </p:sp>
      <p:sp>
        <p:nvSpPr>
          <p:cNvPr id="13" name="Text 9"/>
          <p:cNvSpPr txBox="1"/>
          <p:nvPr/>
        </p:nvSpPr>
        <p:spPr>
          <a:xfrm>
            <a:off x="2743200" y="2130552"/>
            <a:ext cx="1645920" cy="502920"/>
          </a:xfrm>
          <a:prstGeom prst="rect">
            <a:avLst/>
          </a:prstGeom>
          <a:noFill/>
          <a:ln/>
        </p:spPr>
        <p:txBody>
          <a:bodyPr wrap="square" lIns="0" tIns="0" rIns="0" bIns="0" rtlCol="0" anchor="t"/>
          <a:lstStyle/>
          <a:p>
            <a:pPr indent="0" marL="0">
              <a:buNone/>
            </a:pPr>
            <a:r>
              <a:rPr lang="en-US" sz="1000" dirty="0">
                <a:solidFill>
                  <a:srgbClr val="5B6470"/>
                </a:solidFill>
                <a:latin typeface="Courier New" pitchFamily="34" charset="0"/>
                <a:ea typeface="Courier New" pitchFamily="34" charset="-122"/>
                <a:cs typeface="Courier New" pitchFamily="34" charset="-120"/>
              </a:rPr>
              <a:t>copy · file · template · lineinfile · fetch</a:t>
            </a:r>
            <a:endParaRPr lang="en-US" sz="1000" dirty="0"/>
          </a:p>
        </p:txBody>
      </p:sp>
      <p:sp>
        <p:nvSpPr>
          <p:cNvPr id="14" name="Shape 10"/>
          <p:cNvSpPr/>
          <p:nvPr/>
        </p:nvSpPr>
        <p:spPr>
          <a:xfrm>
            <a:off x="4663440" y="1097280"/>
            <a:ext cx="1920240" cy="1600200"/>
          </a:xfrm>
          <a:prstGeom prst="roundRect">
            <a:avLst>
              <a:gd name="adj" fmla="val 4571"/>
            </a:avLst>
          </a:prstGeom>
          <a:solidFill>
            <a:srgbClr val="F2F3F5"/>
          </a:solidFill>
          <a:ln w="12700">
            <a:solidFill>
              <a:srgbClr val="F2F3F5"/>
            </a:solidFill>
            <a:prstDash val="solid"/>
          </a:ln>
        </p:spPr>
      </p:sp>
      <p:sp>
        <p:nvSpPr>
          <p:cNvPr id="15" name="Shape 11"/>
          <p:cNvSpPr/>
          <p:nvPr/>
        </p:nvSpPr>
        <p:spPr>
          <a:xfrm>
            <a:off x="4846320" y="1280160"/>
            <a:ext cx="457200" cy="457200"/>
          </a:xfrm>
          <a:prstGeom prst="ellipse">
            <a:avLst/>
          </a:prstGeom>
          <a:solidFill>
            <a:srgbClr val="D92D27"/>
          </a:solidFill>
          <a:ln w="12700">
            <a:solidFill>
              <a:srgbClr val="D92D27"/>
            </a:solidFill>
            <a:prstDash val="solid"/>
          </a:ln>
        </p:spPr>
      </p:sp>
      <p:pic>
        <p:nvPicPr>
          <p:cNvPr id="16" name="Image 2" descr="preencoded.png">    </p:cNvPr>
          <p:cNvPicPr>
            <a:picLocks noChangeAspect="1"/>
          </p:cNvPicPr>
          <p:nvPr/>
        </p:nvPicPr>
        <p:blipFill>
          <a:blip r:embed="rId3"/>
          <a:stretch>
            <a:fillRect/>
          </a:stretch>
        </p:blipFill>
        <p:spPr>
          <a:xfrm>
            <a:off x="4965192" y="1399032"/>
            <a:ext cx="219456" cy="219456"/>
          </a:xfrm>
          <a:prstGeom prst="rect">
            <a:avLst/>
          </a:prstGeom>
        </p:spPr>
      </p:pic>
      <p:sp>
        <p:nvSpPr>
          <p:cNvPr id="17" name="Text 12"/>
          <p:cNvSpPr txBox="1"/>
          <p:nvPr/>
        </p:nvSpPr>
        <p:spPr>
          <a:xfrm>
            <a:off x="4846320" y="1828800"/>
            <a:ext cx="1645920" cy="320040"/>
          </a:xfrm>
          <a:prstGeom prst="rect">
            <a:avLst/>
          </a:prstGeom>
          <a:noFill/>
          <a:ln/>
        </p:spPr>
        <p:txBody>
          <a:bodyPr wrap="square" lIns="0" tIns="0" rIns="0" bIns="0" rtlCol="0" anchor="t"/>
          <a:lstStyle/>
          <a:p>
            <a:pPr indent="0" marL="0">
              <a:buNone/>
            </a:pPr>
            <a:r>
              <a:rPr lang="en-US" sz="1300" b="1" dirty="0">
                <a:solidFill>
                  <a:srgbClr val="1F2328"/>
                </a:solidFill>
                <a:latin typeface="Calibri" pitchFamily="34" charset="0"/>
                <a:ea typeface="Calibri" pitchFamily="34" charset="-122"/>
                <a:cs typeface="Calibri" pitchFamily="34" charset="-120"/>
              </a:rPr>
              <a:t>Services</a:t>
            </a:r>
            <a:endParaRPr lang="en-US" sz="1300" dirty="0"/>
          </a:p>
        </p:txBody>
      </p:sp>
      <p:sp>
        <p:nvSpPr>
          <p:cNvPr id="18" name="Text 13"/>
          <p:cNvSpPr txBox="1"/>
          <p:nvPr/>
        </p:nvSpPr>
        <p:spPr>
          <a:xfrm>
            <a:off x="4846320" y="2130552"/>
            <a:ext cx="1645920" cy="502920"/>
          </a:xfrm>
          <a:prstGeom prst="rect">
            <a:avLst/>
          </a:prstGeom>
          <a:noFill/>
          <a:ln/>
        </p:spPr>
        <p:txBody>
          <a:bodyPr wrap="square" lIns="0" tIns="0" rIns="0" bIns="0" rtlCol="0" anchor="t"/>
          <a:lstStyle/>
          <a:p>
            <a:pPr indent="0" marL="0">
              <a:buNone/>
            </a:pPr>
            <a:r>
              <a:rPr lang="en-US" sz="1000" dirty="0">
                <a:solidFill>
                  <a:srgbClr val="5B6470"/>
                </a:solidFill>
                <a:latin typeface="Courier New" pitchFamily="34" charset="0"/>
                <a:ea typeface="Courier New" pitchFamily="34" charset="-122"/>
                <a:cs typeface="Courier New" pitchFamily="34" charset="-120"/>
              </a:rPr>
              <a:t>service · systemd · cron</a:t>
            </a:r>
            <a:endParaRPr lang="en-US" sz="1000" dirty="0"/>
          </a:p>
        </p:txBody>
      </p:sp>
      <p:sp>
        <p:nvSpPr>
          <p:cNvPr id="19" name="Shape 14"/>
          <p:cNvSpPr/>
          <p:nvPr/>
        </p:nvSpPr>
        <p:spPr>
          <a:xfrm>
            <a:off x="6766560" y="1097280"/>
            <a:ext cx="1920240" cy="1600200"/>
          </a:xfrm>
          <a:prstGeom prst="roundRect">
            <a:avLst>
              <a:gd name="adj" fmla="val 4571"/>
            </a:avLst>
          </a:prstGeom>
          <a:solidFill>
            <a:srgbClr val="F2F3F5"/>
          </a:solidFill>
          <a:ln w="12700">
            <a:solidFill>
              <a:srgbClr val="F2F3F5"/>
            </a:solidFill>
            <a:prstDash val="solid"/>
          </a:ln>
        </p:spPr>
      </p:sp>
      <p:sp>
        <p:nvSpPr>
          <p:cNvPr id="20" name="Shape 15"/>
          <p:cNvSpPr/>
          <p:nvPr/>
        </p:nvSpPr>
        <p:spPr>
          <a:xfrm>
            <a:off x="6949440" y="1280160"/>
            <a:ext cx="457200" cy="457200"/>
          </a:xfrm>
          <a:prstGeom prst="ellipse">
            <a:avLst/>
          </a:prstGeom>
          <a:solidFill>
            <a:srgbClr val="D92D27"/>
          </a:solidFill>
          <a:ln w="12700">
            <a:solidFill>
              <a:srgbClr val="D92D27"/>
            </a:solidFill>
            <a:prstDash val="solid"/>
          </a:ln>
        </p:spPr>
      </p:sp>
      <p:pic>
        <p:nvPicPr>
          <p:cNvPr id="21" name="Image 3" descr="preencoded.png">    </p:cNvPr>
          <p:cNvPicPr>
            <a:picLocks noChangeAspect="1"/>
          </p:cNvPicPr>
          <p:nvPr/>
        </p:nvPicPr>
        <p:blipFill>
          <a:blip r:embed="rId4"/>
          <a:stretch>
            <a:fillRect/>
          </a:stretch>
        </p:blipFill>
        <p:spPr>
          <a:xfrm>
            <a:off x="7068312" y="1399032"/>
            <a:ext cx="219456" cy="219456"/>
          </a:xfrm>
          <a:prstGeom prst="rect">
            <a:avLst/>
          </a:prstGeom>
        </p:spPr>
      </p:pic>
      <p:sp>
        <p:nvSpPr>
          <p:cNvPr id="22" name="Text 16"/>
          <p:cNvSpPr txBox="1"/>
          <p:nvPr/>
        </p:nvSpPr>
        <p:spPr>
          <a:xfrm>
            <a:off x="6949440" y="1828800"/>
            <a:ext cx="1645920" cy="320040"/>
          </a:xfrm>
          <a:prstGeom prst="rect">
            <a:avLst/>
          </a:prstGeom>
          <a:noFill/>
          <a:ln/>
        </p:spPr>
        <p:txBody>
          <a:bodyPr wrap="square" lIns="0" tIns="0" rIns="0" bIns="0" rtlCol="0" anchor="t"/>
          <a:lstStyle/>
          <a:p>
            <a:pPr indent="0" marL="0">
              <a:buNone/>
            </a:pPr>
            <a:r>
              <a:rPr lang="en-US" sz="1300" b="1" dirty="0">
                <a:solidFill>
                  <a:srgbClr val="1F2328"/>
                </a:solidFill>
                <a:latin typeface="Calibri" pitchFamily="34" charset="0"/>
                <a:ea typeface="Calibri" pitchFamily="34" charset="-122"/>
                <a:cs typeface="Calibri" pitchFamily="34" charset="-120"/>
              </a:rPr>
              <a:t>Users &amp; security</a:t>
            </a:r>
            <a:endParaRPr lang="en-US" sz="1300" dirty="0"/>
          </a:p>
        </p:txBody>
      </p:sp>
      <p:sp>
        <p:nvSpPr>
          <p:cNvPr id="23" name="Text 17"/>
          <p:cNvSpPr txBox="1"/>
          <p:nvPr/>
        </p:nvSpPr>
        <p:spPr>
          <a:xfrm>
            <a:off x="6949440" y="2130552"/>
            <a:ext cx="1645920" cy="502920"/>
          </a:xfrm>
          <a:prstGeom prst="rect">
            <a:avLst/>
          </a:prstGeom>
          <a:noFill/>
          <a:ln/>
        </p:spPr>
        <p:txBody>
          <a:bodyPr wrap="square" lIns="0" tIns="0" rIns="0" bIns="0" rtlCol="0" anchor="t"/>
          <a:lstStyle/>
          <a:p>
            <a:pPr indent="0" marL="0">
              <a:buNone/>
            </a:pPr>
            <a:r>
              <a:rPr lang="en-US" sz="1000" dirty="0">
                <a:solidFill>
                  <a:srgbClr val="5B6470"/>
                </a:solidFill>
                <a:latin typeface="Courier New" pitchFamily="34" charset="0"/>
                <a:ea typeface="Courier New" pitchFamily="34" charset="-122"/>
                <a:cs typeface="Courier New" pitchFamily="34" charset="-120"/>
              </a:rPr>
              <a:t>user · group · authorized_key · firewalld</a:t>
            </a:r>
            <a:endParaRPr lang="en-US" sz="1000" dirty="0"/>
          </a:p>
        </p:txBody>
      </p:sp>
      <p:sp>
        <p:nvSpPr>
          <p:cNvPr id="24" name="Shape 18"/>
          <p:cNvSpPr/>
          <p:nvPr/>
        </p:nvSpPr>
        <p:spPr>
          <a:xfrm>
            <a:off x="457200" y="2880360"/>
            <a:ext cx="1920240" cy="1600200"/>
          </a:xfrm>
          <a:prstGeom prst="roundRect">
            <a:avLst>
              <a:gd name="adj" fmla="val 4571"/>
            </a:avLst>
          </a:prstGeom>
          <a:solidFill>
            <a:srgbClr val="F2F3F5"/>
          </a:solidFill>
          <a:ln w="12700">
            <a:solidFill>
              <a:srgbClr val="F2F3F5"/>
            </a:solidFill>
            <a:prstDash val="solid"/>
          </a:ln>
        </p:spPr>
      </p:sp>
      <p:sp>
        <p:nvSpPr>
          <p:cNvPr id="25" name="Shape 19"/>
          <p:cNvSpPr/>
          <p:nvPr/>
        </p:nvSpPr>
        <p:spPr>
          <a:xfrm>
            <a:off x="640080" y="3063240"/>
            <a:ext cx="457200" cy="457200"/>
          </a:xfrm>
          <a:prstGeom prst="ellipse">
            <a:avLst/>
          </a:prstGeom>
          <a:solidFill>
            <a:srgbClr val="D92D27"/>
          </a:solidFill>
          <a:ln w="12700">
            <a:solidFill>
              <a:srgbClr val="D92D27"/>
            </a:solidFill>
            <a:prstDash val="solid"/>
          </a:ln>
        </p:spPr>
      </p:sp>
      <p:pic>
        <p:nvPicPr>
          <p:cNvPr id="26" name="Image 4" descr="preencoded.png">    </p:cNvPr>
          <p:cNvPicPr>
            <a:picLocks noChangeAspect="1"/>
          </p:cNvPicPr>
          <p:nvPr/>
        </p:nvPicPr>
        <p:blipFill>
          <a:blip r:embed="rId5"/>
          <a:stretch>
            <a:fillRect/>
          </a:stretch>
        </p:blipFill>
        <p:spPr>
          <a:xfrm>
            <a:off x="758952" y="3182112"/>
            <a:ext cx="219456" cy="219456"/>
          </a:xfrm>
          <a:prstGeom prst="rect">
            <a:avLst/>
          </a:prstGeom>
        </p:spPr>
      </p:pic>
      <p:sp>
        <p:nvSpPr>
          <p:cNvPr id="27" name="Text 20"/>
          <p:cNvSpPr txBox="1"/>
          <p:nvPr/>
        </p:nvSpPr>
        <p:spPr>
          <a:xfrm>
            <a:off x="640080" y="3611880"/>
            <a:ext cx="1645920" cy="320040"/>
          </a:xfrm>
          <a:prstGeom prst="rect">
            <a:avLst/>
          </a:prstGeom>
          <a:noFill/>
          <a:ln/>
        </p:spPr>
        <p:txBody>
          <a:bodyPr wrap="square" lIns="0" tIns="0" rIns="0" bIns="0" rtlCol="0" anchor="t"/>
          <a:lstStyle/>
          <a:p>
            <a:pPr indent="0" marL="0">
              <a:buNone/>
            </a:pPr>
            <a:r>
              <a:rPr lang="en-US" sz="1300" b="1" dirty="0">
                <a:solidFill>
                  <a:srgbClr val="1F2328"/>
                </a:solidFill>
                <a:latin typeface="Calibri" pitchFamily="34" charset="0"/>
                <a:ea typeface="Calibri" pitchFamily="34" charset="-122"/>
                <a:cs typeface="Calibri" pitchFamily="34" charset="-120"/>
              </a:rPr>
              <a:t>Commands</a:t>
            </a:r>
            <a:endParaRPr lang="en-US" sz="1300" dirty="0"/>
          </a:p>
        </p:txBody>
      </p:sp>
      <p:sp>
        <p:nvSpPr>
          <p:cNvPr id="28" name="Text 21"/>
          <p:cNvSpPr txBox="1"/>
          <p:nvPr/>
        </p:nvSpPr>
        <p:spPr>
          <a:xfrm>
            <a:off x="640080" y="3913632"/>
            <a:ext cx="1645920" cy="502920"/>
          </a:xfrm>
          <a:prstGeom prst="rect">
            <a:avLst/>
          </a:prstGeom>
          <a:noFill/>
          <a:ln/>
        </p:spPr>
        <p:txBody>
          <a:bodyPr wrap="square" lIns="0" tIns="0" rIns="0" bIns="0" rtlCol="0" anchor="t"/>
          <a:lstStyle/>
          <a:p>
            <a:pPr indent="0" marL="0">
              <a:buNone/>
            </a:pPr>
            <a:r>
              <a:rPr lang="en-US" sz="1000" dirty="0">
                <a:solidFill>
                  <a:srgbClr val="5B6470"/>
                </a:solidFill>
                <a:latin typeface="Courier New" pitchFamily="34" charset="0"/>
                <a:ea typeface="Courier New" pitchFamily="34" charset="-122"/>
                <a:cs typeface="Courier New" pitchFamily="34" charset="-120"/>
              </a:rPr>
              <a:t>command · shell · script · raw</a:t>
            </a:r>
            <a:endParaRPr lang="en-US" sz="1000" dirty="0"/>
          </a:p>
        </p:txBody>
      </p:sp>
      <p:sp>
        <p:nvSpPr>
          <p:cNvPr id="29" name="Shape 22"/>
          <p:cNvSpPr/>
          <p:nvPr/>
        </p:nvSpPr>
        <p:spPr>
          <a:xfrm>
            <a:off x="2560320" y="2880360"/>
            <a:ext cx="1920240" cy="1600200"/>
          </a:xfrm>
          <a:prstGeom prst="roundRect">
            <a:avLst>
              <a:gd name="adj" fmla="val 4571"/>
            </a:avLst>
          </a:prstGeom>
          <a:solidFill>
            <a:srgbClr val="F2F3F5"/>
          </a:solidFill>
          <a:ln w="12700">
            <a:solidFill>
              <a:srgbClr val="F2F3F5"/>
            </a:solidFill>
            <a:prstDash val="solid"/>
          </a:ln>
        </p:spPr>
      </p:sp>
      <p:sp>
        <p:nvSpPr>
          <p:cNvPr id="30" name="Shape 23"/>
          <p:cNvSpPr/>
          <p:nvPr/>
        </p:nvSpPr>
        <p:spPr>
          <a:xfrm>
            <a:off x="2743200" y="3063240"/>
            <a:ext cx="457200" cy="457200"/>
          </a:xfrm>
          <a:prstGeom prst="ellipse">
            <a:avLst/>
          </a:prstGeom>
          <a:solidFill>
            <a:srgbClr val="D92D27"/>
          </a:solidFill>
          <a:ln w="12700">
            <a:solidFill>
              <a:srgbClr val="D92D27"/>
            </a:solidFill>
            <a:prstDash val="solid"/>
          </a:ln>
        </p:spPr>
      </p:sp>
      <p:pic>
        <p:nvPicPr>
          <p:cNvPr id="31" name="Image 5" descr="preencoded.png">    </p:cNvPr>
          <p:cNvPicPr>
            <a:picLocks noChangeAspect="1"/>
          </p:cNvPicPr>
          <p:nvPr/>
        </p:nvPicPr>
        <p:blipFill>
          <a:blip r:embed="rId6"/>
          <a:stretch>
            <a:fillRect/>
          </a:stretch>
        </p:blipFill>
        <p:spPr>
          <a:xfrm>
            <a:off x="2862072" y="3182112"/>
            <a:ext cx="219456" cy="219456"/>
          </a:xfrm>
          <a:prstGeom prst="rect">
            <a:avLst/>
          </a:prstGeom>
        </p:spPr>
      </p:pic>
      <p:sp>
        <p:nvSpPr>
          <p:cNvPr id="32" name="Text 24"/>
          <p:cNvSpPr txBox="1"/>
          <p:nvPr/>
        </p:nvSpPr>
        <p:spPr>
          <a:xfrm>
            <a:off x="2743200" y="3611880"/>
            <a:ext cx="1645920" cy="320040"/>
          </a:xfrm>
          <a:prstGeom prst="rect">
            <a:avLst/>
          </a:prstGeom>
          <a:noFill/>
          <a:ln/>
        </p:spPr>
        <p:txBody>
          <a:bodyPr wrap="square" lIns="0" tIns="0" rIns="0" bIns="0" rtlCol="0" anchor="t"/>
          <a:lstStyle/>
          <a:p>
            <a:pPr indent="0" marL="0">
              <a:buNone/>
            </a:pPr>
            <a:r>
              <a:rPr lang="en-US" sz="1300" b="1" dirty="0">
                <a:solidFill>
                  <a:srgbClr val="1F2328"/>
                </a:solidFill>
                <a:latin typeface="Calibri" pitchFamily="34" charset="0"/>
                <a:ea typeface="Calibri" pitchFamily="34" charset="-122"/>
                <a:cs typeface="Calibri" pitchFamily="34" charset="-120"/>
              </a:rPr>
              <a:t>Source &amp; net</a:t>
            </a:r>
            <a:endParaRPr lang="en-US" sz="1300" dirty="0"/>
          </a:p>
        </p:txBody>
      </p:sp>
      <p:sp>
        <p:nvSpPr>
          <p:cNvPr id="33" name="Text 25"/>
          <p:cNvSpPr txBox="1"/>
          <p:nvPr/>
        </p:nvSpPr>
        <p:spPr>
          <a:xfrm>
            <a:off x="2743200" y="3913632"/>
            <a:ext cx="1645920" cy="502920"/>
          </a:xfrm>
          <a:prstGeom prst="rect">
            <a:avLst/>
          </a:prstGeom>
          <a:noFill/>
          <a:ln/>
        </p:spPr>
        <p:txBody>
          <a:bodyPr wrap="square" lIns="0" tIns="0" rIns="0" bIns="0" rtlCol="0" anchor="t"/>
          <a:lstStyle/>
          <a:p>
            <a:pPr indent="0" marL="0">
              <a:buNone/>
            </a:pPr>
            <a:r>
              <a:rPr lang="en-US" sz="1000" dirty="0">
                <a:solidFill>
                  <a:srgbClr val="5B6470"/>
                </a:solidFill>
                <a:latin typeface="Courier New" pitchFamily="34" charset="0"/>
                <a:ea typeface="Courier New" pitchFamily="34" charset="-122"/>
                <a:cs typeface="Courier New" pitchFamily="34" charset="-120"/>
              </a:rPr>
              <a:t>git · get_url · uri · unarchive</a:t>
            </a:r>
            <a:endParaRPr lang="en-US" sz="1000" dirty="0"/>
          </a:p>
        </p:txBody>
      </p:sp>
      <p:sp>
        <p:nvSpPr>
          <p:cNvPr id="34" name="Shape 26"/>
          <p:cNvSpPr/>
          <p:nvPr/>
        </p:nvSpPr>
        <p:spPr>
          <a:xfrm>
            <a:off x="4663440" y="2880360"/>
            <a:ext cx="1920240" cy="1600200"/>
          </a:xfrm>
          <a:prstGeom prst="roundRect">
            <a:avLst>
              <a:gd name="adj" fmla="val 4571"/>
            </a:avLst>
          </a:prstGeom>
          <a:solidFill>
            <a:srgbClr val="F2F3F5"/>
          </a:solidFill>
          <a:ln w="12700">
            <a:solidFill>
              <a:srgbClr val="F2F3F5"/>
            </a:solidFill>
            <a:prstDash val="solid"/>
          </a:ln>
        </p:spPr>
      </p:sp>
      <p:sp>
        <p:nvSpPr>
          <p:cNvPr id="35" name="Shape 27"/>
          <p:cNvSpPr/>
          <p:nvPr/>
        </p:nvSpPr>
        <p:spPr>
          <a:xfrm>
            <a:off x="4846320" y="3063240"/>
            <a:ext cx="457200" cy="457200"/>
          </a:xfrm>
          <a:prstGeom prst="ellipse">
            <a:avLst/>
          </a:prstGeom>
          <a:solidFill>
            <a:srgbClr val="D92D27"/>
          </a:solidFill>
          <a:ln w="12700">
            <a:solidFill>
              <a:srgbClr val="D92D27"/>
            </a:solidFill>
            <a:prstDash val="solid"/>
          </a:ln>
        </p:spPr>
      </p:sp>
      <p:pic>
        <p:nvPicPr>
          <p:cNvPr id="36" name="Image 6" descr="preencoded.png">    </p:cNvPr>
          <p:cNvPicPr>
            <a:picLocks noChangeAspect="1"/>
          </p:cNvPicPr>
          <p:nvPr/>
        </p:nvPicPr>
        <p:blipFill>
          <a:blip r:embed="rId7"/>
          <a:stretch>
            <a:fillRect/>
          </a:stretch>
        </p:blipFill>
        <p:spPr>
          <a:xfrm>
            <a:off x="4965192" y="3182112"/>
            <a:ext cx="219456" cy="219456"/>
          </a:xfrm>
          <a:prstGeom prst="rect">
            <a:avLst/>
          </a:prstGeom>
        </p:spPr>
      </p:pic>
      <p:sp>
        <p:nvSpPr>
          <p:cNvPr id="37" name="Text 28"/>
          <p:cNvSpPr txBox="1"/>
          <p:nvPr/>
        </p:nvSpPr>
        <p:spPr>
          <a:xfrm>
            <a:off x="4846320" y="3611880"/>
            <a:ext cx="1645920" cy="320040"/>
          </a:xfrm>
          <a:prstGeom prst="rect">
            <a:avLst/>
          </a:prstGeom>
          <a:noFill/>
          <a:ln/>
        </p:spPr>
        <p:txBody>
          <a:bodyPr wrap="square" lIns="0" tIns="0" rIns="0" bIns="0" rtlCol="0" anchor="t"/>
          <a:lstStyle/>
          <a:p>
            <a:pPr indent="0" marL="0">
              <a:buNone/>
            </a:pPr>
            <a:r>
              <a:rPr lang="en-US" sz="1300" b="1" dirty="0">
                <a:solidFill>
                  <a:srgbClr val="1F2328"/>
                </a:solidFill>
                <a:latin typeface="Calibri" pitchFamily="34" charset="0"/>
                <a:ea typeface="Calibri" pitchFamily="34" charset="-122"/>
                <a:cs typeface="Calibri" pitchFamily="34" charset="-120"/>
              </a:rPr>
              <a:t>Cloud</a:t>
            </a:r>
            <a:endParaRPr lang="en-US" sz="1300" dirty="0"/>
          </a:p>
        </p:txBody>
      </p:sp>
      <p:sp>
        <p:nvSpPr>
          <p:cNvPr id="38" name="Text 29"/>
          <p:cNvSpPr txBox="1"/>
          <p:nvPr/>
        </p:nvSpPr>
        <p:spPr>
          <a:xfrm>
            <a:off x="4846320" y="3913632"/>
            <a:ext cx="1645920" cy="502920"/>
          </a:xfrm>
          <a:prstGeom prst="rect">
            <a:avLst/>
          </a:prstGeom>
          <a:noFill/>
          <a:ln/>
        </p:spPr>
        <p:txBody>
          <a:bodyPr wrap="square" lIns="0" tIns="0" rIns="0" bIns="0" rtlCol="0" anchor="t"/>
          <a:lstStyle/>
          <a:p>
            <a:pPr indent="0" marL="0">
              <a:buNone/>
            </a:pPr>
            <a:r>
              <a:rPr lang="en-US" sz="1000" dirty="0">
                <a:solidFill>
                  <a:srgbClr val="5B6470"/>
                </a:solidFill>
                <a:latin typeface="Courier New" pitchFamily="34" charset="0"/>
                <a:ea typeface="Courier New" pitchFamily="34" charset="-122"/>
                <a:cs typeface="Courier New" pitchFamily="34" charset="-120"/>
              </a:rPr>
              <a:t>amazon.aws · azure.azcollection · google.cloud</a:t>
            </a:r>
            <a:endParaRPr lang="en-US" sz="1000" dirty="0"/>
          </a:p>
        </p:txBody>
      </p:sp>
      <p:sp>
        <p:nvSpPr>
          <p:cNvPr id="39" name="Shape 30"/>
          <p:cNvSpPr/>
          <p:nvPr/>
        </p:nvSpPr>
        <p:spPr>
          <a:xfrm>
            <a:off x="6766560" y="2880360"/>
            <a:ext cx="1920240" cy="1600200"/>
          </a:xfrm>
          <a:prstGeom prst="roundRect">
            <a:avLst>
              <a:gd name="adj" fmla="val 4571"/>
            </a:avLst>
          </a:prstGeom>
          <a:solidFill>
            <a:srgbClr val="F2F3F5"/>
          </a:solidFill>
          <a:ln w="12700">
            <a:solidFill>
              <a:srgbClr val="F2F3F5"/>
            </a:solidFill>
            <a:prstDash val="solid"/>
          </a:ln>
        </p:spPr>
      </p:sp>
      <p:sp>
        <p:nvSpPr>
          <p:cNvPr id="40" name="Shape 31"/>
          <p:cNvSpPr/>
          <p:nvPr/>
        </p:nvSpPr>
        <p:spPr>
          <a:xfrm>
            <a:off x="6949440" y="3063240"/>
            <a:ext cx="457200" cy="457200"/>
          </a:xfrm>
          <a:prstGeom prst="ellipse">
            <a:avLst/>
          </a:prstGeom>
          <a:solidFill>
            <a:srgbClr val="D92D27"/>
          </a:solidFill>
          <a:ln w="12700">
            <a:solidFill>
              <a:srgbClr val="D92D27"/>
            </a:solidFill>
            <a:prstDash val="solid"/>
          </a:ln>
        </p:spPr>
      </p:sp>
      <p:pic>
        <p:nvPicPr>
          <p:cNvPr id="41" name="Image 7" descr="preencoded.png">    </p:cNvPr>
          <p:cNvPicPr>
            <a:picLocks noChangeAspect="1"/>
          </p:cNvPicPr>
          <p:nvPr/>
        </p:nvPicPr>
        <p:blipFill>
          <a:blip r:embed="rId8"/>
          <a:stretch>
            <a:fillRect/>
          </a:stretch>
        </p:blipFill>
        <p:spPr>
          <a:xfrm>
            <a:off x="7068312" y="3182112"/>
            <a:ext cx="219456" cy="219456"/>
          </a:xfrm>
          <a:prstGeom prst="rect">
            <a:avLst/>
          </a:prstGeom>
        </p:spPr>
      </p:pic>
      <p:sp>
        <p:nvSpPr>
          <p:cNvPr id="42" name="Text 32"/>
          <p:cNvSpPr txBox="1"/>
          <p:nvPr/>
        </p:nvSpPr>
        <p:spPr>
          <a:xfrm>
            <a:off x="6949440" y="3611880"/>
            <a:ext cx="1645920" cy="320040"/>
          </a:xfrm>
          <a:prstGeom prst="rect">
            <a:avLst/>
          </a:prstGeom>
          <a:noFill/>
          <a:ln/>
        </p:spPr>
        <p:txBody>
          <a:bodyPr wrap="square" lIns="0" tIns="0" rIns="0" bIns="0" rtlCol="0" anchor="t"/>
          <a:lstStyle/>
          <a:p>
            <a:pPr indent="0" marL="0">
              <a:buNone/>
            </a:pPr>
            <a:r>
              <a:rPr lang="en-US" sz="1300" b="1" dirty="0">
                <a:solidFill>
                  <a:srgbClr val="1F2328"/>
                </a:solidFill>
                <a:latin typeface="Calibri" pitchFamily="34" charset="0"/>
                <a:ea typeface="Calibri" pitchFamily="34" charset="-122"/>
                <a:cs typeface="Calibri" pitchFamily="34" charset="-120"/>
              </a:rPr>
              <a:t>Windows</a:t>
            </a:r>
            <a:endParaRPr lang="en-US" sz="1300" dirty="0"/>
          </a:p>
        </p:txBody>
      </p:sp>
      <p:sp>
        <p:nvSpPr>
          <p:cNvPr id="43" name="Text 33"/>
          <p:cNvSpPr txBox="1"/>
          <p:nvPr/>
        </p:nvSpPr>
        <p:spPr>
          <a:xfrm>
            <a:off x="6949440" y="3913632"/>
            <a:ext cx="1645920" cy="502920"/>
          </a:xfrm>
          <a:prstGeom prst="rect">
            <a:avLst/>
          </a:prstGeom>
          <a:noFill/>
          <a:ln/>
        </p:spPr>
        <p:txBody>
          <a:bodyPr wrap="square" lIns="0" tIns="0" rIns="0" bIns="0" rtlCol="0" anchor="t"/>
          <a:lstStyle/>
          <a:p>
            <a:pPr indent="0" marL="0">
              <a:buNone/>
            </a:pPr>
            <a:r>
              <a:rPr lang="en-US" sz="1000" dirty="0">
                <a:solidFill>
                  <a:srgbClr val="5B6470"/>
                </a:solidFill>
                <a:latin typeface="Courier New" pitchFamily="34" charset="0"/>
                <a:ea typeface="Courier New" pitchFamily="34" charset="-122"/>
                <a:cs typeface="Courier New" pitchFamily="34" charset="-120"/>
              </a:rPr>
              <a:t>win_package · win_service · win_copy</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9AA1AA"/>
                </a:solidFill>
                <a:latin typeface="Calibri" pitchFamily="34" charset="0"/>
                <a:ea typeface="Calibri" pitchFamily="34" charset="-122"/>
                <a:cs typeface="Calibri" pitchFamily="34" charset="-120"/>
              </a:rPr>
              <a:t>37</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The 10 modules you'll use most</a:t>
            </a:r>
            <a:endParaRPr lang="en-US" sz="28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2011680"/>
                <a:gridCol w="2651760"/>
                <a:gridCol w="3566160"/>
              </a:tblGrid>
              <a:tr h="3383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Module</a:t>
                      </a:r>
                      <a:endParaRPr lang="en-US" sz="120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D92D2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does</a:t>
                      </a:r>
                      <a:endParaRPr lang="en-US" sz="120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D92D2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Example arguments</a:t>
                      </a:r>
                      <a:endParaRPr lang="en-US" sz="120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D92D27"/>
                    </a:solidFill>
                  </a:tcPr>
                </a:tc>
              </a:tr>
              <a:tr h="338328">
                <a:tc>
                  <a:txBody>
                    <a:bodyPr/>
                    <a:lstStyle/>
                    <a:p>
                      <a:pPr indent="0" marL="0">
                        <a:buNone/>
                      </a:pPr>
                      <a:r>
                        <a:rPr lang="en-US" sz="1050" b="1" dirty="0">
                          <a:solidFill>
                            <a:srgbClr val="1F2328"/>
                          </a:solidFill>
                          <a:latin typeface="Courier New" pitchFamily="34" charset="0"/>
                          <a:ea typeface="Courier New" pitchFamily="34" charset="-122"/>
                          <a:cs typeface="Courier New" pitchFamily="34" charset="-120"/>
                        </a:rPr>
                        <a:t>ping</a:t>
                      </a:r>
                      <a:endParaRPr lang="en-US" sz="1050" dirty="0">
                        <a:latin typeface="Courier New" charset="0"/>
                        <a:ea typeface="Courier New" charset="0"/>
                        <a:cs typeface="Courier New"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2F3F5"/>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Test connection + Python</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rgbClr val="1F2328"/>
                          </a:solidFill>
                          <a:latin typeface="Courier New" pitchFamily="34" charset="0"/>
                          <a:ea typeface="Courier New" pitchFamily="34" charset="-122"/>
                          <a:cs typeface="Courier New" pitchFamily="34" charset="-120"/>
                        </a:rPr>
                        <a:t>ansible all -m ping</a:t>
                      </a:r>
                      <a:endParaRPr lang="en-US" sz="1050" dirty="0">
                        <a:latin typeface="Courier New" charset="0"/>
                        <a:ea typeface="Courier New" charset="0"/>
                        <a:cs typeface="Courier New"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r>
              <a:tr h="338328">
                <a:tc>
                  <a:txBody>
                    <a:bodyPr/>
                    <a:lstStyle/>
                    <a:p>
                      <a:pPr indent="0" marL="0">
                        <a:buNone/>
                      </a:pPr>
                      <a:r>
                        <a:rPr lang="en-US" sz="1050" b="1" dirty="0">
                          <a:solidFill>
                            <a:srgbClr val="1F2328"/>
                          </a:solidFill>
                          <a:latin typeface="Courier New" pitchFamily="34" charset="0"/>
                          <a:ea typeface="Courier New" pitchFamily="34" charset="-122"/>
                          <a:cs typeface="Courier New" pitchFamily="34" charset="-120"/>
                        </a:rPr>
                        <a:t>apt / dnf / package</a:t>
                      </a:r>
                      <a:endParaRPr lang="en-US" sz="1050" dirty="0">
                        <a:latin typeface="Courier New" charset="0"/>
                        <a:ea typeface="Courier New" charset="0"/>
                        <a:cs typeface="Courier New"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2F3F5"/>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Install / remove packages</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rgbClr val="1F2328"/>
                          </a:solidFill>
                          <a:latin typeface="Courier New" pitchFamily="34" charset="0"/>
                          <a:ea typeface="Courier New" pitchFamily="34" charset="-122"/>
                          <a:cs typeface="Courier New" pitchFamily="34" charset="-120"/>
                        </a:rPr>
                        <a:t>name=nginx state=present</a:t>
                      </a:r>
                      <a:endParaRPr lang="en-US" sz="1050" dirty="0">
                        <a:latin typeface="Courier New" charset="0"/>
                        <a:ea typeface="Courier New" charset="0"/>
                        <a:cs typeface="Courier New"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r>
              <a:tr h="338328">
                <a:tc>
                  <a:txBody>
                    <a:bodyPr/>
                    <a:lstStyle/>
                    <a:p>
                      <a:pPr indent="0" marL="0">
                        <a:buNone/>
                      </a:pPr>
                      <a:r>
                        <a:rPr lang="en-US" sz="1050" b="1" dirty="0">
                          <a:solidFill>
                            <a:srgbClr val="1F2328"/>
                          </a:solidFill>
                          <a:latin typeface="Courier New" pitchFamily="34" charset="0"/>
                          <a:ea typeface="Courier New" pitchFamily="34" charset="-122"/>
                          <a:cs typeface="Courier New" pitchFamily="34" charset="-120"/>
                        </a:rPr>
                        <a:t>copy</a:t>
                      </a:r>
                      <a:endParaRPr lang="en-US" sz="1050" dirty="0">
                        <a:latin typeface="Courier New" charset="0"/>
                        <a:ea typeface="Courier New" charset="0"/>
                        <a:cs typeface="Courier New"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2F3F5"/>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Copy a file or write content</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rgbClr val="1F2328"/>
                          </a:solidFill>
                          <a:latin typeface="Courier New" pitchFamily="34" charset="0"/>
                          <a:ea typeface="Courier New" pitchFamily="34" charset="-122"/>
                          <a:cs typeface="Courier New" pitchFamily="34" charset="-120"/>
                        </a:rPr>
                        <a:t>src=app.conf dest=/etc/app.conf</a:t>
                      </a:r>
                      <a:endParaRPr lang="en-US" sz="1050" dirty="0">
                        <a:latin typeface="Courier New" charset="0"/>
                        <a:ea typeface="Courier New" charset="0"/>
                        <a:cs typeface="Courier New"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r>
              <a:tr h="338328">
                <a:tc>
                  <a:txBody>
                    <a:bodyPr/>
                    <a:lstStyle/>
                    <a:p>
                      <a:pPr indent="0" marL="0">
                        <a:buNone/>
                      </a:pPr>
                      <a:r>
                        <a:rPr lang="en-US" sz="1050" b="1" dirty="0">
                          <a:solidFill>
                            <a:srgbClr val="1F2328"/>
                          </a:solidFill>
                          <a:latin typeface="Courier New" pitchFamily="34" charset="0"/>
                          <a:ea typeface="Courier New" pitchFamily="34" charset="-122"/>
                          <a:cs typeface="Courier New" pitchFamily="34" charset="-120"/>
                        </a:rPr>
                        <a:t>template</a:t>
                      </a:r>
                      <a:endParaRPr lang="en-US" sz="1050" dirty="0">
                        <a:latin typeface="Courier New" charset="0"/>
                        <a:ea typeface="Courier New" charset="0"/>
                        <a:cs typeface="Courier New"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2F3F5"/>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Render a Jinja2 template</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rgbClr val="1F2328"/>
                          </a:solidFill>
                          <a:latin typeface="Courier New" pitchFamily="34" charset="0"/>
                          <a:ea typeface="Courier New" pitchFamily="34" charset="-122"/>
                          <a:cs typeface="Courier New" pitchFamily="34" charset="-120"/>
                        </a:rPr>
                        <a:t>src=index.html.j2 dest=/var/www/…</a:t>
                      </a:r>
                      <a:endParaRPr lang="en-US" sz="1050" dirty="0">
                        <a:latin typeface="Courier New" charset="0"/>
                        <a:ea typeface="Courier New" charset="0"/>
                        <a:cs typeface="Courier New"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r>
              <a:tr h="338328">
                <a:tc>
                  <a:txBody>
                    <a:bodyPr/>
                    <a:lstStyle/>
                    <a:p>
                      <a:pPr indent="0" marL="0">
                        <a:buNone/>
                      </a:pPr>
                      <a:r>
                        <a:rPr lang="en-US" sz="1050" b="1" dirty="0">
                          <a:solidFill>
                            <a:srgbClr val="1F2328"/>
                          </a:solidFill>
                          <a:latin typeface="Courier New" pitchFamily="34" charset="0"/>
                          <a:ea typeface="Courier New" pitchFamily="34" charset="-122"/>
                          <a:cs typeface="Courier New" pitchFamily="34" charset="-120"/>
                        </a:rPr>
                        <a:t>file</a:t>
                      </a:r>
                      <a:endParaRPr lang="en-US" sz="1050" dirty="0">
                        <a:latin typeface="Courier New" charset="0"/>
                        <a:ea typeface="Courier New" charset="0"/>
                        <a:cs typeface="Courier New"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2F3F5"/>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Create dirs, links; set perms</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rgbClr val="1F2328"/>
                          </a:solidFill>
                          <a:latin typeface="Courier New" pitchFamily="34" charset="0"/>
                          <a:ea typeface="Courier New" pitchFamily="34" charset="-122"/>
                          <a:cs typeface="Courier New" pitchFamily="34" charset="-120"/>
                        </a:rPr>
                        <a:t>path=/opt/app state=directory</a:t>
                      </a:r>
                      <a:endParaRPr lang="en-US" sz="1050" dirty="0">
                        <a:latin typeface="Courier New" charset="0"/>
                        <a:ea typeface="Courier New" charset="0"/>
                        <a:cs typeface="Courier New"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r>
              <a:tr h="338328">
                <a:tc>
                  <a:txBody>
                    <a:bodyPr/>
                    <a:lstStyle/>
                    <a:p>
                      <a:pPr indent="0" marL="0">
                        <a:buNone/>
                      </a:pPr>
                      <a:r>
                        <a:rPr lang="en-US" sz="1050" b="1" dirty="0">
                          <a:solidFill>
                            <a:srgbClr val="1F2328"/>
                          </a:solidFill>
                          <a:latin typeface="Courier New" pitchFamily="34" charset="0"/>
                          <a:ea typeface="Courier New" pitchFamily="34" charset="-122"/>
                          <a:cs typeface="Courier New" pitchFamily="34" charset="-120"/>
                        </a:rPr>
                        <a:t>lineinfile</a:t>
                      </a:r>
                      <a:endParaRPr lang="en-US" sz="1050" dirty="0">
                        <a:latin typeface="Courier New" charset="0"/>
                        <a:ea typeface="Courier New" charset="0"/>
                        <a:cs typeface="Courier New"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2F3F5"/>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Ensure one line in a file</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rgbClr val="1F2328"/>
                          </a:solidFill>
                          <a:latin typeface="Courier New" pitchFamily="34" charset="0"/>
                          <a:ea typeface="Courier New" pitchFamily="34" charset="-122"/>
                          <a:cs typeface="Courier New" pitchFamily="34" charset="-120"/>
                        </a:rPr>
                        <a:t>path=/etc/hosts line='…'</a:t>
                      </a:r>
                      <a:endParaRPr lang="en-US" sz="1050" dirty="0">
                        <a:latin typeface="Courier New" charset="0"/>
                        <a:ea typeface="Courier New" charset="0"/>
                        <a:cs typeface="Courier New"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r>
              <a:tr h="338328">
                <a:tc>
                  <a:txBody>
                    <a:bodyPr/>
                    <a:lstStyle/>
                    <a:p>
                      <a:pPr indent="0" marL="0">
                        <a:buNone/>
                      </a:pPr>
                      <a:r>
                        <a:rPr lang="en-US" sz="1050" b="1" dirty="0">
                          <a:solidFill>
                            <a:srgbClr val="1F2328"/>
                          </a:solidFill>
                          <a:latin typeface="Courier New" pitchFamily="34" charset="0"/>
                          <a:ea typeface="Courier New" pitchFamily="34" charset="-122"/>
                          <a:cs typeface="Courier New" pitchFamily="34" charset="-120"/>
                        </a:rPr>
                        <a:t>service / systemd</a:t>
                      </a:r>
                      <a:endParaRPr lang="en-US" sz="1050" dirty="0">
                        <a:latin typeface="Courier New" charset="0"/>
                        <a:ea typeface="Courier New" charset="0"/>
                        <a:cs typeface="Courier New"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2F3F5"/>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Start, stop, enable services</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rgbClr val="1F2328"/>
                          </a:solidFill>
                          <a:latin typeface="Courier New" pitchFamily="34" charset="0"/>
                          <a:ea typeface="Courier New" pitchFamily="34" charset="-122"/>
                          <a:cs typeface="Courier New" pitchFamily="34" charset="-120"/>
                        </a:rPr>
                        <a:t>name=nginx state=started</a:t>
                      </a:r>
                      <a:endParaRPr lang="en-US" sz="1050" dirty="0">
                        <a:latin typeface="Courier New" charset="0"/>
                        <a:ea typeface="Courier New" charset="0"/>
                        <a:cs typeface="Courier New"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r>
              <a:tr h="338328">
                <a:tc>
                  <a:txBody>
                    <a:bodyPr/>
                    <a:lstStyle/>
                    <a:p>
                      <a:pPr indent="0" marL="0">
                        <a:buNone/>
                      </a:pPr>
                      <a:r>
                        <a:rPr lang="en-US" sz="1050" b="1" dirty="0">
                          <a:solidFill>
                            <a:srgbClr val="1F2328"/>
                          </a:solidFill>
                          <a:latin typeface="Courier New" pitchFamily="34" charset="0"/>
                          <a:ea typeface="Courier New" pitchFamily="34" charset="-122"/>
                          <a:cs typeface="Courier New" pitchFamily="34" charset="-120"/>
                        </a:rPr>
                        <a:t>user / group</a:t>
                      </a:r>
                      <a:endParaRPr lang="en-US" sz="1050" dirty="0">
                        <a:latin typeface="Courier New" charset="0"/>
                        <a:ea typeface="Courier New" charset="0"/>
                        <a:cs typeface="Courier New"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2F3F5"/>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Manage accounts</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rgbClr val="1F2328"/>
                          </a:solidFill>
                          <a:latin typeface="Courier New" pitchFamily="34" charset="0"/>
                          <a:ea typeface="Courier New" pitchFamily="34" charset="-122"/>
                          <a:cs typeface="Courier New" pitchFamily="34" charset="-120"/>
                        </a:rPr>
                        <a:t>name=alice groups=trainees</a:t>
                      </a:r>
                      <a:endParaRPr lang="en-US" sz="1050" dirty="0">
                        <a:latin typeface="Courier New" charset="0"/>
                        <a:ea typeface="Courier New" charset="0"/>
                        <a:cs typeface="Courier New"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r>
              <a:tr h="338328">
                <a:tc>
                  <a:txBody>
                    <a:bodyPr/>
                    <a:lstStyle/>
                    <a:p>
                      <a:pPr indent="0" marL="0">
                        <a:buNone/>
                      </a:pPr>
                      <a:r>
                        <a:rPr lang="en-US" sz="1050" b="1" dirty="0">
                          <a:solidFill>
                            <a:srgbClr val="1F2328"/>
                          </a:solidFill>
                          <a:latin typeface="Courier New" pitchFamily="34" charset="0"/>
                          <a:ea typeface="Courier New" pitchFamily="34" charset="-122"/>
                          <a:cs typeface="Courier New" pitchFamily="34" charset="-120"/>
                        </a:rPr>
                        <a:t>command / shell</a:t>
                      </a:r>
                      <a:endParaRPr lang="en-US" sz="1050" dirty="0">
                        <a:latin typeface="Courier New" charset="0"/>
                        <a:ea typeface="Courier New" charset="0"/>
                        <a:cs typeface="Courier New"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2F3F5"/>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Run commands (last resort)</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rgbClr val="1F2328"/>
                          </a:solidFill>
                          <a:latin typeface="Courier New" pitchFamily="34" charset="0"/>
                          <a:ea typeface="Courier New" pitchFamily="34" charset="-122"/>
                          <a:cs typeface="Courier New" pitchFamily="34" charset="-120"/>
                        </a:rPr>
                        <a:t>cmd: uptime</a:t>
                      </a:r>
                      <a:endParaRPr lang="en-US" sz="1050" dirty="0">
                        <a:latin typeface="Courier New" charset="0"/>
                        <a:ea typeface="Courier New" charset="0"/>
                        <a:cs typeface="Courier New"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r>
              <a:tr h="338328">
                <a:tc>
                  <a:txBody>
                    <a:bodyPr/>
                    <a:lstStyle/>
                    <a:p>
                      <a:pPr indent="0" marL="0">
                        <a:buNone/>
                      </a:pPr>
                      <a:r>
                        <a:rPr lang="en-US" sz="1050" b="1" dirty="0">
                          <a:solidFill>
                            <a:srgbClr val="1F2328"/>
                          </a:solidFill>
                          <a:latin typeface="Courier New" pitchFamily="34" charset="0"/>
                          <a:ea typeface="Courier New" pitchFamily="34" charset="-122"/>
                          <a:cs typeface="Courier New" pitchFamily="34" charset="-120"/>
                        </a:rPr>
                        <a:t>debug</a:t>
                      </a:r>
                      <a:endParaRPr lang="en-US" sz="1050" dirty="0">
                        <a:latin typeface="Courier New" charset="0"/>
                        <a:ea typeface="Courier New" charset="0"/>
                        <a:cs typeface="Courier New"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2F3F5"/>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Print messages/variables</a:t>
                      </a:r>
                      <a:endParaRPr lang="en-US" sz="1150" dirty="0">
                        <a:latin typeface="Calibri" charset="0"/>
                        <a:ea typeface="Calibri" charset="0"/>
                        <a:cs typeface="Calibri"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rgbClr val="1F2328"/>
                          </a:solidFill>
                          <a:latin typeface="Courier New" pitchFamily="34" charset="0"/>
                          <a:ea typeface="Courier New" pitchFamily="34" charset="-122"/>
                          <a:cs typeface="Courier New" pitchFamily="34" charset="-120"/>
                        </a:rPr>
                        <a:t>var: result.stdout</a:t>
                      </a:r>
                      <a:endParaRPr lang="en-US" sz="1050" dirty="0">
                        <a:latin typeface="Courier New" charset="0"/>
                        <a:ea typeface="Courier New" charset="0"/>
                        <a:cs typeface="Courier New" charset="0"/>
                      </a:endParaRPr>
                    </a:p>
                  </a:txBody>
                  <a:tcPr marL="76200" marR="76200" marT="25400" marB="2540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9AA1AA"/>
                </a:solidFill>
                <a:latin typeface="Calibri" pitchFamily="34" charset="0"/>
                <a:ea typeface="Calibri" pitchFamily="34" charset="-122"/>
                <a:cs typeface="Calibri" pitchFamily="34" charset="-120"/>
              </a:rPr>
              <a:t>38</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Finding and reading module docs</a:t>
            </a:r>
            <a:endParaRPr lang="en-US" sz="28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B6470"/>
                </a:solidFill>
                <a:latin typeface="Calibri" pitchFamily="34" charset="0"/>
                <a:ea typeface="Calibri" pitchFamily="34" charset="-122"/>
                <a:cs typeface="Calibri" pitchFamily="34" charset="-120"/>
              </a:rPr>
              <a:t>You don't memorise modules — you look them up</a:t>
            </a:r>
            <a:endParaRPr lang="en-US" sz="1300" dirty="0"/>
          </a:p>
        </p:txBody>
      </p:sp>
      <p:sp>
        <p:nvSpPr>
          <p:cNvPr id="5" name="Shape 3"/>
          <p:cNvSpPr/>
          <p:nvPr/>
        </p:nvSpPr>
        <p:spPr>
          <a:xfrm>
            <a:off x="457200" y="1188720"/>
            <a:ext cx="8229600" cy="1417320"/>
          </a:xfrm>
          <a:prstGeom prst="roundRect">
            <a:avLst>
              <a:gd name="adj" fmla="val 3871"/>
            </a:avLst>
          </a:prstGeom>
          <a:solidFill>
            <a:srgbClr val="1E2229"/>
          </a:solidFill>
          <a:ln w="12700">
            <a:solidFill>
              <a:srgbClr val="1E2229"/>
            </a:solidFill>
            <a:prstDash val="solid"/>
          </a:ln>
        </p:spPr>
      </p:sp>
      <p:sp>
        <p:nvSpPr>
          <p:cNvPr id="6" name="Text 4"/>
          <p:cNvSpPr txBox="1"/>
          <p:nvPr/>
        </p:nvSpPr>
        <p:spPr>
          <a:xfrm>
            <a:off x="594360" y="1298448"/>
            <a:ext cx="7955280" cy="1197864"/>
          </a:xfrm>
          <a:prstGeom prst="rect">
            <a:avLst/>
          </a:prstGeom>
          <a:noFill/>
          <a:ln/>
        </p:spPr>
        <p:txBody>
          <a:bodyPr wrap="square" lIns="0" tIns="0" rIns="0" bIns="0" rtlCol="0" anchor="t"/>
          <a:lstStyle/>
          <a:p>
            <a:pPr indent="0" marL="0">
              <a:lnSpc>
                <a:spcPct val="100000"/>
              </a:lnSpc>
              <a:buNone/>
            </a:pPr>
            <a:r>
              <a:rPr lang="en-US" sz="1050" dirty="0">
                <a:solidFill>
                  <a:srgbClr val="6EE7A8"/>
                </a:solidFill>
                <a:latin typeface="Courier New" pitchFamily="34" charset="0"/>
                <a:ea typeface="Courier New" pitchFamily="34" charset="-122"/>
                <a:cs typeface="Courier New" pitchFamily="34" charset="-120"/>
              </a:rPr>
              <a:t>$ </a:t>
            </a:r>
            <a:pPr indent="0" marL="0">
              <a:lnSpc>
                <a:spcPct val="100000"/>
              </a:lnSpc>
              <a:buNone/>
            </a:pPr>
            <a:r>
              <a:rPr lang="en-US" sz="1050" dirty="0">
                <a:solidFill>
                  <a:srgbClr val="E6E8EB"/>
                </a:solidFill>
                <a:latin typeface="Courier New" pitchFamily="34" charset="0"/>
                <a:ea typeface="Courier New" pitchFamily="34" charset="-122"/>
                <a:cs typeface="Courier New" pitchFamily="34" charset="-120"/>
              </a:rPr>
              <a:t>ansible-doc -l | grep -i apt          </a:t>
            </a:r>
            <a:pPr indent="0" marL="0">
              <a:lnSpc>
                <a:spcPct val="100000"/>
              </a:lnSpc>
              <a:buNone/>
            </a:pPr>
            <a:r>
              <a:rPr lang="en-US" sz="1050" dirty="0">
                <a:solidFill>
                  <a:srgbClr val="8B949E"/>
                </a:solidFill>
                <a:latin typeface="Courier New" pitchFamily="34" charset="0"/>
                <a:ea typeface="Courier New" pitchFamily="34" charset="-122"/>
                <a:cs typeface="Courier New" pitchFamily="34" charset="-120"/>
              </a:rPr>
              <a:t># list &amp; search modules</a:t>
            </a:r>
            <a:endParaRPr lang="en-US" sz="1050" dirty="0"/>
          </a:p>
          <a:p>
            <a:pPr indent="0" marL="0">
              <a:lnSpc>
                <a:spcPct val="100000"/>
              </a:lnSpc>
              <a:buNone/>
            </a:pPr>
            <a:r>
              <a:rPr lang="en-US" sz="1050" dirty="0">
                <a:solidFill>
                  <a:srgbClr val="6EE7A8"/>
                </a:solidFill>
                <a:latin typeface="Courier New" pitchFamily="34" charset="0"/>
                <a:ea typeface="Courier New" pitchFamily="34" charset="-122"/>
                <a:cs typeface="Courier New" pitchFamily="34" charset="-120"/>
              </a:rPr>
              <a:t>$ </a:t>
            </a:r>
            <a:pPr indent="0" marL="0">
              <a:lnSpc>
                <a:spcPct val="100000"/>
              </a:lnSpc>
              <a:buNone/>
            </a:pPr>
            <a:r>
              <a:rPr lang="en-US" sz="1050" dirty="0">
                <a:solidFill>
                  <a:srgbClr val="E6E8EB"/>
                </a:solidFill>
                <a:latin typeface="Courier New" pitchFamily="34" charset="0"/>
                <a:ea typeface="Courier New" pitchFamily="34" charset="-122"/>
                <a:cs typeface="Courier New" pitchFamily="34" charset="-120"/>
              </a:rPr>
              <a:t>ansible-doc ansible.builtin.copy      </a:t>
            </a:r>
            <a:pPr indent="0" marL="0">
              <a:lnSpc>
                <a:spcPct val="100000"/>
              </a:lnSpc>
              <a:buNone/>
            </a:pPr>
            <a:r>
              <a:rPr lang="en-US" sz="1050" dirty="0">
                <a:solidFill>
                  <a:srgbClr val="8B949E"/>
                </a:solidFill>
                <a:latin typeface="Courier New" pitchFamily="34" charset="0"/>
                <a:ea typeface="Courier New" pitchFamily="34" charset="-122"/>
                <a:cs typeface="Courier New" pitchFamily="34" charset="-120"/>
              </a:rPr>
              <a:t># full documentation</a:t>
            </a:r>
            <a:endParaRPr lang="en-US" sz="1050" dirty="0"/>
          </a:p>
          <a:p>
            <a:pPr indent="0" marL="0">
              <a:lnSpc>
                <a:spcPct val="100000"/>
              </a:lnSpc>
              <a:buNone/>
            </a:pPr>
            <a:r>
              <a:rPr lang="en-US" sz="1050" dirty="0">
                <a:solidFill>
                  <a:srgbClr val="6EE7A8"/>
                </a:solidFill>
                <a:latin typeface="Courier New" pitchFamily="34" charset="0"/>
                <a:ea typeface="Courier New" pitchFamily="34" charset="-122"/>
                <a:cs typeface="Courier New" pitchFamily="34" charset="-120"/>
              </a:rPr>
              <a:t>$ </a:t>
            </a:r>
            <a:pPr indent="0" marL="0">
              <a:lnSpc>
                <a:spcPct val="100000"/>
              </a:lnSpc>
              <a:buNone/>
            </a:pPr>
            <a:r>
              <a:rPr lang="en-US" sz="1050" dirty="0">
                <a:solidFill>
                  <a:srgbClr val="E6E8EB"/>
                </a:solidFill>
                <a:latin typeface="Courier New" pitchFamily="34" charset="0"/>
                <a:ea typeface="Courier New" pitchFamily="34" charset="-122"/>
                <a:cs typeface="Courier New" pitchFamily="34" charset="-120"/>
              </a:rPr>
              <a:t>ansible-doc -s ansible.builtin.user   </a:t>
            </a:r>
            <a:pPr indent="0" marL="0">
              <a:lnSpc>
                <a:spcPct val="100000"/>
              </a:lnSpc>
              <a:buNone/>
            </a:pPr>
            <a:r>
              <a:rPr lang="en-US" sz="1050" dirty="0">
                <a:solidFill>
                  <a:srgbClr val="8B949E"/>
                </a:solidFill>
                <a:latin typeface="Courier New" pitchFamily="34" charset="0"/>
                <a:ea typeface="Courier New" pitchFamily="34" charset="-122"/>
                <a:cs typeface="Courier New" pitchFamily="34" charset="-120"/>
              </a:rPr>
              <a:t># short snippet to paste</a:t>
            </a:r>
            <a:endParaRPr lang="en-US" sz="1050" dirty="0"/>
          </a:p>
          <a:p>
            <a:pPr indent="0" marL="0">
              <a:lnSpc>
                <a:spcPct val="100000"/>
              </a:lnSpc>
              <a:buNone/>
            </a:pPr>
            <a:r>
              <a:rPr lang="en-US" sz="1050" dirty="0">
                <a:solidFill>
                  <a:srgbClr val="6EE7A8"/>
                </a:solidFill>
                <a:latin typeface="Courier New" pitchFamily="34" charset="0"/>
                <a:ea typeface="Courier New" pitchFamily="34" charset="-122"/>
                <a:cs typeface="Courier New" pitchFamily="34" charset="-120"/>
              </a:rPr>
              <a:t>$ </a:t>
            </a:r>
            <a:pPr indent="0" marL="0">
              <a:lnSpc>
                <a:spcPct val="100000"/>
              </a:lnSpc>
              <a:buNone/>
            </a:pPr>
            <a:r>
              <a:rPr lang="en-US" sz="1050" dirty="0">
                <a:solidFill>
                  <a:srgbClr val="E6E8EB"/>
                </a:solidFill>
                <a:latin typeface="Courier New" pitchFamily="34" charset="0"/>
                <a:ea typeface="Courier New" pitchFamily="34" charset="-122"/>
                <a:cs typeface="Courier New" pitchFamily="34" charset="-120"/>
              </a:rPr>
              <a:t>ansible-galaxy collection list        </a:t>
            </a:r>
            <a:pPr indent="0" marL="0">
              <a:lnSpc>
                <a:spcPct val="100000"/>
              </a:lnSpc>
              <a:buNone/>
            </a:pPr>
            <a:r>
              <a:rPr lang="en-US" sz="1050" dirty="0">
                <a:solidFill>
                  <a:srgbClr val="8B949E"/>
                </a:solidFill>
                <a:latin typeface="Courier New" pitchFamily="34" charset="0"/>
                <a:ea typeface="Courier New" pitchFamily="34" charset="-122"/>
                <a:cs typeface="Courier New" pitchFamily="34" charset="-120"/>
              </a:rPr>
              <a:t># installed collections</a:t>
            </a:r>
            <a:endParaRPr lang="en-US" sz="1050" dirty="0"/>
          </a:p>
          <a:p>
            <a:pPr indent="0" marL="0">
              <a:lnSpc>
                <a:spcPct val="100000"/>
              </a:lnSpc>
              <a:buNone/>
            </a:pPr>
            <a:r>
              <a:rPr lang="en-US" sz="1050" dirty="0">
                <a:solidFill>
                  <a:srgbClr val="6EE7A8"/>
                </a:solidFill>
                <a:latin typeface="Courier New" pitchFamily="34" charset="0"/>
                <a:ea typeface="Courier New" pitchFamily="34" charset="-122"/>
                <a:cs typeface="Courier New" pitchFamily="34" charset="-120"/>
              </a:rPr>
              <a:t>$ </a:t>
            </a:r>
            <a:pPr indent="0" marL="0">
              <a:lnSpc>
                <a:spcPct val="100000"/>
              </a:lnSpc>
              <a:buNone/>
            </a:pPr>
            <a:r>
              <a:rPr lang="en-US" sz="1050" dirty="0">
                <a:solidFill>
                  <a:srgbClr val="E6E8EB"/>
                </a:solidFill>
                <a:latin typeface="Courier New" pitchFamily="34" charset="0"/>
                <a:ea typeface="Courier New" pitchFamily="34" charset="-122"/>
                <a:cs typeface="Courier New" pitchFamily="34" charset="-120"/>
              </a:rPr>
              <a:t>ansible-galaxy collection install community.general</a:t>
            </a:r>
            <a:endParaRPr lang="en-US" sz="1050" dirty="0"/>
          </a:p>
        </p:txBody>
      </p:sp>
      <p:sp>
        <p:nvSpPr>
          <p:cNvPr id="7" name="Text 5"/>
          <p:cNvSpPr txBox="1"/>
          <p:nvPr/>
        </p:nvSpPr>
        <p:spPr>
          <a:xfrm>
            <a:off x="457200" y="2788920"/>
            <a:ext cx="4572000" cy="320040"/>
          </a:xfrm>
          <a:prstGeom prst="rect">
            <a:avLst/>
          </a:prstGeom>
          <a:noFill/>
          <a:ln/>
        </p:spPr>
        <p:txBody>
          <a:bodyPr wrap="square" lIns="0" tIns="0" rIns="0" bIns="0" rtlCol="0" anchor="t"/>
          <a:lstStyle/>
          <a:p>
            <a:pPr indent="0" marL="0">
              <a:buNone/>
            </a:pPr>
            <a:r>
              <a:rPr lang="en-US" sz="1500" b="1" dirty="0">
                <a:solidFill>
                  <a:srgbClr val="1F2328"/>
                </a:solidFill>
                <a:latin typeface="Calibri" pitchFamily="34" charset="0"/>
                <a:ea typeface="Calibri" pitchFamily="34" charset="-122"/>
                <a:cs typeface="Calibri" pitchFamily="34" charset="-120"/>
              </a:rPr>
              <a:t>FQCN — Fully Qualified Collection Name</a:t>
            </a:r>
            <a:endParaRPr lang="en-US" sz="1500" dirty="0"/>
          </a:p>
        </p:txBody>
      </p:sp>
      <p:sp>
        <p:nvSpPr>
          <p:cNvPr id="8" name="Shape 6"/>
          <p:cNvSpPr/>
          <p:nvPr/>
        </p:nvSpPr>
        <p:spPr>
          <a:xfrm>
            <a:off x="457200" y="3200400"/>
            <a:ext cx="1234440" cy="502920"/>
          </a:xfrm>
          <a:prstGeom prst="roundRect">
            <a:avLst>
              <a:gd name="adj" fmla="val 10909"/>
            </a:avLst>
          </a:prstGeom>
          <a:solidFill>
            <a:srgbClr val="D92D27"/>
          </a:solidFill>
          <a:ln w="12700">
            <a:solidFill>
              <a:srgbClr val="D92D27"/>
            </a:solidFill>
            <a:prstDash val="solid"/>
          </a:ln>
        </p:spPr>
      </p:sp>
      <p:sp>
        <p:nvSpPr>
          <p:cNvPr id="9" name="Text 7"/>
          <p:cNvSpPr txBox="1"/>
          <p:nvPr/>
        </p:nvSpPr>
        <p:spPr>
          <a:xfrm>
            <a:off x="457200" y="3200400"/>
            <a:ext cx="12344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ansible</a:t>
            </a:r>
            <a:endParaRPr lang="en-US" sz="1400" dirty="0"/>
          </a:p>
        </p:txBody>
      </p:sp>
      <p:sp>
        <p:nvSpPr>
          <p:cNvPr id="10" name="Text 8"/>
          <p:cNvSpPr txBox="1"/>
          <p:nvPr/>
        </p:nvSpPr>
        <p:spPr>
          <a:xfrm>
            <a:off x="457200" y="3749040"/>
            <a:ext cx="1234440" cy="274320"/>
          </a:xfrm>
          <a:prstGeom prst="rect">
            <a:avLst/>
          </a:prstGeom>
          <a:noFill/>
          <a:ln/>
        </p:spPr>
        <p:txBody>
          <a:bodyPr wrap="square" lIns="0" tIns="0" rIns="0" bIns="0" rtlCol="0" anchor="t"/>
          <a:lstStyle/>
          <a:p>
            <a:pPr algn="ctr" indent="0" marL="0">
              <a:buNone/>
            </a:pPr>
            <a:r>
              <a:rPr lang="en-US" sz="1100" dirty="0">
                <a:solidFill>
                  <a:srgbClr val="5B6470"/>
                </a:solidFill>
                <a:latin typeface="Calibri" pitchFamily="34" charset="0"/>
                <a:ea typeface="Calibri" pitchFamily="34" charset="-122"/>
                <a:cs typeface="Calibri" pitchFamily="34" charset="-120"/>
              </a:rPr>
              <a:t>namespace</a:t>
            </a:r>
            <a:endParaRPr lang="en-US" sz="1100" dirty="0"/>
          </a:p>
        </p:txBody>
      </p:sp>
      <p:sp>
        <p:nvSpPr>
          <p:cNvPr id="11" name="Text 9"/>
          <p:cNvSpPr txBox="1"/>
          <p:nvPr/>
        </p:nvSpPr>
        <p:spPr>
          <a:xfrm>
            <a:off x="1691640" y="3154680"/>
            <a:ext cx="228600" cy="502920"/>
          </a:xfrm>
          <a:prstGeom prst="rect">
            <a:avLst/>
          </a:prstGeom>
          <a:noFill/>
          <a:ln/>
        </p:spPr>
        <p:txBody>
          <a:bodyPr wrap="square" lIns="0" tIns="0" rIns="0" bIns="0" rtlCol="0" anchor="ctr"/>
          <a:lstStyle/>
          <a:p>
            <a:pPr algn="ctr" indent="0" marL="0">
              <a:buNone/>
            </a:pPr>
            <a:r>
              <a:rPr lang="en-US" sz="2400" b="1" dirty="0">
                <a:solidFill>
                  <a:srgbClr val="1F2328"/>
                </a:solidFill>
                <a:latin typeface="Calibri" pitchFamily="34" charset="0"/>
                <a:ea typeface="Calibri" pitchFamily="34" charset="-122"/>
                <a:cs typeface="Calibri" pitchFamily="34" charset="-120"/>
              </a:rPr>
              <a:t>.</a:t>
            </a:r>
            <a:endParaRPr lang="en-US" sz="2400" dirty="0"/>
          </a:p>
        </p:txBody>
      </p:sp>
      <p:sp>
        <p:nvSpPr>
          <p:cNvPr id="12" name="Shape 10"/>
          <p:cNvSpPr/>
          <p:nvPr/>
        </p:nvSpPr>
        <p:spPr>
          <a:xfrm>
            <a:off x="1920240" y="3200400"/>
            <a:ext cx="1234440" cy="502920"/>
          </a:xfrm>
          <a:prstGeom prst="roundRect">
            <a:avLst>
              <a:gd name="adj" fmla="val 10909"/>
            </a:avLst>
          </a:prstGeom>
          <a:solidFill>
            <a:srgbClr val="4A5260"/>
          </a:solidFill>
          <a:ln w="12700">
            <a:solidFill>
              <a:srgbClr val="4A5260"/>
            </a:solidFill>
            <a:prstDash val="solid"/>
          </a:ln>
        </p:spPr>
      </p:sp>
      <p:sp>
        <p:nvSpPr>
          <p:cNvPr id="13" name="Text 11"/>
          <p:cNvSpPr txBox="1"/>
          <p:nvPr/>
        </p:nvSpPr>
        <p:spPr>
          <a:xfrm>
            <a:off x="1920240" y="3200400"/>
            <a:ext cx="12344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builtin</a:t>
            </a:r>
            <a:endParaRPr lang="en-US" sz="1400" dirty="0"/>
          </a:p>
        </p:txBody>
      </p:sp>
      <p:sp>
        <p:nvSpPr>
          <p:cNvPr id="14" name="Text 12"/>
          <p:cNvSpPr txBox="1"/>
          <p:nvPr/>
        </p:nvSpPr>
        <p:spPr>
          <a:xfrm>
            <a:off x="1920240" y="3749040"/>
            <a:ext cx="1234440" cy="274320"/>
          </a:xfrm>
          <a:prstGeom prst="rect">
            <a:avLst/>
          </a:prstGeom>
          <a:noFill/>
          <a:ln/>
        </p:spPr>
        <p:txBody>
          <a:bodyPr wrap="square" lIns="0" tIns="0" rIns="0" bIns="0" rtlCol="0" anchor="t"/>
          <a:lstStyle/>
          <a:p>
            <a:pPr algn="ctr" indent="0" marL="0">
              <a:buNone/>
            </a:pPr>
            <a:r>
              <a:rPr lang="en-US" sz="1100" dirty="0">
                <a:solidFill>
                  <a:srgbClr val="5B6470"/>
                </a:solidFill>
                <a:latin typeface="Calibri" pitchFamily="34" charset="0"/>
                <a:ea typeface="Calibri" pitchFamily="34" charset="-122"/>
                <a:cs typeface="Calibri" pitchFamily="34" charset="-120"/>
              </a:rPr>
              <a:t>collection</a:t>
            </a:r>
            <a:endParaRPr lang="en-US" sz="1100" dirty="0"/>
          </a:p>
        </p:txBody>
      </p:sp>
      <p:sp>
        <p:nvSpPr>
          <p:cNvPr id="15" name="Text 13"/>
          <p:cNvSpPr txBox="1"/>
          <p:nvPr/>
        </p:nvSpPr>
        <p:spPr>
          <a:xfrm>
            <a:off x="3154680" y="3154680"/>
            <a:ext cx="228600" cy="502920"/>
          </a:xfrm>
          <a:prstGeom prst="rect">
            <a:avLst/>
          </a:prstGeom>
          <a:noFill/>
          <a:ln/>
        </p:spPr>
        <p:txBody>
          <a:bodyPr wrap="square" lIns="0" tIns="0" rIns="0" bIns="0" rtlCol="0" anchor="ctr"/>
          <a:lstStyle/>
          <a:p>
            <a:pPr algn="ctr" indent="0" marL="0">
              <a:buNone/>
            </a:pPr>
            <a:r>
              <a:rPr lang="en-US" sz="2400" b="1" dirty="0">
                <a:solidFill>
                  <a:srgbClr val="1F2328"/>
                </a:solidFill>
                <a:latin typeface="Calibri" pitchFamily="34" charset="0"/>
                <a:ea typeface="Calibri" pitchFamily="34" charset="-122"/>
                <a:cs typeface="Calibri" pitchFamily="34" charset="-120"/>
              </a:rPr>
              <a:t>.</a:t>
            </a:r>
            <a:endParaRPr lang="en-US" sz="2400" dirty="0"/>
          </a:p>
        </p:txBody>
      </p:sp>
      <p:sp>
        <p:nvSpPr>
          <p:cNvPr id="16" name="Shape 14"/>
          <p:cNvSpPr/>
          <p:nvPr/>
        </p:nvSpPr>
        <p:spPr>
          <a:xfrm>
            <a:off x="3383280" y="3200400"/>
            <a:ext cx="1234440" cy="502920"/>
          </a:xfrm>
          <a:prstGeom prst="roundRect">
            <a:avLst>
              <a:gd name="adj" fmla="val 10909"/>
            </a:avLst>
          </a:prstGeom>
          <a:solidFill>
            <a:srgbClr val="2F80C8"/>
          </a:solidFill>
          <a:ln w="12700">
            <a:solidFill>
              <a:srgbClr val="2F80C8"/>
            </a:solidFill>
            <a:prstDash val="solid"/>
          </a:ln>
        </p:spPr>
      </p:sp>
      <p:sp>
        <p:nvSpPr>
          <p:cNvPr id="17" name="Text 15"/>
          <p:cNvSpPr txBox="1"/>
          <p:nvPr/>
        </p:nvSpPr>
        <p:spPr>
          <a:xfrm>
            <a:off x="3383280" y="3200400"/>
            <a:ext cx="12344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copy</a:t>
            </a:r>
            <a:endParaRPr lang="en-US" sz="1400" dirty="0"/>
          </a:p>
        </p:txBody>
      </p:sp>
      <p:sp>
        <p:nvSpPr>
          <p:cNvPr id="18" name="Text 16"/>
          <p:cNvSpPr txBox="1"/>
          <p:nvPr/>
        </p:nvSpPr>
        <p:spPr>
          <a:xfrm>
            <a:off x="3383280" y="3749040"/>
            <a:ext cx="1234440" cy="274320"/>
          </a:xfrm>
          <a:prstGeom prst="rect">
            <a:avLst/>
          </a:prstGeom>
          <a:noFill/>
          <a:ln/>
        </p:spPr>
        <p:txBody>
          <a:bodyPr wrap="square" lIns="0" tIns="0" rIns="0" bIns="0" rtlCol="0" anchor="t"/>
          <a:lstStyle/>
          <a:p>
            <a:pPr algn="ctr" indent="0" marL="0">
              <a:buNone/>
            </a:pPr>
            <a:r>
              <a:rPr lang="en-US" sz="1100" dirty="0">
                <a:solidFill>
                  <a:srgbClr val="5B6470"/>
                </a:solidFill>
                <a:latin typeface="Calibri" pitchFamily="34" charset="0"/>
                <a:ea typeface="Calibri" pitchFamily="34" charset="-122"/>
                <a:cs typeface="Calibri" pitchFamily="34" charset="-120"/>
              </a:rPr>
              <a:t>module</a:t>
            </a:r>
            <a:endParaRPr lang="en-US" sz="1100" dirty="0"/>
          </a:p>
        </p:txBody>
      </p:sp>
      <p:sp>
        <p:nvSpPr>
          <p:cNvPr id="19" name="Shape 17"/>
          <p:cNvSpPr/>
          <p:nvPr/>
        </p:nvSpPr>
        <p:spPr>
          <a:xfrm>
            <a:off x="5029200" y="2788920"/>
            <a:ext cx="3657600" cy="1828800"/>
          </a:xfrm>
          <a:prstGeom prst="roundRect">
            <a:avLst>
              <a:gd name="adj" fmla="val 4000"/>
            </a:avLst>
          </a:prstGeom>
          <a:solidFill>
            <a:srgbClr val="F2F3F5"/>
          </a:solidFill>
          <a:ln w="12700">
            <a:solidFill>
              <a:srgbClr val="F2F3F5"/>
            </a:solidFill>
            <a:prstDash val="solid"/>
          </a:ln>
        </p:spPr>
      </p:sp>
      <p:sp>
        <p:nvSpPr>
          <p:cNvPr id="20" name="Text 18"/>
          <p:cNvSpPr txBox="1"/>
          <p:nvPr/>
        </p:nvSpPr>
        <p:spPr>
          <a:xfrm>
            <a:off x="5212080" y="2926080"/>
            <a:ext cx="3383280" cy="16459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328"/>
                </a:solidFill>
                <a:latin typeface="Calibri" pitchFamily="34" charset="0"/>
                <a:ea typeface="Calibri" pitchFamily="34" charset="-122"/>
                <a:cs typeface="Calibri" pitchFamily="34" charset="-120"/>
              </a:rPr>
              <a:t>Always write the FQCN: ansible.builtin.copy, not copy</a:t>
            </a:r>
            <a:endParaRPr lang="en-US" sz="1200" dirty="0"/>
          </a:p>
          <a:p>
            <a:pPr marL="342900" indent="-342900">
              <a:spcAft>
                <a:spcPts val="600"/>
              </a:spcAft>
              <a:buSzPct val="100000"/>
              <a:buChar char="•"/>
            </a:pPr>
            <a:r>
              <a:rPr lang="en-US" sz="1200" dirty="0">
                <a:solidFill>
                  <a:srgbClr val="1F2328"/>
                </a:solidFill>
                <a:latin typeface="Calibri" pitchFamily="34" charset="0"/>
                <a:ea typeface="Calibri" pitchFamily="34" charset="-122"/>
                <a:cs typeface="Calibri" pitchFamily="34" charset="-120"/>
              </a:rPr>
              <a:t>Avoids name clashes between collections</a:t>
            </a:r>
            <a:endParaRPr lang="en-US" sz="1200" dirty="0"/>
          </a:p>
          <a:p>
            <a:pPr marL="342900" indent="-342900">
              <a:spcAft>
                <a:spcPts val="600"/>
              </a:spcAft>
              <a:buSzPct val="100000"/>
              <a:buChar char="•"/>
            </a:pPr>
            <a:r>
              <a:rPr lang="en-US" sz="1200" dirty="0">
                <a:solidFill>
                  <a:srgbClr val="1F2328"/>
                </a:solidFill>
                <a:latin typeface="Calibri" pitchFamily="34" charset="0"/>
                <a:ea typeface="Calibri" pitchFamily="34" charset="-122"/>
                <a:cs typeface="Calibri" pitchFamily="34" charset="-120"/>
              </a:rPr>
              <a:t>ansible-lint flags short names</a:t>
            </a:r>
            <a:endParaRPr lang="en-US" sz="1200" dirty="0"/>
          </a:p>
          <a:p>
            <a:pPr marL="342900" indent="-342900">
              <a:spcAft>
                <a:spcPts val="600"/>
              </a:spcAft>
              <a:buSzPct val="100000"/>
              <a:buChar char="•"/>
            </a:pPr>
            <a:r>
              <a:rPr lang="en-US" sz="1200" dirty="0">
                <a:solidFill>
                  <a:srgbClr val="1F2328"/>
                </a:solidFill>
                <a:latin typeface="Calibri" pitchFamily="34" charset="0"/>
                <a:ea typeface="Calibri" pitchFamily="34" charset="-122"/>
                <a:cs typeface="Calibri" pitchFamily="34" charset="-120"/>
              </a:rPr>
              <a:t>Docs online: docs.ansible.com</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6181D"/>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39</a:t>
            </a:r>
            <a:endParaRPr lang="en-US" sz="900" dirty="0"/>
          </a:p>
        </p:txBody>
      </p:sp>
      <p:sp>
        <p:nvSpPr>
          <p:cNvPr id="3" name="Text 1"/>
          <p:cNvSpPr txBox="1"/>
          <p:nvPr/>
        </p:nvSpPr>
        <p:spPr>
          <a:xfrm>
            <a:off x="457200" y="685800"/>
            <a:ext cx="2743200" cy="1280160"/>
          </a:xfrm>
          <a:prstGeom prst="rect">
            <a:avLst/>
          </a:prstGeom>
          <a:noFill/>
          <a:ln/>
        </p:spPr>
        <p:txBody>
          <a:bodyPr wrap="square" lIns="0" tIns="0" rIns="0" bIns="0" rtlCol="0" anchor="ctr"/>
          <a:lstStyle/>
          <a:p>
            <a:pPr indent="0" marL="0">
              <a:buNone/>
            </a:pPr>
            <a:r>
              <a:rPr lang="en-US" sz="9600" b="1" dirty="0">
                <a:solidFill>
                  <a:srgbClr val="D92D27"/>
                </a:solidFill>
                <a:latin typeface="Arial" pitchFamily="34" charset="0"/>
                <a:ea typeface="Arial" pitchFamily="34" charset="-122"/>
                <a:cs typeface="Arial" pitchFamily="34" charset="-120"/>
              </a:rPr>
              <a:t>07</a:t>
            </a:r>
            <a:endParaRPr lang="en-US" sz="9600" dirty="0"/>
          </a:p>
        </p:txBody>
      </p:sp>
      <p:sp>
        <p:nvSpPr>
          <p:cNvPr id="4" name="Text 2"/>
          <p:cNvSpPr txBox="1"/>
          <p:nvPr/>
        </p:nvSpPr>
        <p:spPr>
          <a:xfrm>
            <a:off x="457200" y="2011680"/>
            <a:ext cx="8046720" cy="1234440"/>
          </a:xfrm>
          <a:prstGeom prst="rect">
            <a:avLst/>
          </a:prstGeom>
          <a:noFill/>
          <a:ln/>
        </p:spPr>
        <p:txBody>
          <a:bodyPr wrap="square" lIns="0" tIns="0" rIns="0" bIns="0" rtlCol="0" anchor="b"/>
          <a:lstStyle/>
          <a:p>
            <a:pPr indent="0" marL="0">
              <a:buNone/>
            </a:pPr>
            <a:r>
              <a:rPr lang="en-US" sz="3600" b="1" dirty="0">
                <a:solidFill>
                  <a:srgbClr val="FFFFFF"/>
                </a:solidFill>
                <a:latin typeface="Arial" pitchFamily="34" charset="0"/>
                <a:ea typeface="Arial" pitchFamily="34" charset="-122"/>
                <a:cs typeface="Arial" pitchFamily="34" charset="-120"/>
              </a:rPr>
              <a:t>Best practices</a:t>
            </a:r>
            <a:endParaRPr lang="en-US" sz="3600" dirty="0"/>
          </a:p>
        </p:txBody>
      </p:sp>
      <p:sp>
        <p:nvSpPr>
          <p:cNvPr id="5" name="Text 3"/>
          <p:cNvSpPr txBox="1"/>
          <p:nvPr/>
        </p:nvSpPr>
        <p:spPr>
          <a:xfrm>
            <a:off x="457200" y="3291840"/>
            <a:ext cx="7772400" cy="457200"/>
          </a:xfrm>
          <a:prstGeom prst="rect">
            <a:avLst/>
          </a:prstGeom>
          <a:noFill/>
          <a:ln/>
        </p:spPr>
        <p:txBody>
          <a:bodyPr wrap="square" lIns="0" tIns="0" rIns="0" bIns="0" rtlCol="0" anchor="ctr"/>
          <a:lstStyle/>
          <a:p>
            <a:pPr indent="0" marL="0">
              <a:buNone/>
            </a:pPr>
            <a:r>
              <a:rPr lang="en-US" sz="1600" dirty="0">
                <a:solidFill>
                  <a:srgbClr val="B8BEC7"/>
                </a:solidFill>
                <a:latin typeface="Calibri" pitchFamily="34" charset="0"/>
                <a:ea typeface="Calibri" pitchFamily="34" charset="-122"/>
                <a:cs typeface="Calibri" pitchFamily="34" charset="-120"/>
              </a:rPr>
              <a:t>Habits that keep automation safe, readable and reusable</a:t>
            </a:r>
            <a:endParaRPr lang="en-US" sz="1600" dirty="0"/>
          </a:p>
        </p:txBody>
      </p:sp>
      <p:sp>
        <p:nvSpPr>
          <p:cNvPr id="6" name="Shape 4"/>
          <p:cNvSpPr/>
          <p:nvPr/>
        </p:nvSpPr>
        <p:spPr>
          <a:xfrm>
            <a:off x="457200" y="4023360"/>
            <a:ext cx="1371600" cy="365760"/>
          </a:xfrm>
          <a:prstGeom prst="roundRect">
            <a:avLst>
              <a:gd name="adj" fmla="val 50000"/>
            </a:avLst>
          </a:prstGeom>
          <a:solidFill>
            <a:srgbClr val="2A2E36"/>
          </a:solidFill>
          <a:ln w="12700">
            <a:solidFill>
              <a:srgbClr val="2A2E36"/>
            </a:solidFill>
            <a:prstDash val="solid"/>
          </a:ln>
        </p:spPr>
      </p:sp>
      <p:sp>
        <p:nvSpPr>
          <p:cNvPr id="7" name="Text 5"/>
          <p:cNvSpPr txBox="1"/>
          <p:nvPr/>
        </p:nvSpPr>
        <p:spPr>
          <a:xfrm>
            <a:off x="457200" y="4023360"/>
            <a:ext cx="137160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 8 min</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9AA1AA"/>
                </a:solidFill>
                <a:latin typeface="Calibri" pitchFamily="34" charset="0"/>
                <a:ea typeface="Calibri" pitchFamily="34" charset="-122"/>
                <a:cs typeface="Calibri" pitchFamily="34" charset="-120"/>
              </a:rPr>
              <a:t>40</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Best practices in Ansible</a:t>
            </a:r>
            <a:endParaRPr lang="en-US" sz="2800" dirty="0"/>
          </a:p>
        </p:txBody>
      </p:sp>
      <p:sp>
        <p:nvSpPr>
          <p:cNvPr id="4" name="Shape 2"/>
          <p:cNvSpPr/>
          <p:nvPr/>
        </p:nvSpPr>
        <p:spPr>
          <a:xfrm>
            <a:off x="457200" y="1097280"/>
            <a:ext cx="502920" cy="502920"/>
          </a:xfrm>
          <a:prstGeom prst="ellipse">
            <a:avLst/>
          </a:prstGeom>
          <a:solidFill>
            <a:srgbClr val="D92D27"/>
          </a:solidFill>
          <a:ln w="12700">
            <a:solidFill>
              <a:srgbClr val="D92D27"/>
            </a:solidFill>
            <a:prstDash val="solid"/>
          </a:ln>
        </p:spPr>
      </p:sp>
      <p:pic>
        <p:nvPicPr>
          <p:cNvPr id="5" name="Image 0" descr="preencoded.png">    </p:cNvPr>
          <p:cNvPicPr>
            <a:picLocks noChangeAspect="1"/>
          </p:cNvPicPr>
          <p:nvPr/>
        </p:nvPicPr>
        <p:blipFill>
          <a:blip r:embed="rId1"/>
          <a:stretch>
            <a:fillRect/>
          </a:stretch>
        </p:blipFill>
        <p:spPr>
          <a:xfrm>
            <a:off x="587959" y="1228039"/>
            <a:ext cx="241402" cy="241402"/>
          </a:xfrm>
          <a:prstGeom prst="rect">
            <a:avLst/>
          </a:prstGeom>
        </p:spPr>
      </p:pic>
      <p:sp>
        <p:nvSpPr>
          <p:cNvPr id="6" name="Text 3"/>
          <p:cNvSpPr txBox="1"/>
          <p:nvPr/>
        </p:nvSpPr>
        <p:spPr>
          <a:xfrm>
            <a:off x="1143000" y="1051560"/>
            <a:ext cx="3291840" cy="320040"/>
          </a:xfrm>
          <a:prstGeom prst="rect">
            <a:avLst/>
          </a:prstGeom>
          <a:noFill/>
          <a:ln/>
        </p:spPr>
        <p:txBody>
          <a:bodyPr wrap="square" lIns="0" tIns="0" rIns="0" bIns="0" rtlCol="0" anchor="t"/>
          <a:lstStyle/>
          <a:p>
            <a:pPr indent="0" marL="0">
              <a:buNone/>
            </a:pPr>
            <a:r>
              <a:rPr lang="en-US" sz="1400" b="1" dirty="0">
                <a:solidFill>
                  <a:srgbClr val="1F2328"/>
                </a:solidFill>
                <a:latin typeface="Calibri" pitchFamily="34" charset="0"/>
                <a:ea typeface="Calibri" pitchFamily="34" charset="-122"/>
                <a:cs typeface="Calibri" pitchFamily="34" charset="-120"/>
              </a:rPr>
              <a:t>Name every task</a:t>
            </a:r>
            <a:endParaRPr lang="en-US" sz="1400" dirty="0"/>
          </a:p>
        </p:txBody>
      </p:sp>
      <p:sp>
        <p:nvSpPr>
          <p:cNvPr id="7" name="Text 4"/>
          <p:cNvSpPr txBox="1"/>
          <p:nvPr/>
        </p:nvSpPr>
        <p:spPr>
          <a:xfrm>
            <a:off x="1143000" y="1371600"/>
            <a:ext cx="3291840" cy="365760"/>
          </a:xfrm>
          <a:prstGeom prst="rect">
            <a:avLst/>
          </a:prstGeom>
          <a:noFill/>
          <a:ln/>
        </p:spPr>
        <p:txBody>
          <a:bodyPr wrap="square" lIns="0" tIns="0" rIns="0" bIns="0" rtlCol="0" anchor="t"/>
          <a:lstStyle/>
          <a:p>
            <a:pPr indent="0" marL="0">
              <a:buNone/>
            </a:pPr>
            <a:r>
              <a:rPr lang="en-US" sz="1150" dirty="0">
                <a:solidFill>
                  <a:srgbClr val="5B6470"/>
                </a:solidFill>
                <a:latin typeface="Calibri" pitchFamily="34" charset="0"/>
                <a:ea typeface="Calibri" pitchFamily="34" charset="-122"/>
                <a:cs typeface="Calibri" pitchFamily="34" charset="-120"/>
              </a:rPr>
              <a:t>Clear names make output and failures readable.</a:t>
            </a:r>
            <a:endParaRPr lang="en-US" sz="1150" dirty="0"/>
          </a:p>
        </p:txBody>
      </p:sp>
      <p:sp>
        <p:nvSpPr>
          <p:cNvPr id="8" name="Shape 5"/>
          <p:cNvSpPr/>
          <p:nvPr/>
        </p:nvSpPr>
        <p:spPr>
          <a:xfrm>
            <a:off x="4663440" y="1097280"/>
            <a:ext cx="502920" cy="502920"/>
          </a:xfrm>
          <a:prstGeom prst="ellipse">
            <a:avLst/>
          </a:prstGeom>
          <a:solidFill>
            <a:srgbClr val="D92D27"/>
          </a:solidFill>
          <a:ln w="12700">
            <a:solidFill>
              <a:srgbClr val="D92D27"/>
            </a:solidFill>
            <a:prstDash val="solid"/>
          </a:ln>
        </p:spPr>
      </p:sp>
      <p:pic>
        <p:nvPicPr>
          <p:cNvPr id="9" name="Image 1" descr="preencoded.png">    </p:cNvPr>
          <p:cNvPicPr>
            <a:picLocks noChangeAspect="1"/>
          </p:cNvPicPr>
          <p:nvPr/>
        </p:nvPicPr>
        <p:blipFill>
          <a:blip r:embed="rId2"/>
          <a:stretch>
            <a:fillRect/>
          </a:stretch>
        </p:blipFill>
        <p:spPr>
          <a:xfrm>
            <a:off x="4794199" y="1228039"/>
            <a:ext cx="241402" cy="241402"/>
          </a:xfrm>
          <a:prstGeom prst="rect">
            <a:avLst/>
          </a:prstGeom>
        </p:spPr>
      </p:pic>
      <p:sp>
        <p:nvSpPr>
          <p:cNvPr id="10" name="Text 6"/>
          <p:cNvSpPr txBox="1"/>
          <p:nvPr/>
        </p:nvSpPr>
        <p:spPr>
          <a:xfrm>
            <a:off x="5349240" y="1051560"/>
            <a:ext cx="3291840" cy="320040"/>
          </a:xfrm>
          <a:prstGeom prst="rect">
            <a:avLst/>
          </a:prstGeom>
          <a:noFill/>
          <a:ln/>
        </p:spPr>
        <p:txBody>
          <a:bodyPr wrap="square" lIns="0" tIns="0" rIns="0" bIns="0" rtlCol="0" anchor="t"/>
          <a:lstStyle/>
          <a:p>
            <a:pPr indent="0" marL="0">
              <a:buNone/>
            </a:pPr>
            <a:r>
              <a:rPr lang="en-US" sz="1400" b="1" dirty="0">
                <a:solidFill>
                  <a:srgbClr val="1F2328"/>
                </a:solidFill>
                <a:latin typeface="Calibri" pitchFamily="34" charset="0"/>
                <a:ea typeface="Calibri" pitchFamily="34" charset="-122"/>
                <a:cs typeface="Calibri" pitchFamily="34" charset="-120"/>
              </a:rPr>
              <a:t>Modules over shell</a:t>
            </a:r>
            <a:endParaRPr lang="en-US" sz="1400" dirty="0"/>
          </a:p>
        </p:txBody>
      </p:sp>
      <p:sp>
        <p:nvSpPr>
          <p:cNvPr id="11" name="Text 7"/>
          <p:cNvSpPr txBox="1"/>
          <p:nvPr/>
        </p:nvSpPr>
        <p:spPr>
          <a:xfrm>
            <a:off x="5349240" y="1371600"/>
            <a:ext cx="3291840" cy="365760"/>
          </a:xfrm>
          <a:prstGeom prst="rect">
            <a:avLst/>
          </a:prstGeom>
          <a:noFill/>
          <a:ln/>
        </p:spPr>
        <p:txBody>
          <a:bodyPr wrap="square" lIns="0" tIns="0" rIns="0" bIns="0" rtlCol="0" anchor="t"/>
          <a:lstStyle/>
          <a:p>
            <a:pPr indent="0" marL="0">
              <a:buNone/>
            </a:pPr>
            <a:r>
              <a:rPr lang="en-US" sz="1150" dirty="0">
                <a:solidFill>
                  <a:srgbClr val="5B6470"/>
                </a:solidFill>
                <a:latin typeface="Calibri" pitchFamily="34" charset="0"/>
                <a:ea typeface="Calibri" pitchFamily="34" charset="-122"/>
                <a:cs typeface="Calibri" pitchFamily="34" charset="-120"/>
              </a:rPr>
              <a:t>Dedicated modules are idempotent; shell rarely is.</a:t>
            </a:r>
            <a:endParaRPr lang="en-US" sz="1150" dirty="0"/>
          </a:p>
        </p:txBody>
      </p:sp>
      <p:sp>
        <p:nvSpPr>
          <p:cNvPr id="12" name="Shape 8"/>
          <p:cNvSpPr/>
          <p:nvPr/>
        </p:nvSpPr>
        <p:spPr>
          <a:xfrm>
            <a:off x="457200" y="2011680"/>
            <a:ext cx="502920" cy="502920"/>
          </a:xfrm>
          <a:prstGeom prst="ellipse">
            <a:avLst/>
          </a:prstGeom>
          <a:solidFill>
            <a:srgbClr val="D92D27"/>
          </a:solidFill>
          <a:ln w="12700">
            <a:solidFill>
              <a:srgbClr val="D92D27"/>
            </a:solidFill>
            <a:prstDash val="solid"/>
          </a:ln>
        </p:spPr>
      </p:sp>
      <p:pic>
        <p:nvPicPr>
          <p:cNvPr id="13" name="Image 2" descr="preencoded.png">    </p:cNvPr>
          <p:cNvPicPr>
            <a:picLocks noChangeAspect="1"/>
          </p:cNvPicPr>
          <p:nvPr/>
        </p:nvPicPr>
        <p:blipFill>
          <a:blip r:embed="rId3"/>
          <a:stretch>
            <a:fillRect/>
          </a:stretch>
        </p:blipFill>
        <p:spPr>
          <a:xfrm>
            <a:off x="587959" y="2142439"/>
            <a:ext cx="241402" cy="241402"/>
          </a:xfrm>
          <a:prstGeom prst="rect">
            <a:avLst/>
          </a:prstGeom>
        </p:spPr>
      </p:pic>
      <p:sp>
        <p:nvSpPr>
          <p:cNvPr id="14" name="Text 9"/>
          <p:cNvSpPr txBox="1"/>
          <p:nvPr/>
        </p:nvSpPr>
        <p:spPr>
          <a:xfrm>
            <a:off x="1143000" y="1965960"/>
            <a:ext cx="3291840" cy="320040"/>
          </a:xfrm>
          <a:prstGeom prst="rect">
            <a:avLst/>
          </a:prstGeom>
          <a:noFill/>
          <a:ln/>
        </p:spPr>
        <p:txBody>
          <a:bodyPr wrap="square" lIns="0" tIns="0" rIns="0" bIns="0" rtlCol="0" anchor="t"/>
          <a:lstStyle/>
          <a:p>
            <a:pPr indent="0" marL="0">
              <a:buNone/>
            </a:pPr>
            <a:r>
              <a:rPr lang="en-US" sz="1400" b="1" dirty="0">
                <a:solidFill>
                  <a:srgbClr val="1F2328"/>
                </a:solidFill>
                <a:latin typeface="Calibri" pitchFamily="34" charset="0"/>
                <a:ea typeface="Calibri" pitchFamily="34" charset="-122"/>
                <a:cs typeface="Calibri" pitchFamily="34" charset="-120"/>
              </a:rPr>
              <a:t>Use FQCN</a:t>
            </a:r>
            <a:endParaRPr lang="en-US" sz="1400" dirty="0"/>
          </a:p>
        </p:txBody>
      </p:sp>
      <p:sp>
        <p:nvSpPr>
          <p:cNvPr id="15" name="Text 10"/>
          <p:cNvSpPr txBox="1"/>
          <p:nvPr/>
        </p:nvSpPr>
        <p:spPr>
          <a:xfrm>
            <a:off x="1143000" y="2286000"/>
            <a:ext cx="3291840" cy="365760"/>
          </a:xfrm>
          <a:prstGeom prst="rect">
            <a:avLst/>
          </a:prstGeom>
          <a:noFill/>
          <a:ln/>
        </p:spPr>
        <p:txBody>
          <a:bodyPr wrap="square" lIns="0" tIns="0" rIns="0" bIns="0" rtlCol="0" anchor="t"/>
          <a:lstStyle/>
          <a:p>
            <a:pPr indent="0" marL="0">
              <a:buNone/>
            </a:pPr>
            <a:r>
              <a:rPr lang="en-US" sz="1150" dirty="0">
                <a:solidFill>
                  <a:srgbClr val="5B6470"/>
                </a:solidFill>
                <a:latin typeface="Calibri" pitchFamily="34" charset="0"/>
                <a:ea typeface="Calibri" pitchFamily="34" charset="-122"/>
                <a:cs typeface="Calibri" pitchFamily="34" charset="-120"/>
              </a:rPr>
              <a:t>ansible.builtin.copy — no ambiguity.</a:t>
            </a:r>
            <a:endParaRPr lang="en-US" sz="1150" dirty="0"/>
          </a:p>
        </p:txBody>
      </p:sp>
      <p:sp>
        <p:nvSpPr>
          <p:cNvPr id="16" name="Shape 11"/>
          <p:cNvSpPr/>
          <p:nvPr/>
        </p:nvSpPr>
        <p:spPr>
          <a:xfrm>
            <a:off x="4663440" y="2011680"/>
            <a:ext cx="502920" cy="502920"/>
          </a:xfrm>
          <a:prstGeom prst="ellipse">
            <a:avLst/>
          </a:prstGeom>
          <a:solidFill>
            <a:srgbClr val="D92D27"/>
          </a:solidFill>
          <a:ln w="12700">
            <a:solidFill>
              <a:srgbClr val="D92D27"/>
            </a:solidFill>
            <a:prstDash val="solid"/>
          </a:ln>
        </p:spPr>
      </p:sp>
      <p:pic>
        <p:nvPicPr>
          <p:cNvPr id="17" name="Image 3" descr="preencoded.png">    </p:cNvPr>
          <p:cNvPicPr>
            <a:picLocks noChangeAspect="1"/>
          </p:cNvPicPr>
          <p:nvPr/>
        </p:nvPicPr>
        <p:blipFill>
          <a:blip r:embed="rId4"/>
          <a:stretch>
            <a:fillRect/>
          </a:stretch>
        </p:blipFill>
        <p:spPr>
          <a:xfrm>
            <a:off x="4794199" y="2142439"/>
            <a:ext cx="241402" cy="241402"/>
          </a:xfrm>
          <a:prstGeom prst="rect">
            <a:avLst/>
          </a:prstGeom>
        </p:spPr>
      </p:pic>
      <p:sp>
        <p:nvSpPr>
          <p:cNvPr id="18" name="Text 12"/>
          <p:cNvSpPr txBox="1"/>
          <p:nvPr/>
        </p:nvSpPr>
        <p:spPr>
          <a:xfrm>
            <a:off x="5349240" y="1965960"/>
            <a:ext cx="3291840" cy="320040"/>
          </a:xfrm>
          <a:prstGeom prst="rect">
            <a:avLst/>
          </a:prstGeom>
          <a:noFill/>
          <a:ln/>
        </p:spPr>
        <p:txBody>
          <a:bodyPr wrap="square" lIns="0" tIns="0" rIns="0" bIns="0" rtlCol="0" anchor="t"/>
          <a:lstStyle/>
          <a:p>
            <a:pPr indent="0" marL="0">
              <a:buNone/>
            </a:pPr>
            <a:r>
              <a:rPr lang="en-US" sz="1400" b="1" dirty="0">
                <a:solidFill>
                  <a:srgbClr val="1F2328"/>
                </a:solidFill>
                <a:latin typeface="Calibri" pitchFamily="34" charset="0"/>
                <a:ea typeface="Calibri" pitchFamily="34" charset="-122"/>
                <a:cs typeface="Calibri" pitchFamily="34" charset="-120"/>
              </a:rPr>
              <a:t>Structure with roles</a:t>
            </a:r>
            <a:endParaRPr lang="en-US" sz="1400" dirty="0"/>
          </a:p>
        </p:txBody>
      </p:sp>
      <p:sp>
        <p:nvSpPr>
          <p:cNvPr id="19" name="Text 13"/>
          <p:cNvSpPr txBox="1"/>
          <p:nvPr/>
        </p:nvSpPr>
        <p:spPr>
          <a:xfrm>
            <a:off x="5349240" y="2286000"/>
            <a:ext cx="3291840" cy="365760"/>
          </a:xfrm>
          <a:prstGeom prst="rect">
            <a:avLst/>
          </a:prstGeom>
          <a:noFill/>
          <a:ln/>
        </p:spPr>
        <p:txBody>
          <a:bodyPr wrap="square" lIns="0" tIns="0" rIns="0" bIns="0" rtlCol="0" anchor="t"/>
          <a:lstStyle/>
          <a:p>
            <a:pPr indent="0" marL="0">
              <a:buNone/>
            </a:pPr>
            <a:r>
              <a:rPr lang="en-US" sz="1150" dirty="0">
                <a:solidFill>
                  <a:srgbClr val="5B6470"/>
                </a:solidFill>
                <a:latin typeface="Calibri" pitchFamily="34" charset="0"/>
                <a:ea typeface="Calibri" pitchFamily="34" charset="-122"/>
                <a:cs typeface="Calibri" pitchFamily="34" charset="-120"/>
              </a:rPr>
              <a:t>Small, single-purpose roles; reuse them.</a:t>
            </a:r>
            <a:endParaRPr lang="en-US" sz="1150" dirty="0"/>
          </a:p>
        </p:txBody>
      </p:sp>
      <p:sp>
        <p:nvSpPr>
          <p:cNvPr id="20" name="Shape 14"/>
          <p:cNvSpPr/>
          <p:nvPr/>
        </p:nvSpPr>
        <p:spPr>
          <a:xfrm>
            <a:off x="457200" y="2926080"/>
            <a:ext cx="502920" cy="502920"/>
          </a:xfrm>
          <a:prstGeom prst="ellipse">
            <a:avLst/>
          </a:prstGeom>
          <a:solidFill>
            <a:srgbClr val="D92D27"/>
          </a:solidFill>
          <a:ln w="12700">
            <a:solidFill>
              <a:srgbClr val="D92D27"/>
            </a:solidFill>
            <a:prstDash val="solid"/>
          </a:ln>
        </p:spPr>
      </p:sp>
      <p:pic>
        <p:nvPicPr>
          <p:cNvPr id="21" name="Image 4" descr="preencoded.png">    </p:cNvPr>
          <p:cNvPicPr>
            <a:picLocks noChangeAspect="1"/>
          </p:cNvPicPr>
          <p:nvPr/>
        </p:nvPicPr>
        <p:blipFill>
          <a:blip r:embed="rId5"/>
          <a:stretch>
            <a:fillRect/>
          </a:stretch>
        </p:blipFill>
        <p:spPr>
          <a:xfrm>
            <a:off x="587959" y="3056839"/>
            <a:ext cx="241402" cy="241402"/>
          </a:xfrm>
          <a:prstGeom prst="rect">
            <a:avLst/>
          </a:prstGeom>
        </p:spPr>
      </p:pic>
      <p:sp>
        <p:nvSpPr>
          <p:cNvPr id="22" name="Text 15"/>
          <p:cNvSpPr txBox="1"/>
          <p:nvPr/>
        </p:nvSpPr>
        <p:spPr>
          <a:xfrm>
            <a:off x="1143000" y="2880360"/>
            <a:ext cx="3291840" cy="320040"/>
          </a:xfrm>
          <a:prstGeom prst="rect">
            <a:avLst/>
          </a:prstGeom>
          <a:noFill/>
          <a:ln/>
        </p:spPr>
        <p:txBody>
          <a:bodyPr wrap="square" lIns="0" tIns="0" rIns="0" bIns="0" rtlCol="0" anchor="t"/>
          <a:lstStyle/>
          <a:p>
            <a:pPr indent="0" marL="0">
              <a:buNone/>
            </a:pPr>
            <a:r>
              <a:rPr lang="en-US" sz="1400" b="1" dirty="0">
                <a:solidFill>
                  <a:srgbClr val="1F2328"/>
                </a:solidFill>
                <a:latin typeface="Calibri" pitchFamily="34" charset="0"/>
                <a:ea typeface="Calibri" pitchFamily="34" charset="-122"/>
                <a:cs typeface="Calibri" pitchFamily="34" charset="-120"/>
              </a:rPr>
              <a:t>Separate data from code</a:t>
            </a:r>
            <a:endParaRPr lang="en-US" sz="1400" dirty="0"/>
          </a:p>
        </p:txBody>
      </p:sp>
      <p:sp>
        <p:nvSpPr>
          <p:cNvPr id="23" name="Text 16"/>
          <p:cNvSpPr txBox="1"/>
          <p:nvPr/>
        </p:nvSpPr>
        <p:spPr>
          <a:xfrm>
            <a:off x="1143000" y="3200400"/>
            <a:ext cx="3291840" cy="365760"/>
          </a:xfrm>
          <a:prstGeom prst="rect">
            <a:avLst/>
          </a:prstGeom>
          <a:noFill/>
          <a:ln/>
        </p:spPr>
        <p:txBody>
          <a:bodyPr wrap="square" lIns="0" tIns="0" rIns="0" bIns="0" rtlCol="0" anchor="t"/>
          <a:lstStyle/>
          <a:p>
            <a:pPr indent="0" marL="0">
              <a:buNone/>
            </a:pPr>
            <a:r>
              <a:rPr lang="en-US" sz="1150" dirty="0">
                <a:solidFill>
                  <a:srgbClr val="5B6470"/>
                </a:solidFill>
                <a:latin typeface="Calibri" pitchFamily="34" charset="0"/>
                <a:ea typeface="Calibri" pitchFamily="34" charset="-122"/>
                <a:cs typeface="Calibri" pitchFamily="34" charset="-120"/>
              </a:rPr>
              <a:t>Values in group_vars/host_vars, logic in tasks.</a:t>
            </a:r>
            <a:endParaRPr lang="en-US" sz="1150" dirty="0"/>
          </a:p>
        </p:txBody>
      </p:sp>
      <p:sp>
        <p:nvSpPr>
          <p:cNvPr id="24" name="Shape 17"/>
          <p:cNvSpPr/>
          <p:nvPr/>
        </p:nvSpPr>
        <p:spPr>
          <a:xfrm>
            <a:off x="4663440" y="2926080"/>
            <a:ext cx="502920" cy="502920"/>
          </a:xfrm>
          <a:prstGeom prst="ellipse">
            <a:avLst/>
          </a:prstGeom>
          <a:solidFill>
            <a:srgbClr val="D92D27"/>
          </a:solidFill>
          <a:ln w="12700">
            <a:solidFill>
              <a:srgbClr val="D92D27"/>
            </a:solidFill>
            <a:prstDash val="solid"/>
          </a:ln>
        </p:spPr>
      </p:sp>
      <p:pic>
        <p:nvPicPr>
          <p:cNvPr id="25" name="Image 5" descr="preencoded.png">    </p:cNvPr>
          <p:cNvPicPr>
            <a:picLocks noChangeAspect="1"/>
          </p:cNvPicPr>
          <p:nvPr/>
        </p:nvPicPr>
        <p:blipFill>
          <a:blip r:embed="rId6"/>
          <a:stretch>
            <a:fillRect/>
          </a:stretch>
        </p:blipFill>
        <p:spPr>
          <a:xfrm>
            <a:off x="4794199" y="3056839"/>
            <a:ext cx="241402" cy="241402"/>
          </a:xfrm>
          <a:prstGeom prst="rect">
            <a:avLst/>
          </a:prstGeom>
        </p:spPr>
      </p:pic>
      <p:sp>
        <p:nvSpPr>
          <p:cNvPr id="26" name="Text 18"/>
          <p:cNvSpPr txBox="1"/>
          <p:nvPr/>
        </p:nvSpPr>
        <p:spPr>
          <a:xfrm>
            <a:off x="5349240" y="2880360"/>
            <a:ext cx="3291840" cy="320040"/>
          </a:xfrm>
          <a:prstGeom prst="rect">
            <a:avLst/>
          </a:prstGeom>
          <a:noFill/>
          <a:ln/>
        </p:spPr>
        <p:txBody>
          <a:bodyPr wrap="square" lIns="0" tIns="0" rIns="0" bIns="0" rtlCol="0" anchor="t"/>
          <a:lstStyle/>
          <a:p>
            <a:pPr indent="0" marL="0">
              <a:buNone/>
            </a:pPr>
            <a:r>
              <a:rPr lang="en-US" sz="1400" b="1" dirty="0">
                <a:solidFill>
                  <a:srgbClr val="1F2328"/>
                </a:solidFill>
                <a:latin typeface="Calibri" pitchFamily="34" charset="0"/>
                <a:ea typeface="Calibri" pitchFamily="34" charset="-122"/>
                <a:cs typeface="Calibri" pitchFamily="34" charset="-120"/>
              </a:rPr>
              <a:t>Secrets in Vault</a:t>
            </a:r>
            <a:endParaRPr lang="en-US" sz="1400" dirty="0"/>
          </a:p>
        </p:txBody>
      </p:sp>
      <p:sp>
        <p:nvSpPr>
          <p:cNvPr id="27" name="Text 19"/>
          <p:cNvSpPr txBox="1"/>
          <p:nvPr/>
        </p:nvSpPr>
        <p:spPr>
          <a:xfrm>
            <a:off x="5349240" y="3200400"/>
            <a:ext cx="3291840" cy="365760"/>
          </a:xfrm>
          <a:prstGeom prst="rect">
            <a:avLst/>
          </a:prstGeom>
          <a:noFill/>
          <a:ln/>
        </p:spPr>
        <p:txBody>
          <a:bodyPr wrap="square" lIns="0" tIns="0" rIns="0" bIns="0" rtlCol="0" anchor="t"/>
          <a:lstStyle/>
          <a:p>
            <a:pPr indent="0" marL="0">
              <a:buNone/>
            </a:pPr>
            <a:r>
              <a:rPr lang="en-US" sz="1150" dirty="0">
                <a:solidFill>
                  <a:srgbClr val="5B6470"/>
                </a:solidFill>
                <a:latin typeface="Calibri" pitchFamily="34" charset="0"/>
                <a:ea typeface="Calibri" pitchFamily="34" charset="-122"/>
                <a:cs typeface="Calibri" pitchFamily="34" charset="-120"/>
              </a:rPr>
              <a:t>Never commit plain-text passwords or keys.</a:t>
            </a:r>
            <a:endParaRPr lang="en-US" sz="1150" dirty="0"/>
          </a:p>
        </p:txBody>
      </p:sp>
      <p:sp>
        <p:nvSpPr>
          <p:cNvPr id="28" name="Shape 20"/>
          <p:cNvSpPr/>
          <p:nvPr/>
        </p:nvSpPr>
        <p:spPr>
          <a:xfrm>
            <a:off x="457200" y="3840480"/>
            <a:ext cx="502920" cy="502920"/>
          </a:xfrm>
          <a:prstGeom prst="ellipse">
            <a:avLst/>
          </a:prstGeom>
          <a:solidFill>
            <a:srgbClr val="D92D27"/>
          </a:solidFill>
          <a:ln w="12700">
            <a:solidFill>
              <a:srgbClr val="D92D27"/>
            </a:solidFill>
            <a:prstDash val="solid"/>
          </a:ln>
        </p:spPr>
      </p:sp>
      <p:pic>
        <p:nvPicPr>
          <p:cNvPr id="29" name="Image 6" descr="preencoded.png">    </p:cNvPr>
          <p:cNvPicPr>
            <a:picLocks noChangeAspect="1"/>
          </p:cNvPicPr>
          <p:nvPr/>
        </p:nvPicPr>
        <p:blipFill>
          <a:blip r:embed="rId7"/>
          <a:stretch>
            <a:fillRect/>
          </a:stretch>
        </p:blipFill>
        <p:spPr>
          <a:xfrm>
            <a:off x="587959" y="3971239"/>
            <a:ext cx="241402" cy="241402"/>
          </a:xfrm>
          <a:prstGeom prst="rect">
            <a:avLst/>
          </a:prstGeom>
        </p:spPr>
      </p:pic>
      <p:sp>
        <p:nvSpPr>
          <p:cNvPr id="30" name="Text 21"/>
          <p:cNvSpPr txBox="1"/>
          <p:nvPr/>
        </p:nvSpPr>
        <p:spPr>
          <a:xfrm>
            <a:off x="1143000" y="3794760"/>
            <a:ext cx="3291840" cy="320040"/>
          </a:xfrm>
          <a:prstGeom prst="rect">
            <a:avLst/>
          </a:prstGeom>
          <a:noFill/>
          <a:ln/>
        </p:spPr>
        <p:txBody>
          <a:bodyPr wrap="square" lIns="0" tIns="0" rIns="0" bIns="0" rtlCol="0" anchor="t"/>
          <a:lstStyle/>
          <a:p>
            <a:pPr indent="0" marL="0">
              <a:buNone/>
            </a:pPr>
            <a:r>
              <a:rPr lang="en-US" sz="1400" b="1" dirty="0">
                <a:solidFill>
                  <a:srgbClr val="1F2328"/>
                </a:solidFill>
                <a:latin typeface="Calibri" pitchFamily="34" charset="0"/>
                <a:ea typeface="Calibri" pitchFamily="34" charset="-122"/>
                <a:cs typeface="Calibri" pitchFamily="34" charset="-120"/>
              </a:rPr>
              <a:t>Check before you change</a:t>
            </a:r>
            <a:endParaRPr lang="en-US" sz="1400" dirty="0"/>
          </a:p>
        </p:txBody>
      </p:sp>
      <p:sp>
        <p:nvSpPr>
          <p:cNvPr id="31" name="Text 22"/>
          <p:cNvSpPr txBox="1"/>
          <p:nvPr/>
        </p:nvSpPr>
        <p:spPr>
          <a:xfrm>
            <a:off x="1143000" y="4114800"/>
            <a:ext cx="3291840" cy="365760"/>
          </a:xfrm>
          <a:prstGeom prst="rect">
            <a:avLst/>
          </a:prstGeom>
          <a:noFill/>
          <a:ln/>
        </p:spPr>
        <p:txBody>
          <a:bodyPr wrap="square" lIns="0" tIns="0" rIns="0" bIns="0" rtlCol="0" anchor="t"/>
          <a:lstStyle/>
          <a:p>
            <a:pPr indent="0" marL="0">
              <a:buNone/>
            </a:pPr>
            <a:r>
              <a:rPr lang="en-US" sz="1150" dirty="0">
                <a:solidFill>
                  <a:srgbClr val="5B6470"/>
                </a:solidFill>
                <a:latin typeface="Calibri" pitchFamily="34" charset="0"/>
                <a:ea typeface="Calibri" pitchFamily="34" charset="-122"/>
                <a:cs typeface="Calibri" pitchFamily="34" charset="-120"/>
              </a:rPr>
              <a:t>--syntax-check, --check --diff, ansible-lint.</a:t>
            </a:r>
            <a:endParaRPr lang="en-US" sz="1150" dirty="0"/>
          </a:p>
        </p:txBody>
      </p:sp>
      <p:sp>
        <p:nvSpPr>
          <p:cNvPr id="32" name="Shape 23"/>
          <p:cNvSpPr/>
          <p:nvPr/>
        </p:nvSpPr>
        <p:spPr>
          <a:xfrm>
            <a:off x="4663440" y="3840480"/>
            <a:ext cx="502920" cy="502920"/>
          </a:xfrm>
          <a:prstGeom prst="ellipse">
            <a:avLst/>
          </a:prstGeom>
          <a:solidFill>
            <a:srgbClr val="D92D27"/>
          </a:solidFill>
          <a:ln w="12700">
            <a:solidFill>
              <a:srgbClr val="D92D27"/>
            </a:solidFill>
            <a:prstDash val="solid"/>
          </a:ln>
        </p:spPr>
      </p:sp>
      <p:pic>
        <p:nvPicPr>
          <p:cNvPr id="33" name="Image 7" descr="preencoded.png">    </p:cNvPr>
          <p:cNvPicPr>
            <a:picLocks noChangeAspect="1"/>
          </p:cNvPicPr>
          <p:nvPr/>
        </p:nvPicPr>
        <p:blipFill>
          <a:blip r:embed="rId8"/>
          <a:stretch>
            <a:fillRect/>
          </a:stretch>
        </p:blipFill>
        <p:spPr>
          <a:xfrm>
            <a:off x="4794199" y="3971239"/>
            <a:ext cx="241402" cy="241402"/>
          </a:xfrm>
          <a:prstGeom prst="rect">
            <a:avLst/>
          </a:prstGeom>
        </p:spPr>
      </p:pic>
      <p:sp>
        <p:nvSpPr>
          <p:cNvPr id="34" name="Text 24"/>
          <p:cNvSpPr txBox="1"/>
          <p:nvPr/>
        </p:nvSpPr>
        <p:spPr>
          <a:xfrm>
            <a:off x="5349240" y="3794760"/>
            <a:ext cx="3291840" cy="320040"/>
          </a:xfrm>
          <a:prstGeom prst="rect">
            <a:avLst/>
          </a:prstGeom>
          <a:noFill/>
          <a:ln/>
        </p:spPr>
        <p:txBody>
          <a:bodyPr wrap="square" lIns="0" tIns="0" rIns="0" bIns="0" rtlCol="0" anchor="t"/>
          <a:lstStyle/>
          <a:p>
            <a:pPr indent="0" marL="0">
              <a:buNone/>
            </a:pPr>
            <a:r>
              <a:rPr lang="en-US" sz="1400" b="1" dirty="0">
                <a:solidFill>
                  <a:srgbClr val="1F2328"/>
                </a:solidFill>
                <a:latin typeface="Calibri" pitchFamily="34" charset="0"/>
                <a:ea typeface="Calibri" pitchFamily="34" charset="-122"/>
                <a:cs typeface="Calibri" pitchFamily="34" charset="-120"/>
              </a:rPr>
              <a:t>Version control everything</a:t>
            </a:r>
            <a:endParaRPr lang="en-US" sz="1400" dirty="0"/>
          </a:p>
        </p:txBody>
      </p:sp>
      <p:sp>
        <p:nvSpPr>
          <p:cNvPr id="35" name="Text 25"/>
          <p:cNvSpPr txBox="1"/>
          <p:nvPr/>
        </p:nvSpPr>
        <p:spPr>
          <a:xfrm>
            <a:off x="5349240" y="4114800"/>
            <a:ext cx="3291840" cy="365760"/>
          </a:xfrm>
          <a:prstGeom prst="rect">
            <a:avLst/>
          </a:prstGeom>
          <a:noFill/>
          <a:ln/>
        </p:spPr>
        <p:txBody>
          <a:bodyPr wrap="square" lIns="0" tIns="0" rIns="0" bIns="0" rtlCol="0" anchor="t"/>
          <a:lstStyle/>
          <a:p>
            <a:pPr indent="0" marL="0">
              <a:buNone/>
            </a:pPr>
            <a:r>
              <a:rPr lang="en-US" sz="1150" dirty="0">
                <a:solidFill>
                  <a:srgbClr val="5B6470"/>
                </a:solidFill>
                <a:latin typeface="Calibri" pitchFamily="34" charset="0"/>
                <a:ea typeface="Calibri" pitchFamily="34" charset="-122"/>
                <a:cs typeface="Calibri" pitchFamily="34" charset="-120"/>
              </a:rPr>
              <a:t>Git, code review, CI running ansible-lint.</a:t>
            </a:r>
            <a:endParaRPr lang="en-US" sz="11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9AA1AA"/>
                </a:solidFill>
                <a:latin typeface="Calibri" pitchFamily="34" charset="0"/>
                <a:ea typeface="Calibri" pitchFamily="34" charset="-122"/>
                <a:cs typeface="Calibri" pitchFamily="34" charset="-120"/>
              </a:rPr>
              <a:t>41</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Do vs don't — same goal, better task</a:t>
            </a:r>
            <a:endParaRPr lang="en-US" sz="2800" dirty="0"/>
          </a:p>
        </p:txBody>
      </p:sp>
      <p:sp>
        <p:nvSpPr>
          <p:cNvPr id="4" name="Text 2"/>
          <p:cNvSpPr txBox="1"/>
          <p:nvPr/>
        </p:nvSpPr>
        <p:spPr>
          <a:xfrm>
            <a:off x="457200" y="1097280"/>
            <a:ext cx="3931920" cy="320040"/>
          </a:xfrm>
          <a:prstGeom prst="rect">
            <a:avLst/>
          </a:prstGeom>
          <a:noFill/>
          <a:ln/>
        </p:spPr>
        <p:txBody>
          <a:bodyPr wrap="square" lIns="0" tIns="0" rIns="0" bIns="0" rtlCol="0" anchor="t"/>
          <a:lstStyle/>
          <a:p>
            <a:pPr indent="0" marL="0">
              <a:buNone/>
            </a:pPr>
            <a:r>
              <a:rPr lang="en-US" sz="1600" b="1" dirty="0">
                <a:solidFill>
                  <a:srgbClr val="D92D27"/>
                </a:solidFill>
                <a:latin typeface="Calibri" pitchFamily="34" charset="0"/>
                <a:ea typeface="Calibri" pitchFamily="34" charset="-122"/>
                <a:cs typeface="Calibri" pitchFamily="34" charset="-120"/>
              </a:rPr>
              <a:t>✗  Don't</a:t>
            </a:r>
            <a:endParaRPr lang="en-US" sz="1600" dirty="0"/>
          </a:p>
        </p:txBody>
      </p:sp>
      <p:sp>
        <p:nvSpPr>
          <p:cNvPr id="5" name="Shape 3"/>
          <p:cNvSpPr/>
          <p:nvPr/>
        </p:nvSpPr>
        <p:spPr>
          <a:xfrm>
            <a:off x="457200" y="1463040"/>
            <a:ext cx="3931920" cy="2514600"/>
          </a:xfrm>
          <a:prstGeom prst="roundRect">
            <a:avLst>
              <a:gd name="adj" fmla="val 2182"/>
            </a:avLst>
          </a:prstGeom>
          <a:solidFill>
            <a:srgbClr val="1E2229"/>
          </a:solidFill>
          <a:ln w="12700">
            <a:solidFill>
              <a:srgbClr val="1E2229"/>
            </a:solidFill>
            <a:prstDash val="solid"/>
          </a:ln>
        </p:spPr>
      </p:sp>
      <p:sp>
        <p:nvSpPr>
          <p:cNvPr id="6" name="Text 4"/>
          <p:cNvSpPr txBox="1"/>
          <p:nvPr/>
        </p:nvSpPr>
        <p:spPr>
          <a:xfrm>
            <a:off x="594360" y="1572768"/>
            <a:ext cx="3657600" cy="2295144"/>
          </a:xfrm>
          <a:prstGeom prst="rect">
            <a:avLst/>
          </a:prstGeom>
          <a:noFill/>
          <a:ln/>
        </p:spPr>
        <p:txBody>
          <a:bodyPr wrap="square" lIns="0" tIns="0" rIns="0" bIns="0" rtlCol="0" anchor="t"/>
          <a:lstStyle/>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1000" dirty="0">
                <a:solidFill>
                  <a:srgbClr val="7EC8E3"/>
                </a:solidFill>
                <a:latin typeface="Courier New" pitchFamily="34" charset="0"/>
                <a:ea typeface="Courier New" pitchFamily="34" charset="-122"/>
                <a:cs typeface="Courier New" pitchFamily="34" charset="-120"/>
              </a:rPr>
              <a:t>shell:</a:t>
            </a:r>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apt-get install -y nginx</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1000" dirty="0">
                <a:solidFill>
                  <a:srgbClr val="7EC8E3"/>
                </a:solidFill>
                <a:latin typeface="Courier New" pitchFamily="34" charset="0"/>
                <a:ea typeface="Courier New" pitchFamily="34" charset="-122"/>
                <a:cs typeface="Courier New" pitchFamily="34" charset="-120"/>
              </a:rPr>
              <a:t>shell:</a:t>
            </a:r>
            <a:pPr indent="0" marL="0">
              <a:lnSpc>
                <a:spcPct val="100000"/>
              </a:lnSpc>
              <a:buNone/>
            </a:pPr>
            <a:r>
              <a:rPr lang="en-US" sz="1000" dirty="0">
                <a:solidFill>
                  <a:srgbClr val="F2C67C"/>
                </a:solidFill>
                <a:latin typeface="Courier New" pitchFamily="34" charset="0"/>
                <a:ea typeface="Courier New" pitchFamily="34" charset="-122"/>
                <a:cs typeface="Courier New" pitchFamily="34" charset="-120"/>
              </a:rPr>
              <a:t> echo "ServerName x" &gt;&gt; /etc/app.conf</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1000" dirty="0">
                <a:solidFill>
                  <a:srgbClr val="7EC8E3"/>
                </a:solidFill>
                <a:latin typeface="Courier New" pitchFamily="34" charset="0"/>
                <a:ea typeface="Courier New" pitchFamily="34" charset="-122"/>
                <a:cs typeface="Courier New" pitchFamily="34" charset="-120"/>
              </a:rPr>
              <a:t>copy:</a:t>
            </a:r>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src=db.conf dest=/etc/</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1000" dirty="0">
                <a:solidFill>
                  <a:srgbClr val="8B949E"/>
                </a:solidFill>
                <a:latin typeface="Courier New" pitchFamily="34" charset="0"/>
                <a:ea typeface="Courier New" pitchFamily="34" charset="-122"/>
                <a:cs typeface="Courier New" pitchFamily="34" charset="-120"/>
              </a:rPr>
              <a:t># password inside db.conf in Git</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1000" dirty="0">
                <a:solidFill>
                  <a:srgbClr val="7EC8E3"/>
                </a:solidFill>
                <a:latin typeface="Courier New" pitchFamily="34" charset="0"/>
                <a:ea typeface="Courier New" pitchFamily="34" charset="-122"/>
                <a:cs typeface="Courier New" pitchFamily="34" charset="-120"/>
              </a:rPr>
              <a:t>hosts:</a:t>
            </a:r>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all</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1000" dirty="0">
                <a:solidFill>
                  <a:srgbClr val="7EC8E3"/>
                </a:solidFill>
                <a:latin typeface="Courier New" pitchFamily="34" charset="0"/>
                <a:ea typeface="Courier New" pitchFamily="34" charset="-122"/>
                <a:cs typeface="Courier New" pitchFamily="34" charset="-120"/>
              </a:rPr>
              <a:t>become:</a:t>
            </a:r>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true    </a:t>
            </a:r>
            <a:pPr indent="0" marL="0">
              <a:lnSpc>
                <a:spcPct val="100000"/>
              </a:lnSpc>
              <a:buNone/>
            </a:pPr>
            <a:r>
              <a:rPr lang="en-US" sz="1000" dirty="0">
                <a:solidFill>
                  <a:srgbClr val="8B949E"/>
                </a:solidFill>
                <a:latin typeface="Courier New" pitchFamily="34" charset="0"/>
                <a:ea typeface="Courier New" pitchFamily="34" charset="-122"/>
                <a:cs typeface="Courier New" pitchFamily="34" charset="-120"/>
              </a:rPr>
              <a:t># every task as root</a:t>
            </a:r>
            <a:endParaRPr lang="en-US" sz="1000" dirty="0"/>
          </a:p>
        </p:txBody>
      </p:sp>
      <p:sp>
        <p:nvSpPr>
          <p:cNvPr id="7" name="Text 5"/>
          <p:cNvSpPr txBox="1"/>
          <p:nvPr/>
        </p:nvSpPr>
        <p:spPr>
          <a:xfrm>
            <a:off x="4754880" y="1097280"/>
            <a:ext cx="3931920" cy="320040"/>
          </a:xfrm>
          <a:prstGeom prst="rect">
            <a:avLst/>
          </a:prstGeom>
          <a:noFill/>
          <a:ln/>
        </p:spPr>
        <p:txBody>
          <a:bodyPr wrap="square" lIns="0" tIns="0" rIns="0" bIns="0" rtlCol="0" anchor="t"/>
          <a:lstStyle/>
          <a:p>
            <a:pPr indent="0" marL="0">
              <a:buNone/>
            </a:pPr>
            <a:r>
              <a:rPr lang="en-US" sz="1600" b="1" dirty="0">
                <a:solidFill>
                  <a:srgbClr val="2E8B57"/>
                </a:solidFill>
                <a:latin typeface="Calibri" pitchFamily="34" charset="0"/>
                <a:ea typeface="Calibri" pitchFamily="34" charset="-122"/>
                <a:cs typeface="Calibri" pitchFamily="34" charset="-120"/>
              </a:rPr>
              <a:t>✓  Do</a:t>
            </a:r>
            <a:endParaRPr lang="en-US" sz="1600" dirty="0"/>
          </a:p>
        </p:txBody>
      </p:sp>
      <p:sp>
        <p:nvSpPr>
          <p:cNvPr id="8" name="Shape 6"/>
          <p:cNvSpPr/>
          <p:nvPr/>
        </p:nvSpPr>
        <p:spPr>
          <a:xfrm>
            <a:off x="4754880" y="1463040"/>
            <a:ext cx="3931920" cy="2514600"/>
          </a:xfrm>
          <a:prstGeom prst="roundRect">
            <a:avLst>
              <a:gd name="adj" fmla="val 2182"/>
            </a:avLst>
          </a:prstGeom>
          <a:solidFill>
            <a:srgbClr val="1E2229"/>
          </a:solidFill>
          <a:ln w="12700">
            <a:solidFill>
              <a:srgbClr val="1E2229"/>
            </a:solidFill>
            <a:prstDash val="solid"/>
          </a:ln>
        </p:spPr>
      </p:sp>
      <p:sp>
        <p:nvSpPr>
          <p:cNvPr id="9" name="Text 7"/>
          <p:cNvSpPr txBox="1"/>
          <p:nvPr/>
        </p:nvSpPr>
        <p:spPr>
          <a:xfrm>
            <a:off x="4892040" y="1572768"/>
            <a:ext cx="3657600" cy="2295144"/>
          </a:xfrm>
          <a:prstGeom prst="rect">
            <a:avLst/>
          </a:prstGeom>
          <a:noFill/>
          <a:ln/>
        </p:spPr>
        <p:txBody>
          <a:bodyPr wrap="square" lIns="0" tIns="0" rIns="0" bIns="0" rtlCol="0" anchor="t"/>
          <a:lstStyle/>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1000" dirty="0">
                <a:solidFill>
                  <a:srgbClr val="7EC8E3"/>
                </a:solidFill>
                <a:latin typeface="Courier New" pitchFamily="34" charset="0"/>
                <a:ea typeface="Courier New" pitchFamily="34" charset="-122"/>
                <a:cs typeface="Courier New" pitchFamily="34" charset="-120"/>
              </a:rPr>
              <a:t>name:</a:t>
            </a:r>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Install nginx</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1000" dirty="0">
                <a:solidFill>
                  <a:srgbClr val="7EC8E3"/>
                </a:solidFill>
                <a:latin typeface="Courier New" pitchFamily="34" charset="0"/>
                <a:ea typeface="Courier New" pitchFamily="34" charset="-122"/>
                <a:cs typeface="Courier New" pitchFamily="34" charset="-120"/>
              </a:rPr>
              <a:t>ansible.builtin.apt:</a:t>
            </a:r>
            <a:pPr indent="0" marL="0">
              <a:lnSpc>
                <a:spcPct val="100000"/>
              </a:lnSpc>
              <a:buNone/>
            </a:pP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1000" dirty="0">
                <a:solidFill>
                  <a:srgbClr val="7EC8E3"/>
                </a:solidFill>
                <a:latin typeface="Courier New" pitchFamily="34" charset="0"/>
                <a:ea typeface="Courier New" pitchFamily="34" charset="-122"/>
                <a:cs typeface="Courier New" pitchFamily="34" charset="-120"/>
              </a:rPr>
              <a:t>name:</a:t>
            </a:r>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nginx</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1000" dirty="0">
                <a:solidFill>
                  <a:srgbClr val="7EC8E3"/>
                </a:solidFill>
                <a:latin typeface="Courier New" pitchFamily="34" charset="0"/>
                <a:ea typeface="Courier New" pitchFamily="34" charset="-122"/>
                <a:cs typeface="Courier New" pitchFamily="34" charset="-120"/>
              </a:rPr>
              <a:t>state:</a:t>
            </a:r>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present</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1000" dirty="0">
                <a:solidFill>
                  <a:srgbClr val="7EC8E3"/>
                </a:solidFill>
                <a:latin typeface="Courier New" pitchFamily="34" charset="0"/>
                <a:ea typeface="Courier New" pitchFamily="34" charset="-122"/>
                <a:cs typeface="Courier New" pitchFamily="34" charset="-120"/>
              </a:rPr>
              <a:t>name:</a:t>
            </a:r>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Set ServerName once</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1000" dirty="0">
                <a:solidFill>
                  <a:srgbClr val="7EC8E3"/>
                </a:solidFill>
                <a:latin typeface="Courier New" pitchFamily="34" charset="0"/>
                <a:ea typeface="Courier New" pitchFamily="34" charset="-122"/>
                <a:cs typeface="Courier New" pitchFamily="34" charset="-120"/>
              </a:rPr>
              <a:t>ansible.builtin.lineinfile:</a:t>
            </a:r>
            <a:pPr indent="0" marL="0">
              <a:lnSpc>
                <a:spcPct val="100000"/>
              </a:lnSpc>
              <a:buNone/>
            </a:pP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1000" dirty="0">
                <a:solidFill>
                  <a:srgbClr val="7EC8E3"/>
                </a:solidFill>
                <a:latin typeface="Courier New" pitchFamily="34" charset="0"/>
                <a:ea typeface="Courier New" pitchFamily="34" charset="-122"/>
                <a:cs typeface="Courier New" pitchFamily="34" charset="-120"/>
              </a:rPr>
              <a:t>path:</a:t>
            </a:r>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/etc/app.conf</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1000" dirty="0">
                <a:solidFill>
                  <a:srgbClr val="7EC8E3"/>
                </a:solidFill>
                <a:latin typeface="Courier New" pitchFamily="34" charset="0"/>
                <a:ea typeface="Courier New" pitchFamily="34" charset="-122"/>
                <a:cs typeface="Courier New" pitchFamily="34" charset="-120"/>
              </a:rPr>
              <a:t>line:</a:t>
            </a:r>
            <a:pPr indent="0" marL="0">
              <a:lnSpc>
                <a:spcPct val="100000"/>
              </a:lnSpc>
              <a:buNone/>
            </a:pPr>
            <a:r>
              <a:rPr lang="en-US" sz="1000" dirty="0">
                <a:solidFill>
                  <a:srgbClr val="F2C67C"/>
                </a:solidFill>
                <a:latin typeface="Courier New" pitchFamily="34" charset="0"/>
                <a:ea typeface="Courier New" pitchFamily="34" charset="-122"/>
                <a:cs typeface="Courier New" pitchFamily="34" charset="-120"/>
              </a:rPr>
              <a:t> "ServerName x"</a:t>
            </a:r>
            <a:endParaRPr lang="en-US" sz="1000" dirty="0"/>
          </a:p>
          <a:p>
            <a:pPr indent="0" marL="0">
              <a:lnSpc>
                <a:spcPct val="100000"/>
              </a:lnSpc>
              <a:buNone/>
            </a:pPr>
            <a:r>
              <a:rPr lang="en-US" sz="1000" dirty="0">
                <a:solidFill>
                  <a:srgbClr val="E6E8EB"/>
                </a:solidFill>
                <a:latin typeface="Courier New" pitchFamily="34" charset="0"/>
                <a:ea typeface="Courier New" pitchFamily="34" charset="-122"/>
                <a:cs typeface="Courier New" pitchFamily="34" charset="-120"/>
              </a:rPr>
              <a:t> </a:t>
            </a:r>
            <a:pPr indent="0" marL="0">
              <a:lnSpc>
                <a:spcPct val="100000"/>
              </a:lnSpc>
              <a:buNone/>
            </a:pPr>
            <a:r>
              <a:rPr lang="en-US" sz="1000" dirty="0">
                <a:solidFill>
                  <a:srgbClr val="8B949E"/>
                </a:solidFill>
                <a:latin typeface="Courier New" pitchFamily="34" charset="0"/>
                <a:ea typeface="Courier New" pitchFamily="34" charset="-122"/>
                <a:cs typeface="Courier New" pitchFamily="34" charset="-120"/>
              </a:rPr>
              <a:t># secrets -&gt; vault, become per task</a:t>
            </a:r>
            <a:endParaRPr lang="en-US" sz="1000" dirty="0"/>
          </a:p>
        </p:txBody>
      </p:sp>
      <p:sp>
        <p:nvSpPr>
          <p:cNvPr id="10" name="Shape 8"/>
          <p:cNvSpPr/>
          <p:nvPr/>
        </p:nvSpPr>
        <p:spPr>
          <a:xfrm>
            <a:off x="457200" y="4114800"/>
            <a:ext cx="8229600" cy="502920"/>
          </a:xfrm>
          <a:prstGeom prst="roundRect">
            <a:avLst>
              <a:gd name="adj" fmla="val 14545"/>
            </a:avLst>
          </a:prstGeom>
          <a:solidFill>
            <a:srgbClr val="F2F3F5"/>
          </a:solidFill>
          <a:ln w="12700">
            <a:solidFill>
              <a:srgbClr val="F2F3F5"/>
            </a:solidFill>
            <a:prstDash val="solid"/>
          </a:ln>
        </p:spPr>
      </p:sp>
      <p:sp>
        <p:nvSpPr>
          <p:cNvPr id="11" name="Text 9"/>
          <p:cNvSpPr txBox="1"/>
          <p:nvPr/>
        </p:nvSpPr>
        <p:spPr>
          <a:xfrm>
            <a:off x="640080" y="4114800"/>
            <a:ext cx="7863840" cy="502920"/>
          </a:xfrm>
          <a:prstGeom prst="rect">
            <a:avLst/>
          </a:prstGeom>
          <a:noFill/>
          <a:ln/>
        </p:spPr>
        <p:txBody>
          <a:bodyPr wrap="square" lIns="0" tIns="0" rIns="0" bIns="0" rtlCol="0" anchor="ctr"/>
          <a:lstStyle/>
          <a:p>
            <a:pPr indent="0" marL="0">
              <a:buNone/>
            </a:pPr>
            <a:r>
              <a:rPr lang="en-US" sz="1200" dirty="0">
                <a:solidFill>
                  <a:srgbClr val="1F2328"/>
                </a:solidFill>
                <a:latin typeface="Calibri" pitchFamily="34" charset="0"/>
                <a:ea typeface="Calibri" pitchFamily="34" charset="-122"/>
                <a:cs typeface="Calibri" pitchFamily="34" charset="-120"/>
              </a:rPr>
              <a:t>The shell 'echo &gt;&gt;' appends a new line on every run — the lineinfile version is idempotent.</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9AA1AA"/>
                </a:solidFill>
                <a:latin typeface="Calibri" pitchFamily="34" charset="0"/>
                <a:ea typeface="Calibri" pitchFamily="34" charset="-122"/>
                <a:cs typeface="Calibri" pitchFamily="34" charset="-120"/>
              </a:rPr>
              <a:t>42</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Recap — what you learned today</a:t>
            </a:r>
            <a:endParaRPr lang="en-US" sz="2800" dirty="0"/>
          </a:p>
        </p:txBody>
      </p:sp>
      <p:sp>
        <p:nvSpPr>
          <p:cNvPr id="4" name="Shape 2"/>
          <p:cNvSpPr/>
          <p:nvPr/>
        </p:nvSpPr>
        <p:spPr>
          <a:xfrm>
            <a:off x="457200" y="1069848"/>
            <a:ext cx="310896" cy="310896"/>
          </a:xfrm>
          <a:prstGeom prst="ellipse">
            <a:avLst/>
          </a:prstGeom>
          <a:solidFill>
            <a:srgbClr val="2E8B57"/>
          </a:solidFill>
          <a:ln w="12700">
            <a:solidFill>
              <a:srgbClr val="2E8B57"/>
            </a:solidFill>
            <a:prstDash val="solid"/>
          </a:ln>
        </p:spPr>
      </p:sp>
      <p:pic>
        <p:nvPicPr>
          <p:cNvPr id="5" name="Image 0" descr="preencoded.png">    </p:cNvPr>
          <p:cNvPicPr>
            <a:picLocks noChangeAspect="1"/>
          </p:cNvPicPr>
          <p:nvPr/>
        </p:nvPicPr>
        <p:blipFill>
          <a:blip r:embed="rId1"/>
          <a:stretch>
            <a:fillRect/>
          </a:stretch>
        </p:blipFill>
        <p:spPr>
          <a:xfrm>
            <a:off x="530352" y="1143000"/>
            <a:ext cx="164592" cy="164592"/>
          </a:xfrm>
          <a:prstGeom prst="rect">
            <a:avLst/>
          </a:prstGeom>
        </p:spPr>
      </p:pic>
      <p:sp>
        <p:nvSpPr>
          <p:cNvPr id="6" name="Text 3"/>
          <p:cNvSpPr txBox="1"/>
          <p:nvPr/>
        </p:nvSpPr>
        <p:spPr>
          <a:xfrm>
            <a:off x="914400" y="1005840"/>
            <a:ext cx="1737360" cy="438912"/>
          </a:xfrm>
          <a:prstGeom prst="rect">
            <a:avLst/>
          </a:prstGeom>
          <a:noFill/>
          <a:ln/>
        </p:spPr>
        <p:txBody>
          <a:bodyPr wrap="square" lIns="0" tIns="0" rIns="0" bIns="0" rtlCol="0" anchor="ctr"/>
          <a:lstStyle/>
          <a:p>
            <a:pPr indent="0" marL="0">
              <a:buNone/>
            </a:pPr>
            <a:r>
              <a:rPr lang="en-US" sz="1400" b="1" dirty="0">
                <a:solidFill>
                  <a:srgbClr val="1F2328"/>
                </a:solidFill>
                <a:latin typeface="Calibri" pitchFamily="34" charset="0"/>
                <a:ea typeface="Calibri" pitchFamily="34" charset="-122"/>
                <a:cs typeface="Calibri" pitchFamily="34" charset="-120"/>
              </a:rPr>
              <a:t>Ansible</a:t>
            </a:r>
            <a:endParaRPr lang="en-US" sz="1400" dirty="0"/>
          </a:p>
        </p:txBody>
      </p:sp>
      <p:sp>
        <p:nvSpPr>
          <p:cNvPr id="7" name="Text 4"/>
          <p:cNvSpPr txBox="1"/>
          <p:nvPr/>
        </p:nvSpPr>
        <p:spPr>
          <a:xfrm>
            <a:off x="2651760" y="1005840"/>
            <a:ext cx="6035040" cy="438912"/>
          </a:xfrm>
          <a:prstGeom prst="rect">
            <a:avLst/>
          </a:prstGeom>
          <a:noFill/>
          <a:ln/>
        </p:spPr>
        <p:txBody>
          <a:bodyPr wrap="square" lIns="0" tIns="0" rIns="0" bIns="0" rtlCol="0" anchor="ctr"/>
          <a:lstStyle/>
          <a:p>
            <a:pPr indent="0" marL="0">
              <a:buNone/>
            </a:pPr>
            <a:r>
              <a:rPr lang="en-US" sz="1300" dirty="0">
                <a:solidFill>
                  <a:srgbClr val="5B6470"/>
                </a:solidFill>
                <a:latin typeface="Calibri" pitchFamily="34" charset="0"/>
                <a:ea typeface="Calibri" pitchFamily="34" charset="-122"/>
                <a:cs typeface="Calibri" pitchFamily="34" charset="-120"/>
              </a:rPr>
              <a:t>agentless, YAML, push-based automation over SSH/WinRM</a:t>
            </a:r>
            <a:endParaRPr lang="en-US" sz="1300" dirty="0"/>
          </a:p>
        </p:txBody>
      </p:sp>
      <p:sp>
        <p:nvSpPr>
          <p:cNvPr id="8" name="Shape 5"/>
          <p:cNvSpPr/>
          <p:nvPr/>
        </p:nvSpPr>
        <p:spPr>
          <a:xfrm>
            <a:off x="457200" y="1591056"/>
            <a:ext cx="310896" cy="310896"/>
          </a:xfrm>
          <a:prstGeom prst="ellipse">
            <a:avLst/>
          </a:prstGeom>
          <a:solidFill>
            <a:srgbClr val="2E8B57"/>
          </a:solidFill>
          <a:ln w="12700">
            <a:solidFill>
              <a:srgbClr val="2E8B57"/>
            </a:solidFill>
            <a:prstDash val="solid"/>
          </a:ln>
        </p:spPr>
      </p:sp>
      <p:pic>
        <p:nvPicPr>
          <p:cNvPr id="9" name="Image 1" descr="preencoded.png">    </p:cNvPr>
          <p:cNvPicPr>
            <a:picLocks noChangeAspect="1"/>
          </p:cNvPicPr>
          <p:nvPr/>
        </p:nvPicPr>
        <p:blipFill>
          <a:blip r:embed="rId2"/>
          <a:stretch>
            <a:fillRect/>
          </a:stretch>
        </p:blipFill>
        <p:spPr>
          <a:xfrm>
            <a:off x="530352" y="1664208"/>
            <a:ext cx="164592" cy="164592"/>
          </a:xfrm>
          <a:prstGeom prst="rect">
            <a:avLst/>
          </a:prstGeom>
        </p:spPr>
      </p:pic>
      <p:sp>
        <p:nvSpPr>
          <p:cNvPr id="10" name="Text 6"/>
          <p:cNvSpPr txBox="1"/>
          <p:nvPr/>
        </p:nvSpPr>
        <p:spPr>
          <a:xfrm>
            <a:off x="914400" y="1527048"/>
            <a:ext cx="1737360" cy="438912"/>
          </a:xfrm>
          <a:prstGeom prst="rect">
            <a:avLst/>
          </a:prstGeom>
          <a:noFill/>
          <a:ln/>
        </p:spPr>
        <p:txBody>
          <a:bodyPr wrap="square" lIns="0" tIns="0" rIns="0" bIns="0" rtlCol="0" anchor="ctr"/>
          <a:lstStyle/>
          <a:p>
            <a:pPr indent="0" marL="0">
              <a:buNone/>
            </a:pPr>
            <a:r>
              <a:rPr lang="en-US" sz="1400" b="1" dirty="0">
                <a:solidFill>
                  <a:srgbClr val="1F2328"/>
                </a:solidFill>
                <a:latin typeface="Calibri" pitchFamily="34" charset="0"/>
                <a:ea typeface="Calibri" pitchFamily="34" charset="-122"/>
                <a:cs typeface="Calibri" pitchFamily="34" charset="-120"/>
              </a:rPr>
              <a:t>Vs others</a:t>
            </a:r>
            <a:endParaRPr lang="en-US" sz="1400" dirty="0"/>
          </a:p>
        </p:txBody>
      </p:sp>
      <p:sp>
        <p:nvSpPr>
          <p:cNvPr id="11" name="Text 7"/>
          <p:cNvSpPr txBox="1"/>
          <p:nvPr/>
        </p:nvSpPr>
        <p:spPr>
          <a:xfrm>
            <a:off x="2651760" y="1527048"/>
            <a:ext cx="6035040" cy="438912"/>
          </a:xfrm>
          <a:prstGeom prst="rect">
            <a:avLst/>
          </a:prstGeom>
          <a:noFill/>
          <a:ln/>
        </p:spPr>
        <p:txBody>
          <a:bodyPr wrap="square" lIns="0" tIns="0" rIns="0" bIns="0" rtlCol="0" anchor="ctr"/>
          <a:lstStyle/>
          <a:p>
            <a:pPr indent="0" marL="0">
              <a:buNone/>
            </a:pPr>
            <a:r>
              <a:rPr lang="en-US" sz="1300" dirty="0">
                <a:solidFill>
                  <a:srgbClr val="5B6470"/>
                </a:solidFill>
                <a:latin typeface="Calibri" pitchFamily="34" charset="0"/>
                <a:ea typeface="Calibri" pitchFamily="34" charset="-122"/>
                <a:cs typeface="Calibri" pitchFamily="34" charset="-120"/>
              </a:rPr>
              <a:t>Chef/Puppet use agents + pull; Salt uses an event bus</a:t>
            </a:r>
            <a:endParaRPr lang="en-US" sz="1300" dirty="0"/>
          </a:p>
        </p:txBody>
      </p:sp>
      <p:sp>
        <p:nvSpPr>
          <p:cNvPr id="12" name="Shape 8"/>
          <p:cNvSpPr/>
          <p:nvPr/>
        </p:nvSpPr>
        <p:spPr>
          <a:xfrm>
            <a:off x="457200" y="2112264"/>
            <a:ext cx="310896" cy="310896"/>
          </a:xfrm>
          <a:prstGeom prst="ellipse">
            <a:avLst/>
          </a:prstGeom>
          <a:solidFill>
            <a:srgbClr val="2E8B57"/>
          </a:solidFill>
          <a:ln w="12700">
            <a:solidFill>
              <a:srgbClr val="2E8B57"/>
            </a:solidFill>
            <a:prstDash val="solid"/>
          </a:ln>
        </p:spPr>
      </p:sp>
      <p:pic>
        <p:nvPicPr>
          <p:cNvPr id="13" name="Image 2" descr="preencoded.png">    </p:cNvPr>
          <p:cNvPicPr>
            <a:picLocks noChangeAspect="1"/>
          </p:cNvPicPr>
          <p:nvPr/>
        </p:nvPicPr>
        <p:blipFill>
          <a:blip r:embed="rId3"/>
          <a:stretch>
            <a:fillRect/>
          </a:stretch>
        </p:blipFill>
        <p:spPr>
          <a:xfrm>
            <a:off x="530352" y="2185416"/>
            <a:ext cx="164592" cy="164592"/>
          </a:xfrm>
          <a:prstGeom prst="rect">
            <a:avLst/>
          </a:prstGeom>
        </p:spPr>
      </p:pic>
      <p:sp>
        <p:nvSpPr>
          <p:cNvPr id="14" name="Text 9"/>
          <p:cNvSpPr txBox="1"/>
          <p:nvPr/>
        </p:nvSpPr>
        <p:spPr>
          <a:xfrm>
            <a:off x="914400" y="2048256"/>
            <a:ext cx="1737360" cy="438912"/>
          </a:xfrm>
          <a:prstGeom prst="rect">
            <a:avLst/>
          </a:prstGeom>
          <a:noFill/>
          <a:ln/>
        </p:spPr>
        <p:txBody>
          <a:bodyPr wrap="square" lIns="0" tIns="0" rIns="0" bIns="0" rtlCol="0" anchor="ctr"/>
          <a:lstStyle/>
          <a:p>
            <a:pPr indent="0" marL="0">
              <a:buNone/>
            </a:pPr>
            <a:r>
              <a:rPr lang="en-US" sz="1400" b="1" dirty="0">
                <a:solidFill>
                  <a:srgbClr val="1F2328"/>
                </a:solidFill>
                <a:latin typeface="Calibri" pitchFamily="34" charset="0"/>
                <a:ea typeface="Calibri" pitchFamily="34" charset="-122"/>
                <a:cs typeface="Calibri" pitchFamily="34" charset="-120"/>
              </a:rPr>
              <a:t>Architecture</a:t>
            </a:r>
            <a:endParaRPr lang="en-US" sz="1400" dirty="0"/>
          </a:p>
        </p:txBody>
      </p:sp>
      <p:sp>
        <p:nvSpPr>
          <p:cNvPr id="15" name="Text 10"/>
          <p:cNvSpPr txBox="1"/>
          <p:nvPr/>
        </p:nvSpPr>
        <p:spPr>
          <a:xfrm>
            <a:off x="2651760" y="2048256"/>
            <a:ext cx="6035040" cy="438912"/>
          </a:xfrm>
          <a:prstGeom prst="rect">
            <a:avLst/>
          </a:prstGeom>
          <a:noFill/>
          <a:ln/>
        </p:spPr>
        <p:txBody>
          <a:bodyPr wrap="square" lIns="0" tIns="0" rIns="0" bIns="0" rtlCol="0" anchor="ctr"/>
          <a:lstStyle/>
          <a:p>
            <a:pPr indent="0" marL="0">
              <a:buNone/>
            </a:pPr>
            <a:r>
              <a:rPr lang="en-US" sz="1300" dirty="0">
                <a:solidFill>
                  <a:srgbClr val="5B6470"/>
                </a:solidFill>
                <a:latin typeface="Calibri" pitchFamily="34" charset="0"/>
                <a:ea typeface="Calibri" pitchFamily="34" charset="-122"/>
                <a:cs typeface="Calibri" pitchFamily="34" charset="-120"/>
              </a:rPr>
              <a:t>control node + inventory + playbooks + modules → managed nodes</a:t>
            </a:r>
            <a:endParaRPr lang="en-US" sz="1300" dirty="0"/>
          </a:p>
        </p:txBody>
      </p:sp>
      <p:sp>
        <p:nvSpPr>
          <p:cNvPr id="16" name="Shape 11"/>
          <p:cNvSpPr/>
          <p:nvPr/>
        </p:nvSpPr>
        <p:spPr>
          <a:xfrm>
            <a:off x="457200" y="2633472"/>
            <a:ext cx="310896" cy="310896"/>
          </a:xfrm>
          <a:prstGeom prst="ellipse">
            <a:avLst/>
          </a:prstGeom>
          <a:solidFill>
            <a:srgbClr val="2E8B57"/>
          </a:solidFill>
          <a:ln w="12700">
            <a:solidFill>
              <a:srgbClr val="2E8B57"/>
            </a:solidFill>
            <a:prstDash val="solid"/>
          </a:ln>
        </p:spPr>
      </p:sp>
      <p:pic>
        <p:nvPicPr>
          <p:cNvPr id="17" name="Image 3" descr="preencoded.png">    </p:cNvPr>
          <p:cNvPicPr>
            <a:picLocks noChangeAspect="1"/>
          </p:cNvPicPr>
          <p:nvPr/>
        </p:nvPicPr>
        <p:blipFill>
          <a:blip r:embed="rId4"/>
          <a:stretch>
            <a:fillRect/>
          </a:stretch>
        </p:blipFill>
        <p:spPr>
          <a:xfrm>
            <a:off x="530352" y="2706624"/>
            <a:ext cx="164592" cy="164592"/>
          </a:xfrm>
          <a:prstGeom prst="rect">
            <a:avLst/>
          </a:prstGeom>
        </p:spPr>
      </p:pic>
      <p:sp>
        <p:nvSpPr>
          <p:cNvPr id="18" name="Text 12"/>
          <p:cNvSpPr txBox="1"/>
          <p:nvPr/>
        </p:nvSpPr>
        <p:spPr>
          <a:xfrm>
            <a:off x="914400" y="2569464"/>
            <a:ext cx="1737360" cy="438912"/>
          </a:xfrm>
          <a:prstGeom prst="rect">
            <a:avLst/>
          </a:prstGeom>
          <a:noFill/>
          <a:ln/>
        </p:spPr>
        <p:txBody>
          <a:bodyPr wrap="square" lIns="0" tIns="0" rIns="0" bIns="0" rtlCol="0" anchor="ctr"/>
          <a:lstStyle/>
          <a:p>
            <a:pPr indent="0" marL="0">
              <a:buNone/>
            </a:pPr>
            <a:r>
              <a:rPr lang="en-US" sz="1400" b="1" dirty="0">
                <a:solidFill>
                  <a:srgbClr val="1F2328"/>
                </a:solidFill>
                <a:latin typeface="Calibri" pitchFamily="34" charset="0"/>
                <a:ea typeface="Calibri" pitchFamily="34" charset="-122"/>
                <a:cs typeface="Calibri" pitchFamily="34" charset="-120"/>
              </a:rPr>
              <a:t>Playbooks</a:t>
            </a:r>
            <a:endParaRPr lang="en-US" sz="1400" dirty="0"/>
          </a:p>
        </p:txBody>
      </p:sp>
      <p:sp>
        <p:nvSpPr>
          <p:cNvPr id="19" name="Text 13"/>
          <p:cNvSpPr txBox="1"/>
          <p:nvPr/>
        </p:nvSpPr>
        <p:spPr>
          <a:xfrm>
            <a:off x="2651760" y="2569464"/>
            <a:ext cx="6035040" cy="438912"/>
          </a:xfrm>
          <a:prstGeom prst="rect">
            <a:avLst/>
          </a:prstGeom>
          <a:noFill/>
          <a:ln/>
        </p:spPr>
        <p:txBody>
          <a:bodyPr wrap="square" lIns="0" tIns="0" rIns="0" bIns="0" rtlCol="0" anchor="ctr"/>
          <a:lstStyle/>
          <a:p>
            <a:pPr indent="0" marL="0">
              <a:buNone/>
            </a:pPr>
            <a:r>
              <a:rPr lang="en-US" sz="1300" dirty="0">
                <a:solidFill>
                  <a:srgbClr val="5B6470"/>
                </a:solidFill>
                <a:latin typeface="Calibri" pitchFamily="34" charset="0"/>
                <a:ea typeface="Calibri" pitchFamily="34" charset="-122"/>
                <a:cs typeface="Calibri" pitchFamily="34" charset="-120"/>
              </a:rPr>
              <a:t>playbook → plays → tasks → modules; handlers, vars, roles</a:t>
            </a:r>
            <a:endParaRPr lang="en-US" sz="1300" dirty="0"/>
          </a:p>
        </p:txBody>
      </p:sp>
      <p:sp>
        <p:nvSpPr>
          <p:cNvPr id="20" name="Shape 14"/>
          <p:cNvSpPr/>
          <p:nvPr/>
        </p:nvSpPr>
        <p:spPr>
          <a:xfrm>
            <a:off x="457200" y="3154680"/>
            <a:ext cx="310896" cy="310896"/>
          </a:xfrm>
          <a:prstGeom prst="ellipse">
            <a:avLst/>
          </a:prstGeom>
          <a:solidFill>
            <a:srgbClr val="2E8B57"/>
          </a:solidFill>
          <a:ln w="12700">
            <a:solidFill>
              <a:srgbClr val="2E8B57"/>
            </a:solidFill>
            <a:prstDash val="solid"/>
          </a:ln>
        </p:spPr>
      </p:sp>
      <p:pic>
        <p:nvPicPr>
          <p:cNvPr id="21" name="Image 4" descr="preencoded.png">    </p:cNvPr>
          <p:cNvPicPr>
            <a:picLocks noChangeAspect="1"/>
          </p:cNvPicPr>
          <p:nvPr/>
        </p:nvPicPr>
        <p:blipFill>
          <a:blip r:embed="rId5"/>
          <a:stretch>
            <a:fillRect/>
          </a:stretch>
        </p:blipFill>
        <p:spPr>
          <a:xfrm>
            <a:off x="530352" y="3227832"/>
            <a:ext cx="164592" cy="164592"/>
          </a:xfrm>
          <a:prstGeom prst="rect">
            <a:avLst/>
          </a:prstGeom>
        </p:spPr>
      </p:pic>
      <p:sp>
        <p:nvSpPr>
          <p:cNvPr id="22" name="Text 15"/>
          <p:cNvSpPr txBox="1"/>
          <p:nvPr/>
        </p:nvSpPr>
        <p:spPr>
          <a:xfrm>
            <a:off x="914400" y="3090672"/>
            <a:ext cx="1737360" cy="438912"/>
          </a:xfrm>
          <a:prstGeom prst="rect">
            <a:avLst/>
          </a:prstGeom>
          <a:noFill/>
          <a:ln/>
        </p:spPr>
        <p:txBody>
          <a:bodyPr wrap="square" lIns="0" tIns="0" rIns="0" bIns="0" rtlCol="0" anchor="ctr"/>
          <a:lstStyle/>
          <a:p>
            <a:pPr indent="0" marL="0">
              <a:buNone/>
            </a:pPr>
            <a:r>
              <a:rPr lang="en-US" sz="1400" b="1" dirty="0">
                <a:solidFill>
                  <a:srgbClr val="1F2328"/>
                </a:solidFill>
                <a:latin typeface="Calibri" pitchFamily="34" charset="0"/>
                <a:ea typeface="Calibri" pitchFamily="34" charset="-122"/>
                <a:cs typeface="Calibri" pitchFamily="34" charset="-120"/>
              </a:rPr>
              <a:t>Authentication</a:t>
            </a:r>
            <a:endParaRPr lang="en-US" sz="1400" dirty="0"/>
          </a:p>
        </p:txBody>
      </p:sp>
      <p:sp>
        <p:nvSpPr>
          <p:cNvPr id="23" name="Text 16"/>
          <p:cNvSpPr txBox="1"/>
          <p:nvPr/>
        </p:nvSpPr>
        <p:spPr>
          <a:xfrm>
            <a:off x="2651760" y="3090672"/>
            <a:ext cx="6035040" cy="438912"/>
          </a:xfrm>
          <a:prstGeom prst="rect">
            <a:avLst/>
          </a:prstGeom>
          <a:noFill/>
          <a:ln/>
        </p:spPr>
        <p:txBody>
          <a:bodyPr wrap="square" lIns="0" tIns="0" rIns="0" bIns="0" rtlCol="0" anchor="ctr"/>
          <a:lstStyle/>
          <a:p>
            <a:pPr indent="0" marL="0">
              <a:buNone/>
            </a:pPr>
            <a:r>
              <a:rPr lang="en-US" sz="1300" dirty="0">
                <a:solidFill>
                  <a:srgbClr val="5B6470"/>
                </a:solidFill>
                <a:latin typeface="Calibri" pitchFamily="34" charset="0"/>
                <a:ea typeface="Calibri" pitchFamily="34" charset="-122"/>
                <a:cs typeface="Calibri" pitchFamily="34" charset="-120"/>
              </a:rPr>
              <a:t>SSH keys to connect, become for root, Vault for secrets</a:t>
            </a:r>
            <a:endParaRPr lang="en-US" sz="1300" dirty="0"/>
          </a:p>
        </p:txBody>
      </p:sp>
      <p:sp>
        <p:nvSpPr>
          <p:cNvPr id="24" name="Shape 17"/>
          <p:cNvSpPr/>
          <p:nvPr/>
        </p:nvSpPr>
        <p:spPr>
          <a:xfrm>
            <a:off x="457200" y="3675888"/>
            <a:ext cx="310896" cy="310896"/>
          </a:xfrm>
          <a:prstGeom prst="ellipse">
            <a:avLst/>
          </a:prstGeom>
          <a:solidFill>
            <a:srgbClr val="2E8B57"/>
          </a:solidFill>
          <a:ln w="12700">
            <a:solidFill>
              <a:srgbClr val="2E8B57"/>
            </a:solidFill>
            <a:prstDash val="solid"/>
          </a:ln>
        </p:spPr>
      </p:sp>
      <p:pic>
        <p:nvPicPr>
          <p:cNvPr id="25" name="Image 5" descr="preencoded.png">    </p:cNvPr>
          <p:cNvPicPr>
            <a:picLocks noChangeAspect="1"/>
          </p:cNvPicPr>
          <p:nvPr/>
        </p:nvPicPr>
        <p:blipFill>
          <a:blip r:embed="rId6"/>
          <a:stretch>
            <a:fillRect/>
          </a:stretch>
        </p:blipFill>
        <p:spPr>
          <a:xfrm>
            <a:off x="530352" y="3749040"/>
            <a:ext cx="164592" cy="164592"/>
          </a:xfrm>
          <a:prstGeom prst="rect">
            <a:avLst/>
          </a:prstGeom>
        </p:spPr>
      </p:pic>
      <p:sp>
        <p:nvSpPr>
          <p:cNvPr id="26" name="Text 18"/>
          <p:cNvSpPr txBox="1"/>
          <p:nvPr/>
        </p:nvSpPr>
        <p:spPr>
          <a:xfrm>
            <a:off x="914400" y="3611880"/>
            <a:ext cx="1737360" cy="438912"/>
          </a:xfrm>
          <a:prstGeom prst="rect">
            <a:avLst/>
          </a:prstGeom>
          <a:noFill/>
          <a:ln/>
        </p:spPr>
        <p:txBody>
          <a:bodyPr wrap="square" lIns="0" tIns="0" rIns="0" bIns="0" rtlCol="0" anchor="ctr"/>
          <a:lstStyle/>
          <a:p>
            <a:pPr indent="0" marL="0">
              <a:buNone/>
            </a:pPr>
            <a:r>
              <a:rPr lang="en-US" sz="1400" b="1" dirty="0">
                <a:solidFill>
                  <a:srgbClr val="1F2328"/>
                </a:solidFill>
                <a:latin typeface="Calibri" pitchFamily="34" charset="0"/>
                <a:ea typeface="Calibri" pitchFamily="34" charset="-122"/>
                <a:cs typeface="Calibri" pitchFamily="34" charset="-120"/>
              </a:rPr>
              <a:t>Modules</a:t>
            </a:r>
            <a:endParaRPr lang="en-US" sz="1400" dirty="0"/>
          </a:p>
        </p:txBody>
      </p:sp>
      <p:sp>
        <p:nvSpPr>
          <p:cNvPr id="27" name="Text 19"/>
          <p:cNvSpPr txBox="1"/>
          <p:nvPr/>
        </p:nvSpPr>
        <p:spPr>
          <a:xfrm>
            <a:off x="2651760" y="3611880"/>
            <a:ext cx="6035040" cy="438912"/>
          </a:xfrm>
          <a:prstGeom prst="rect">
            <a:avLst/>
          </a:prstGeom>
          <a:noFill/>
          <a:ln/>
        </p:spPr>
        <p:txBody>
          <a:bodyPr wrap="square" lIns="0" tIns="0" rIns="0" bIns="0" rtlCol="0" anchor="ctr"/>
          <a:lstStyle/>
          <a:p>
            <a:pPr indent="0" marL="0">
              <a:buNone/>
            </a:pPr>
            <a:r>
              <a:rPr lang="en-US" sz="1300" dirty="0">
                <a:solidFill>
                  <a:srgbClr val="5B6470"/>
                </a:solidFill>
                <a:latin typeface="Calibri" pitchFamily="34" charset="0"/>
                <a:ea typeface="Calibri" pitchFamily="34" charset="-122"/>
                <a:cs typeface="Calibri" pitchFamily="34" charset="-120"/>
              </a:rPr>
              <a:t>ad-hoc for one-offs; dedicated modules over shell; ansible-doc</a:t>
            </a:r>
            <a:endParaRPr lang="en-US" sz="1300" dirty="0"/>
          </a:p>
        </p:txBody>
      </p:sp>
      <p:sp>
        <p:nvSpPr>
          <p:cNvPr id="28" name="Shape 20"/>
          <p:cNvSpPr/>
          <p:nvPr/>
        </p:nvSpPr>
        <p:spPr>
          <a:xfrm>
            <a:off x="457200" y="4197096"/>
            <a:ext cx="310896" cy="310896"/>
          </a:xfrm>
          <a:prstGeom prst="ellipse">
            <a:avLst/>
          </a:prstGeom>
          <a:solidFill>
            <a:srgbClr val="2E8B57"/>
          </a:solidFill>
          <a:ln w="12700">
            <a:solidFill>
              <a:srgbClr val="2E8B57"/>
            </a:solidFill>
            <a:prstDash val="solid"/>
          </a:ln>
        </p:spPr>
      </p:sp>
      <p:pic>
        <p:nvPicPr>
          <p:cNvPr id="29" name="Image 6" descr="preencoded.png">    </p:cNvPr>
          <p:cNvPicPr>
            <a:picLocks noChangeAspect="1"/>
          </p:cNvPicPr>
          <p:nvPr/>
        </p:nvPicPr>
        <p:blipFill>
          <a:blip r:embed="rId7"/>
          <a:stretch>
            <a:fillRect/>
          </a:stretch>
        </p:blipFill>
        <p:spPr>
          <a:xfrm>
            <a:off x="530352" y="4270248"/>
            <a:ext cx="164592" cy="164592"/>
          </a:xfrm>
          <a:prstGeom prst="rect">
            <a:avLst/>
          </a:prstGeom>
        </p:spPr>
      </p:pic>
      <p:sp>
        <p:nvSpPr>
          <p:cNvPr id="30" name="Text 21"/>
          <p:cNvSpPr txBox="1"/>
          <p:nvPr/>
        </p:nvSpPr>
        <p:spPr>
          <a:xfrm>
            <a:off x="914400" y="4133088"/>
            <a:ext cx="1737360" cy="438912"/>
          </a:xfrm>
          <a:prstGeom prst="rect">
            <a:avLst/>
          </a:prstGeom>
          <a:noFill/>
          <a:ln/>
        </p:spPr>
        <p:txBody>
          <a:bodyPr wrap="square" lIns="0" tIns="0" rIns="0" bIns="0" rtlCol="0" anchor="ctr"/>
          <a:lstStyle/>
          <a:p>
            <a:pPr indent="0" marL="0">
              <a:buNone/>
            </a:pPr>
            <a:r>
              <a:rPr lang="en-US" sz="1400" b="1" dirty="0">
                <a:solidFill>
                  <a:srgbClr val="1F2328"/>
                </a:solidFill>
                <a:latin typeface="Calibri" pitchFamily="34" charset="0"/>
                <a:ea typeface="Calibri" pitchFamily="34" charset="-122"/>
                <a:cs typeface="Calibri" pitchFamily="34" charset="-120"/>
              </a:rPr>
              <a:t>Best practice</a:t>
            </a:r>
            <a:endParaRPr lang="en-US" sz="1400" dirty="0"/>
          </a:p>
        </p:txBody>
      </p:sp>
      <p:sp>
        <p:nvSpPr>
          <p:cNvPr id="31" name="Text 22"/>
          <p:cNvSpPr txBox="1"/>
          <p:nvPr/>
        </p:nvSpPr>
        <p:spPr>
          <a:xfrm>
            <a:off x="2651760" y="4133088"/>
            <a:ext cx="6035040" cy="438912"/>
          </a:xfrm>
          <a:prstGeom prst="rect">
            <a:avLst/>
          </a:prstGeom>
          <a:noFill/>
          <a:ln/>
        </p:spPr>
        <p:txBody>
          <a:bodyPr wrap="square" lIns="0" tIns="0" rIns="0" bIns="0" rtlCol="0" anchor="ctr"/>
          <a:lstStyle/>
          <a:p>
            <a:pPr indent="0" marL="0">
              <a:buNone/>
            </a:pPr>
            <a:r>
              <a:rPr lang="en-US" sz="1300" dirty="0">
                <a:solidFill>
                  <a:srgbClr val="5B6470"/>
                </a:solidFill>
                <a:latin typeface="Calibri" pitchFamily="34" charset="0"/>
                <a:ea typeface="Calibri" pitchFamily="34" charset="-122"/>
                <a:cs typeface="Calibri" pitchFamily="34" charset="-120"/>
              </a:rPr>
              <a:t>name tasks, FQCN, roles, vault, --check, lint, Git</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6181D"/>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43</a:t>
            </a:r>
            <a:endParaRPr lang="en-US" sz="900" dirty="0"/>
          </a:p>
        </p:txBody>
      </p:sp>
      <p:sp>
        <p:nvSpPr>
          <p:cNvPr id="3" name="Text 1"/>
          <p:cNvSpPr txBox="1"/>
          <p:nvPr/>
        </p:nvSpPr>
        <p:spPr>
          <a:xfrm>
            <a:off x="457200" y="457200"/>
            <a:ext cx="8229600" cy="82296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Questions?</a:t>
            </a:r>
            <a:endParaRPr lang="en-US" sz="4400" dirty="0"/>
          </a:p>
        </p:txBody>
      </p:sp>
      <p:sp>
        <p:nvSpPr>
          <p:cNvPr id="4" name="Text 2"/>
          <p:cNvSpPr txBox="1"/>
          <p:nvPr/>
        </p:nvSpPr>
        <p:spPr>
          <a:xfrm>
            <a:off x="457200" y="1371600"/>
            <a:ext cx="8229600" cy="411480"/>
          </a:xfrm>
          <a:prstGeom prst="rect">
            <a:avLst/>
          </a:prstGeom>
          <a:noFill/>
          <a:ln/>
        </p:spPr>
        <p:txBody>
          <a:bodyPr wrap="square" lIns="0" tIns="0" rIns="0" bIns="0" rtlCol="0" anchor="ctr"/>
          <a:lstStyle/>
          <a:p>
            <a:pPr indent="0" marL="0">
              <a:buNone/>
            </a:pPr>
            <a:r>
              <a:rPr lang="en-US" sz="1800" b="1" dirty="0">
                <a:solidFill>
                  <a:srgbClr val="D92D27"/>
                </a:solidFill>
                <a:latin typeface="Arial" pitchFamily="34" charset="0"/>
                <a:ea typeface="Arial" pitchFamily="34" charset="-122"/>
                <a:cs typeface="Arial" pitchFamily="34" charset="-120"/>
              </a:rPr>
              <a:t>Keep going after today</a:t>
            </a:r>
            <a:endParaRPr lang="en-US" sz="1800" dirty="0"/>
          </a:p>
        </p:txBody>
      </p:sp>
      <p:sp>
        <p:nvSpPr>
          <p:cNvPr id="5" name="Shape 3"/>
          <p:cNvSpPr/>
          <p:nvPr/>
        </p:nvSpPr>
        <p:spPr>
          <a:xfrm>
            <a:off x="457200" y="2057400"/>
            <a:ext cx="548640" cy="548640"/>
          </a:xfrm>
          <a:prstGeom prst="ellipse">
            <a:avLst/>
          </a:prstGeom>
          <a:solidFill>
            <a:srgbClr val="D92D27"/>
          </a:solidFill>
          <a:ln w="12700">
            <a:solidFill>
              <a:srgbClr val="D92D27"/>
            </a:solidFill>
            <a:prstDash val="solid"/>
          </a:ln>
        </p:spPr>
      </p:sp>
      <p:pic>
        <p:nvPicPr>
          <p:cNvPr id="6" name="Image 0" descr="preencoded.png">    </p:cNvPr>
          <p:cNvPicPr>
            <a:picLocks noChangeAspect="1"/>
          </p:cNvPicPr>
          <p:nvPr/>
        </p:nvPicPr>
        <p:blipFill>
          <a:blip r:embed="rId1"/>
          <a:stretch>
            <a:fillRect/>
          </a:stretch>
        </p:blipFill>
        <p:spPr>
          <a:xfrm>
            <a:off x="599846" y="2200046"/>
            <a:ext cx="263347" cy="263347"/>
          </a:xfrm>
          <a:prstGeom prst="rect">
            <a:avLst/>
          </a:prstGeom>
        </p:spPr>
      </p:pic>
      <p:sp>
        <p:nvSpPr>
          <p:cNvPr id="7" name="Text 4"/>
          <p:cNvSpPr txBox="1"/>
          <p:nvPr/>
        </p:nvSpPr>
        <p:spPr>
          <a:xfrm>
            <a:off x="1188720" y="2039112"/>
            <a:ext cx="32918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Finish EXERCISES.md</a:t>
            </a:r>
            <a:endParaRPr lang="en-US" sz="1400" dirty="0"/>
          </a:p>
        </p:txBody>
      </p:sp>
      <p:sp>
        <p:nvSpPr>
          <p:cNvPr id="8" name="Text 5"/>
          <p:cNvSpPr txBox="1"/>
          <p:nvPr/>
        </p:nvSpPr>
        <p:spPr>
          <a:xfrm>
            <a:off x="1188720" y="2359152"/>
            <a:ext cx="3291840" cy="457200"/>
          </a:xfrm>
          <a:prstGeom prst="rect">
            <a:avLst/>
          </a:prstGeom>
          <a:noFill/>
          <a:ln/>
        </p:spPr>
        <p:txBody>
          <a:bodyPr wrap="square" lIns="0" tIns="0" rIns="0" bIns="0" rtlCol="0" anchor="ctr"/>
          <a:lstStyle/>
          <a:p>
            <a:pPr indent="0" marL="0">
              <a:buNone/>
            </a:pPr>
            <a:r>
              <a:rPr lang="en-US" sz="1200" dirty="0">
                <a:solidFill>
                  <a:srgbClr val="B8BEC7"/>
                </a:solidFill>
                <a:latin typeface="Calibri" pitchFamily="34" charset="0"/>
                <a:ea typeface="Calibri" pitchFamily="34" charset="-122"/>
                <a:cs typeface="Calibri" pitchFamily="34" charset="-120"/>
              </a:rPr>
              <a:t>all 7 exercises + stretch goals in your lab</a:t>
            </a:r>
            <a:endParaRPr lang="en-US" sz="1200" dirty="0"/>
          </a:p>
        </p:txBody>
      </p:sp>
      <p:sp>
        <p:nvSpPr>
          <p:cNvPr id="9" name="Shape 6"/>
          <p:cNvSpPr/>
          <p:nvPr/>
        </p:nvSpPr>
        <p:spPr>
          <a:xfrm>
            <a:off x="4663440" y="2057400"/>
            <a:ext cx="548640" cy="548640"/>
          </a:xfrm>
          <a:prstGeom prst="ellipse">
            <a:avLst/>
          </a:prstGeom>
          <a:solidFill>
            <a:srgbClr val="D92D27"/>
          </a:solidFill>
          <a:ln w="12700">
            <a:solidFill>
              <a:srgbClr val="D92D27"/>
            </a:solidFill>
            <a:prstDash val="solid"/>
          </a:ln>
        </p:spPr>
      </p:sp>
      <p:pic>
        <p:nvPicPr>
          <p:cNvPr id="10" name="Image 1" descr="preencoded.png">    </p:cNvPr>
          <p:cNvPicPr>
            <a:picLocks noChangeAspect="1"/>
          </p:cNvPicPr>
          <p:nvPr/>
        </p:nvPicPr>
        <p:blipFill>
          <a:blip r:embed="rId2"/>
          <a:stretch>
            <a:fillRect/>
          </a:stretch>
        </p:blipFill>
        <p:spPr>
          <a:xfrm>
            <a:off x="4806086" y="2200046"/>
            <a:ext cx="263347" cy="263347"/>
          </a:xfrm>
          <a:prstGeom prst="rect">
            <a:avLst/>
          </a:prstGeom>
        </p:spPr>
      </p:pic>
      <p:sp>
        <p:nvSpPr>
          <p:cNvPr id="11" name="Text 7"/>
          <p:cNvSpPr txBox="1"/>
          <p:nvPr/>
        </p:nvSpPr>
        <p:spPr>
          <a:xfrm>
            <a:off x="5394960" y="2039112"/>
            <a:ext cx="32918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Read the docs</a:t>
            </a:r>
            <a:endParaRPr lang="en-US" sz="1400" dirty="0"/>
          </a:p>
        </p:txBody>
      </p:sp>
      <p:sp>
        <p:nvSpPr>
          <p:cNvPr id="12" name="Text 8"/>
          <p:cNvSpPr txBox="1"/>
          <p:nvPr/>
        </p:nvSpPr>
        <p:spPr>
          <a:xfrm>
            <a:off x="5394960" y="2359152"/>
            <a:ext cx="3291840" cy="457200"/>
          </a:xfrm>
          <a:prstGeom prst="rect">
            <a:avLst/>
          </a:prstGeom>
          <a:noFill/>
          <a:ln/>
        </p:spPr>
        <p:txBody>
          <a:bodyPr wrap="square" lIns="0" tIns="0" rIns="0" bIns="0" rtlCol="0" anchor="ctr"/>
          <a:lstStyle/>
          <a:p>
            <a:pPr indent="0" marL="0">
              <a:buNone/>
            </a:pPr>
            <a:r>
              <a:rPr lang="en-US" sz="1200" dirty="0">
                <a:solidFill>
                  <a:srgbClr val="B8BEC7"/>
                </a:solidFill>
                <a:latin typeface="Calibri" pitchFamily="34" charset="0"/>
                <a:ea typeface="Calibri" pitchFamily="34" charset="-122"/>
                <a:cs typeface="Calibri" pitchFamily="34" charset="-120"/>
              </a:rPr>
              <a:t>docs.ansible.com → Getting started, Playbook guide</a:t>
            </a:r>
            <a:endParaRPr lang="en-US" sz="1200" dirty="0"/>
          </a:p>
        </p:txBody>
      </p:sp>
      <p:sp>
        <p:nvSpPr>
          <p:cNvPr id="13" name="Shape 9"/>
          <p:cNvSpPr/>
          <p:nvPr/>
        </p:nvSpPr>
        <p:spPr>
          <a:xfrm>
            <a:off x="457200" y="3291840"/>
            <a:ext cx="548640" cy="548640"/>
          </a:xfrm>
          <a:prstGeom prst="ellipse">
            <a:avLst/>
          </a:prstGeom>
          <a:solidFill>
            <a:srgbClr val="D92D27"/>
          </a:solidFill>
          <a:ln w="12700">
            <a:solidFill>
              <a:srgbClr val="D92D27"/>
            </a:solidFill>
            <a:prstDash val="solid"/>
          </a:ln>
        </p:spPr>
      </p:sp>
      <p:pic>
        <p:nvPicPr>
          <p:cNvPr id="14" name="Image 2" descr="preencoded.png">    </p:cNvPr>
          <p:cNvPicPr>
            <a:picLocks noChangeAspect="1"/>
          </p:cNvPicPr>
          <p:nvPr/>
        </p:nvPicPr>
        <p:blipFill>
          <a:blip r:embed="rId3"/>
          <a:stretch>
            <a:fillRect/>
          </a:stretch>
        </p:blipFill>
        <p:spPr>
          <a:xfrm>
            <a:off x="599846" y="3434486"/>
            <a:ext cx="263347" cy="263347"/>
          </a:xfrm>
          <a:prstGeom prst="rect">
            <a:avLst/>
          </a:prstGeom>
        </p:spPr>
      </p:pic>
      <p:sp>
        <p:nvSpPr>
          <p:cNvPr id="15" name="Text 10"/>
          <p:cNvSpPr txBox="1"/>
          <p:nvPr/>
        </p:nvSpPr>
        <p:spPr>
          <a:xfrm>
            <a:off x="1188720" y="3273552"/>
            <a:ext cx="32918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Explore Galaxy</a:t>
            </a:r>
            <a:endParaRPr lang="en-US" sz="1400" dirty="0"/>
          </a:p>
        </p:txBody>
      </p:sp>
      <p:sp>
        <p:nvSpPr>
          <p:cNvPr id="16" name="Text 11"/>
          <p:cNvSpPr txBox="1"/>
          <p:nvPr/>
        </p:nvSpPr>
        <p:spPr>
          <a:xfrm>
            <a:off x="1188720" y="3593592"/>
            <a:ext cx="3291840" cy="457200"/>
          </a:xfrm>
          <a:prstGeom prst="rect">
            <a:avLst/>
          </a:prstGeom>
          <a:noFill/>
          <a:ln/>
        </p:spPr>
        <p:txBody>
          <a:bodyPr wrap="square" lIns="0" tIns="0" rIns="0" bIns="0" rtlCol="0" anchor="ctr"/>
          <a:lstStyle/>
          <a:p>
            <a:pPr indent="0" marL="0">
              <a:buNone/>
            </a:pPr>
            <a:r>
              <a:rPr lang="en-US" sz="1200" dirty="0">
                <a:solidFill>
                  <a:srgbClr val="B8BEC7"/>
                </a:solidFill>
                <a:latin typeface="Calibri" pitchFamily="34" charset="0"/>
                <a:ea typeface="Calibri" pitchFamily="34" charset="-122"/>
                <a:cs typeface="Calibri" pitchFamily="34" charset="-120"/>
              </a:rPr>
              <a:t>galaxy.ansible.com — roles &amp; collections</a:t>
            </a:r>
            <a:endParaRPr lang="en-US" sz="1200" dirty="0"/>
          </a:p>
        </p:txBody>
      </p:sp>
      <p:sp>
        <p:nvSpPr>
          <p:cNvPr id="17" name="Shape 12"/>
          <p:cNvSpPr/>
          <p:nvPr/>
        </p:nvSpPr>
        <p:spPr>
          <a:xfrm>
            <a:off x="4663440" y="3291840"/>
            <a:ext cx="548640" cy="548640"/>
          </a:xfrm>
          <a:prstGeom prst="ellipse">
            <a:avLst/>
          </a:prstGeom>
          <a:solidFill>
            <a:srgbClr val="D92D27"/>
          </a:solidFill>
          <a:ln w="12700">
            <a:solidFill>
              <a:srgbClr val="D92D27"/>
            </a:solidFill>
            <a:prstDash val="solid"/>
          </a:ln>
        </p:spPr>
      </p:sp>
      <p:pic>
        <p:nvPicPr>
          <p:cNvPr id="18" name="Image 3" descr="preencoded.png">    </p:cNvPr>
          <p:cNvPicPr>
            <a:picLocks noChangeAspect="1"/>
          </p:cNvPicPr>
          <p:nvPr/>
        </p:nvPicPr>
        <p:blipFill>
          <a:blip r:embed="rId4"/>
          <a:stretch>
            <a:fillRect/>
          </a:stretch>
        </p:blipFill>
        <p:spPr>
          <a:xfrm>
            <a:off x="4806086" y="3434486"/>
            <a:ext cx="263347" cy="263347"/>
          </a:xfrm>
          <a:prstGeom prst="rect">
            <a:avLst/>
          </a:prstGeom>
        </p:spPr>
      </p:pic>
      <p:sp>
        <p:nvSpPr>
          <p:cNvPr id="19" name="Text 13"/>
          <p:cNvSpPr txBox="1"/>
          <p:nvPr/>
        </p:nvSpPr>
        <p:spPr>
          <a:xfrm>
            <a:off x="5394960" y="3273552"/>
            <a:ext cx="32918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Automate one real chore</a:t>
            </a:r>
            <a:endParaRPr lang="en-US" sz="1400" dirty="0"/>
          </a:p>
        </p:txBody>
      </p:sp>
      <p:sp>
        <p:nvSpPr>
          <p:cNvPr id="20" name="Text 14"/>
          <p:cNvSpPr txBox="1"/>
          <p:nvPr/>
        </p:nvSpPr>
        <p:spPr>
          <a:xfrm>
            <a:off x="5394960" y="3593592"/>
            <a:ext cx="3291840" cy="457200"/>
          </a:xfrm>
          <a:prstGeom prst="rect">
            <a:avLst/>
          </a:prstGeom>
          <a:noFill/>
          <a:ln/>
        </p:spPr>
        <p:txBody>
          <a:bodyPr wrap="square" lIns="0" tIns="0" rIns="0" bIns="0" rtlCol="0" anchor="ctr"/>
          <a:lstStyle/>
          <a:p>
            <a:pPr indent="0" marL="0">
              <a:buNone/>
            </a:pPr>
            <a:r>
              <a:rPr lang="en-US" sz="1200" dirty="0">
                <a:solidFill>
                  <a:srgbClr val="B8BEC7"/>
                </a:solidFill>
                <a:latin typeface="Calibri" pitchFamily="34" charset="0"/>
                <a:ea typeface="Calibri" pitchFamily="34" charset="-122"/>
                <a:cs typeface="Calibri" pitchFamily="34" charset="-120"/>
              </a:rPr>
              <a:t>set up your own dev box with a playbook</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800600"/>
            <a:ext cx="457200" cy="228600"/>
          </a:xfrm>
          <a:prstGeom prst="rect">
            <a:avLst/>
          </a:prstGeom>
          <a:noFill/>
          <a:ln/>
        </p:spPr>
        <p:txBody>
          <a:bodyPr wrap="square" lIns="0" tIns="0" rIns="0" bIns="0" rtlCol="0" anchor="ctr"/>
          <a:lstStyle/>
          <a:p>
            <a:pPr algn="r" indent="0" marL="0">
              <a:buNone/>
            </a:pPr>
            <a:r>
              <a:rPr lang="en-US" sz="900" dirty="0">
                <a:solidFill>
                  <a:srgbClr val="9AA1AA"/>
                </a:solidFill>
                <a:latin typeface="Calibri" pitchFamily="34" charset="0"/>
                <a:ea typeface="Calibri" pitchFamily="34" charset="-122"/>
                <a:cs typeface="Calibri" pitchFamily="34" charset="-120"/>
              </a:rPr>
              <a:t>44</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Appendix · Windows lab setup in 8 steps</a:t>
            </a:r>
            <a:endParaRPr lang="en-US" sz="28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B6470"/>
                </a:solidFill>
                <a:latin typeface="Calibri" pitchFamily="34" charset="0"/>
                <a:ea typeface="Calibri" pitchFamily="34" charset="-122"/>
                <a:cs typeface="Calibri" pitchFamily="34" charset="-120"/>
              </a:rPr>
              <a:t>Full details and troubleshooting: README.md in ansible-lab.zip</a:t>
            </a:r>
            <a:endParaRPr lang="en-US" sz="1300" dirty="0"/>
          </a:p>
        </p:txBody>
      </p:sp>
      <p:sp>
        <p:nvSpPr>
          <p:cNvPr id="5" name="Shape 3"/>
          <p:cNvSpPr/>
          <p:nvPr/>
        </p:nvSpPr>
        <p:spPr>
          <a:xfrm>
            <a:off x="457200" y="1371600"/>
            <a:ext cx="365760" cy="365760"/>
          </a:xfrm>
          <a:prstGeom prst="ellipse">
            <a:avLst/>
          </a:prstGeom>
          <a:solidFill>
            <a:srgbClr val="D92D27"/>
          </a:solidFill>
          <a:ln w="12700">
            <a:solidFill>
              <a:srgbClr val="D92D27"/>
            </a:solidFill>
            <a:prstDash val="solid"/>
          </a:ln>
        </p:spPr>
      </p:sp>
      <p:sp>
        <p:nvSpPr>
          <p:cNvPr id="6" name="Text 4"/>
          <p:cNvSpPr txBox="1"/>
          <p:nvPr/>
        </p:nvSpPr>
        <p:spPr>
          <a:xfrm>
            <a:off x="457200" y="13716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932688" y="1325880"/>
            <a:ext cx="3566160" cy="246888"/>
          </a:xfrm>
          <a:prstGeom prst="rect">
            <a:avLst/>
          </a:prstGeom>
          <a:noFill/>
          <a:ln/>
        </p:spPr>
        <p:txBody>
          <a:bodyPr wrap="square" lIns="0" tIns="0" rIns="0" bIns="0" rtlCol="0" anchor="t"/>
          <a:lstStyle/>
          <a:p>
            <a:pPr indent="0" marL="0">
              <a:buNone/>
            </a:pPr>
            <a:r>
              <a:rPr lang="en-US" sz="1250" b="1" dirty="0">
                <a:solidFill>
                  <a:srgbClr val="1F2328"/>
                </a:solidFill>
                <a:latin typeface="Calibri" pitchFamily="34" charset="0"/>
                <a:ea typeface="Calibri" pitchFamily="34" charset="-122"/>
                <a:cs typeface="Calibri" pitchFamily="34" charset="-120"/>
              </a:rPr>
              <a:t>Check prerequisites</a:t>
            </a:r>
            <a:endParaRPr lang="en-US" sz="1250" dirty="0"/>
          </a:p>
        </p:txBody>
      </p:sp>
      <p:sp>
        <p:nvSpPr>
          <p:cNvPr id="8" name="Text 6"/>
          <p:cNvSpPr txBox="1"/>
          <p:nvPr/>
        </p:nvSpPr>
        <p:spPr>
          <a:xfrm>
            <a:off x="932688" y="1572768"/>
            <a:ext cx="3566160" cy="228600"/>
          </a:xfrm>
          <a:prstGeom prst="rect">
            <a:avLst/>
          </a:prstGeom>
          <a:noFill/>
          <a:ln/>
        </p:spPr>
        <p:txBody>
          <a:bodyPr wrap="square" lIns="0" tIns="0" rIns="0" bIns="0" rtlCol="0" anchor="t"/>
          <a:lstStyle/>
          <a:p>
            <a:pPr indent="0" marL="0">
              <a:buNone/>
            </a:pPr>
            <a:r>
              <a:rPr lang="en-US" sz="1000" dirty="0">
                <a:solidFill>
                  <a:srgbClr val="5B6470"/>
                </a:solidFill>
                <a:latin typeface="Calibri" pitchFamily="34" charset="0"/>
                <a:ea typeface="Calibri" pitchFamily="34" charset="-122"/>
                <a:cs typeface="Calibri" pitchFamily="34" charset="-120"/>
              </a:rPr>
              <a:t>8 GB RAM, virtualization on, admin rights</a:t>
            </a:r>
            <a:endParaRPr lang="en-US" sz="1000" dirty="0"/>
          </a:p>
        </p:txBody>
      </p:sp>
      <p:sp>
        <p:nvSpPr>
          <p:cNvPr id="9" name="Text 7"/>
          <p:cNvSpPr txBox="1"/>
          <p:nvPr/>
        </p:nvSpPr>
        <p:spPr>
          <a:xfrm>
            <a:off x="932688" y="1801368"/>
            <a:ext cx="3566160" cy="228600"/>
          </a:xfrm>
          <a:prstGeom prst="rect">
            <a:avLst/>
          </a:prstGeom>
          <a:noFill/>
          <a:ln/>
        </p:spPr>
        <p:txBody>
          <a:bodyPr wrap="square" lIns="0" tIns="0" rIns="0" bIns="0" rtlCol="0" anchor="t"/>
          <a:lstStyle/>
          <a:p>
            <a:pPr indent="0" marL="0">
              <a:buNone/>
            </a:pPr>
            <a:r>
              <a:rPr lang="en-US" sz="950" dirty="0">
                <a:solidFill>
                  <a:srgbClr val="D92D27"/>
                </a:solidFill>
                <a:latin typeface="Courier New" pitchFamily="34" charset="0"/>
                <a:ea typeface="Courier New" pitchFamily="34" charset="-122"/>
                <a:cs typeface="Courier New" pitchFamily="34" charset="-120"/>
              </a:rPr>
              <a:t>.\scripts\check-prereqs.ps1</a:t>
            </a:r>
            <a:endParaRPr lang="en-US" sz="950" dirty="0"/>
          </a:p>
        </p:txBody>
      </p:sp>
      <p:sp>
        <p:nvSpPr>
          <p:cNvPr id="10" name="Shape 8"/>
          <p:cNvSpPr/>
          <p:nvPr/>
        </p:nvSpPr>
        <p:spPr>
          <a:xfrm>
            <a:off x="4663440" y="1371600"/>
            <a:ext cx="365760" cy="365760"/>
          </a:xfrm>
          <a:prstGeom prst="ellipse">
            <a:avLst/>
          </a:prstGeom>
          <a:solidFill>
            <a:srgbClr val="D92D27"/>
          </a:solidFill>
          <a:ln w="12700">
            <a:solidFill>
              <a:srgbClr val="D92D27"/>
            </a:solidFill>
            <a:prstDash val="solid"/>
          </a:ln>
        </p:spPr>
      </p:sp>
      <p:sp>
        <p:nvSpPr>
          <p:cNvPr id="11" name="Text 9"/>
          <p:cNvSpPr txBox="1"/>
          <p:nvPr/>
        </p:nvSpPr>
        <p:spPr>
          <a:xfrm>
            <a:off x="4663440" y="13716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5138928" y="1325880"/>
            <a:ext cx="3566160" cy="246888"/>
          </a:xfrm>
          <a:prstGeom prst="rect">
            <a:avLst/>
          </a:prstGeom>
          <a:noFill/>
          <a:ln/>
        </p:spPr>
        <p:txBody>
          <a:bodyPr wrap="square" lIns="0" tIns="0" rIns="0" bIns="0" rtlCol="0" anchor="t"/>
          <a:lstStyle/>
          <a:p>
            <a:pPr indent="0" marL="0">
              <a:buNone/>
            </a:pPr>
            <a:r>
              <a:rPr lang="en-US" sz="1250" b="1" dirty="0">
                <a:solidFill>
                  <a:srgbClr val="1F2328"/>
                </a:solidFill>
                <a:latin typeface="Calibri" pitchFamily="34" charset="0"/>
                <a:ea typeface="Calibri" pitchFamily="34" charset="-122"/>
                <a:cs typeface="Calibri" pitchFamily="34" charset="-120"/>
              </a:rPr>
              <a:t>Install WSL2 + Ubuntu</a:t>
            </a:r>
            <a:endParaRPr lang="en-US" sz="1250" dirty="0"/>
          </a:p>
        </p:txBody>
      </p:sp>
      <p:sp>
        <p:nvSpPr>
          <p:cNvPr id="13" name="Text 11"/>
          <p:cNvSpPr txBox="1"/>
          <p:nvPr/>
        </p:nvSpPr>
        <p:spPr>
          <a:xfrm>
            <a:off x="5138928" y="1572768"/>
            <a:ext cx="3566160" cy="228600"/>
          </a:xfrm>
          <a:prstGeom prst="rect">
            <a:avLst/>
          </a:prstGeom>
          <a:noFill/>
          <a:ln/>
        </p:spPr>
        <p:txBody>
          <a:bodyPr wrap="square" lIns="0" tIns="0" rIns="0" bIns="0" rtlCol="0" anchor="t"/>
          <a:lstStyle/>
          <a:p>
            <a:pPr indent="0" marL="0">
              <a:buNone/>
            </a:pPr>
            <a:r>
              <a:rPr lang="en-US" sz="1000" dirty="0">
                <a:solidFill>
                  <a:srgbClr val="5B6470"/>
                </a:solidFill>
                <a:latin typeface="Calibri" pitchFamily="34" charset="0"/>
                <a:ea typeface="Calibri" pitchFamily="34" charset="-122"/>
                <a:cs typeface="Calibri" pitchFamily="34" charset="-120"/>
              </a:rPr>
              <a:t>PowerShell as Administrator, then reboot</a:t>
            </a:r>
            <a:endParaRPr lang="en-US" sz="1000" dirty="0"/>
          </a:p>
        </p:txBody>
      </p:sp>
      <p:sp>
        <p:nvSpPr>
          <p:cNvPr id="14" name="Text 12"/>
          <p:cNvSpPr txBox="1"/>
          <p:nvPr/>
        </p:nvSpPr>
        <p:spPr>
          <a:xfrm>
            <a:off x="5138928" y="1801368"/>
            <a:ext cx="3566160" cy="228600"/>
          </a:xfrm>
          <a:prstGeom prst="rect">
            <a:avLst/>
          </a:prstGeom>
          <a:noFill/>
          <a:ln/>
        </p:spPr>
        <p:txBody>
          <a:bodyPr wrap="square" lIns="0" tIns="0" rIns="0" bIns="0" rtlCol="0" anchor="t"/>
          <a:lstStyle/>
          <a:p>
            <a:pPr indent="0" marL="0">
              <a:buNone/>
            </a:pPr>
            <a:r>
              <a:rPr lang="en-US" sz="950" dirty="0">
                <a:solidFill>
                  <a:srgbClr val="D92D27"/>
                </a:solidFill>
                <a:latin typeface="Courier New" pitchFamily="34" charset="0"/>
                <a:ea typeface="Courier New" pitchFamily="34" charset="-122"/>
                <a:cs typeface="Courier New" pitchFamily="34" charset="-120"/>
              </a:rPr>
              <a:t>wsl --install -d Ubuntu-24.04</a:t>
            </a:r>
            <a:endParaRPr lang="en-US" sz="950" dirty="0"/>
          </a:p>
        </p:txBody>
      </p:sp>
      <p:sp>
        <p:nvSpPr>
          <p:cNvPr id="15" name="Shape 13"/>
          <p:cNvSpPr/>
          <p:nvPr/>
        </p:nvSpPr>
        <p:spPr>
          <a:xfrm>
            <a:off x="457200" y="2267712"/>
            <a:ext cx="365760" cy="365760"/>
          </a:xfrm>
          <a:prstGeom prst="ellipse">
            <a:avLst/>
          </a:prstGeom>
          <a:solidFill>
            <a:srgbClr val="D92D27"/>
          </a:solidFill>
          <a:ln w="12700">
            <a:solidFill>
              <a:srgbClr val="D92D27"/>
            </a:solidFill>
            <a:prstDash val="solid"/>
          </a:ln>
        </p:spPr>
      </p:sp>
      <p:sp>
        <p:nvSpPr>
          <p:cNvPr id="16" name="Text 14"/>
          <p:cNvSpPr txBox="1"/>
          <p:nvPr/>
        </p:nvSpPr>
        <p:spPr>
          <a:xfrm>
            <a:off x="457200" y="22677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932688" y="2221992"/>
            <a:ext cx="3566160" cy="246888"/>
          </a:xfrm>
          <a:prstGeom prst="rect">
            <a:avLst/>
          </a:prstGeom>
          <a:noFill/>
          <a:ln/>
        </p:spPr>
        <p:txBody>
          <a:bodyPr wrap="square" lIns="0" tIns="0" rIns="0" bIns="0" rtlCol="0" anchor="t"/>
          <a:lstStyle/>
          <a:p>
            <a:pPr indent="0" marL="0">
              <a:buNone/>
            </a:pPr>
            <a:r>
              <a:rPr lang="en-US" sz="1250" b="1" dirty="0">
                <a:solidFill>
                  <a:srgbClr val="1F2328"/>
                </a:solidFill>
                <a:latin typeface="Calibri" pitchFamily="34" charset="0"/>
                <a:ea typeface="Calibri" pitchFamily="34" charset="-122"/>
                <a:cs typeface="Calibri" pitchFamily="34" charset="-120"/>
              </a:rPr>
              <a:t>Install Docker Desktop</a:t>
            </a:r>
            <a:endParaRPr lang="en-US" sz="1250" dirty="0"/>
          </a:p>
        </p:txBody>
      </p:sp>
      <p:sp>
        <p:nvSpPr>
          <p:cNvPr id="18" name="Text 16"/>
          <p:cNvSpPr txBox="1"/>
          <p:nvPr/>
        </p:nvSpPr>
        <p:spPr>
          <a:xfrm>
            <a:off x="932688" y="2468880"/>
            <a:ext cx="3566160" cy="228600"/>
          </a:xfrm>
          <a:prstGeom prst="rect">
            <a:avLst/>
          </a:prstGeom>
          <a:noFill/>
          <a:ln/>
        </p:spPr>
        <p:txBody>
          <a:bodyPr wrap="square" lIns="0" tIns="0" rIns="0" bIns="0" rtlCol="0" anchor="t"/>
          <a:lstStyle/>
          <a:p>
            <a:pPr indent="0" marL="0">
              <a:buNone/>
            </a:pPr>
            <a:r>
              <a:rPr lang="en-US" sz="1000" dirty="0">
                <a:solidFill>
                  <a:srgbClr val="5B6470"/>
                </a:solidFill>
                <a:latin typeface="Calibri" pitchFamily="34" charset="0"/>
                <a:ea typeface="Calibri" pitchFamily="34" charset="-122"/>
                <a:cs typeface="Calibri" pitchFamily="34" charset="-120"/>
              </a:rPr>
              <a:t>WSL2 backend + WSL integration for Ubuntu</a:t>
            </a:r>
            <a:endParaRPr lang="en-US" sz="1000" dirty="0"/>
          </a:p>
        </p:txBody>
      </p:sp>
      <p:sp>
        <p:nvSpPr>
          <p:cNvPr id="19" name="Text 17"/>
          <p:cNvSpPr txBox="1"/>
          <p:nvPr/>
        </p:nvSpPr>
        <p:spPr>
          <a:xfrm>
            <a:off x="932688" y="2697480"/>
            <a:ext cx="3566160" cy="228600"/>
          </a:xfrm>
          <a:prstGeom prst="rect">
            <a:avLst/>
          </a:prstGeom>
          <a:noFill/>
          <a:ln/>
        </p:spPr>
        <p:txBody>
          <a:bodyPr wrap="square" lIns="0" tIns="0" rIns="0" bIns="0" rtlCol="0" anchor="t"/>
          <a:lstStyle/>
          <a:p>
            <a:pPr indent="0" marL="0">
              <a:buNone/>
            </a:pPr>
            <a:r>
              <a:rPr lang="en-US" sz="950" dirty="0">
                <a:solidFill>
                  <a:srgbClr val="D92D27"/>
                </a:solidFill>
                <a:latin typeface="Courier New" pitchFamily="34" charset="0"/>
                <a:ea typeface="Courier New" pitchFamily="34" charset="-122"/>
                <a:cs typeface="Courier New" pitchFamily="34" charset="-120"/>
              </a:rPr>
              <a:t>docker run --rm hello-world</a:t>
            </a:r>
            <a:endParaRPr lang="en-US" sz="950" dirty="0"/>
          </a:p>
        </p:txBody>
      </p:sp>
      <p:sp>
        <p:nvSpPr>
          <p:cNvPr id="20" name="Shape 18"/>
          <p:cNvSpPr/>
          <p:nvPr/>
        </p:nvSpPr>
        <p:spPr>
          <a:xfrm>
            <a:off x="4663440" y="2267712"/>
            <a:ext cx="365760" cy="365760"/>
          </a:xfrm>
          <a:prstGeom prst="ellipse">
            <a:avLst/>
          </a:prstGeom>
          <a:solidFill>
            <a:srgbClr val="D92D27"/>
          </a:solidFill>
          <a:ln w="12700">
            <a:solidFill>
              <a:srgbClr val="D92D27"/>
            </a:solidFill>
            <a:prstDash val="solid"/>
          </a:ln>
        </p:spPr>
      </p:sp>
      <p:sp>
        <p:nvSpPr>
          <p:cNvPr id="21" name="Text 19"/>
          <p:cNvSpPr txBox="1"/>
          <p:nvPr/>
        </p:nvSpPr>
        <p:spPr>
          <a:xfrm>
            <a:off x="4663440" y="22677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5138928" y="2221992"/>
            <a:ext cx="3566160" cy="246888"/>
          </a:xfrm>
          <a:prstGeom prst="rect">
            <a:avLst/>
          </a:prstGeom>
          <a:noFill/>
          <a:ln/>
        </p:spPr>
        <p:txBody>
          <a:bodyPr wrap="square" lIns="0" tIns="0" rIns="0" bIns="0" rtlCol="0" anchor="t"/>
          <a:lstStyle/>
          <a:p>
            <a:pPr indent="0" marL="0">
              <a:buNone/>
            </a:pPr>
            <a:r>
              <a:rPr lang="en-US" sz="1250" b="1" dirty="0">
                <a:solidFill>
                  <a:srgbClr val="1F2328"/>
                </a:solidFill>
                <a:latin typeface="Calibri" pitchFamily="34" charset="0"/>
                <a:ea typeface="Calibri" pitchFamily="34" charset="-122"/>
                <a:cs typeface="Calibri" pitchFamily="34" charset="-120"/>
              </a:rPr>
              <a:t>Install VS Code</a:t>
            </a:r>
            <a:endParaRPr lang="en-US" sz="1250" dirty="0"/>
          </a:p>
        </p:txBody>
      </p:sp>
      <p:sp>
        <p:nvSpPr>
          <p:cNvPr id="23" name="Text 21"/>
          <p:cNvSpPr txBox="1"/>
          <p:nvPr/>
        </p:nvSpPr>
        <p:spPr>
          <a:xfrm>
            <a:off x="5138928" y="2468880"/>
            <a:ext cx="3566160" cy="228600"/>
          </a:xfrm>
          <a:prstGeom prst="rect">
            <a:avLst/>
          </a:prstGeom>
          <a:noFill/>
          <a:ln/>
        </p:spPr>
        <p:txBody>
          <a:bodyPr wrap="square" lIns="0" tIns="0" rIns="0" bIns="0" rtlCol="0" anchor="t"/>
          <a:lstStyle/>
          <a:p>
            <a:pPr indent="0" marL="0">
              <a:buNone/>
            </a:pPr>
            <a:r>
              <a:rPr lang="en-US" sz="1000" dirty="0">
                <a:solidFill>
                  <a:srgbClr val="5B6470"/>
                </a:solidFill>
                <a:latin typeface="Calibri" pitchFamily="34" charset="0"/>
                <a:ea typeface="Calibri" pitchFamily="34" charset="-122"/>
                <a:cs typeface="Calibri" pitchFamily="34" charset="-120"/>
              </a:rPr>
              <a:t>Extensions: WSL, Ansible, YAML (Red Hat)</a:t>
            </a:r>
            <a:endParaRPr lang="en-US" sz="1000" dirty="0"/>
          </a:p>
        </p:txBody>
      </p:sp>
      <p:sp>
        <p:nvSpPr>
          <p:cNvPr id="24" name="Text 22"/>
          <p:cNvSpPr txBox="1"/>
          <p:nvPr/>
        </p:nvSpPr>
        <p:spPr>
          <a:xfrm>
            <a:off x="5138928" y="2697480"/>
            <a:ext cx="3566160" cy="228600"/>
          </a:xfrm>
          <a:prstGeom prst="rect">
            <a:avLst/>
          </a:prstGeom>
          <a:noFill/>
          <a:ln/>
        </p:spPr>
        <p:txBody>
          <a:bodyPr wrap="square" lIns="0" tIns="0" rIns="0" bIns="0" rtlCol="0" anchor="t"/>
          <a:lstStyle/>
          <a:p>
            <a:pPr indent="0" marL="0">
              <a:buNone/>
            </a:pPr>
            <a:r>
              <a:rPr lang="en-US" sz="950" dirty="0">
                <a:solidFill>
                  <a:srgbClr val="D92D27"/>
                </a:solidFill>
                <a:latin typeface="Courier New" pitchFamily="34" charset="0"/>
                <a:ea typeface="Courier New" pitchFamily="34" charset="-122"/>
                <a:cs typeface="Courier New" pitchFamily="34" charset="-120"/>
              </a:rPr>
              <a:t>code .</a:t>
            </a:r>
            <a:endParaRPr lang="en-US" sz="950" dirty="0"/>
          </a:p>
        </p:txBody>
      </p:sp>
      <p:sp>
        <p:nvSpPr>
          <p:cNvPr id="25" name="Shape 23"/>
          <p:cNvSpPr/>
          <p:nvPr/>
        </p:nvSpPr>
        <p:spPr>
          <a:xfrm>
            <a:off x="457200" y="3163824"/>
            <a:ext cx="365760" cy="365760"/>
          </a:xfrm>
          <a:prstGeom prst="ellipse">
            <a:avLst/>
          </a:prstGeom>
          <a:solidFill>
            <a:srgbClr val="D92D27"/>
          </a:solidFill>
          <a:ln w="12700">
            <a:solidFill>
              <a:srgbClr val="D92D27"/>
            </a:solidFill>
            <a:prstDash val="solid"/>
          </a:ln>
        </p:spPr>
      </p:sp>
      <p:sp>
        <p:nvSpPr>
          <p:cNvPr id="26" name="Text 24"/>
          <p:cNvSpPr txBox="1"/>
          <p:nvPr/>
        </p:nvSpPr>
        <p:spPr>
          <a:xfrm>
            <a:off x="457200" y="316382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932688" y="3118104"/>
            <a:ext cx="3566160" cy="246888"/>
          </a:xfrm>
          <a:prstGeom prst="rect">
            <a:avLst/>
          </a:prstGeom>
          <a:noFill/>
          <a:ln/>
        </p:spPr>
        <p:txBody>
          <a:bodyPr wrap="square" lIns="0" tIns="0" rIns="0" bIns="0" rtlCol="0" anchor="t"/>
          <a:lstStyle/>
          <a:p>
            <a:pPr indent="0" marL="0">
              <a:buNone/>
            </a:pPr>
            <a:r>
              <a:rPr lang="en-US" sz="1250" b="1" dirty="0">
                <a:solidFill>
                  <a:srgbClr val="1F2328"/>
                </a:solidFill>
                <a:latin typeface="Calibri" pitchFamily="34" charset="0"/>
                <a:ea typeface="Calibri" pitchFamily="34" charset="-122"/>
                <a:cs typeface="Calibri" pitchFamily="34" charset="-120"/>
              </a:rPr>
              <a:t>Copy lab into WSL home</a:t>
            </a:r>
            <a:endParaRPr lang="en-US" sz="1250" dirty="0"/>
          </a:p>
        </p:txBody>
      </p:sp>
      <p:sp>
        <p:nvSpPr>
          <p:cNvPr id="28" name="Text 26"/>
          <p:cNvSpPr txBox="1"/>
          <p:nvPr/>
        </p:nvSpPr>
        <p:spPr>
          <a:xfrm>
            <a:off x="932688" y="3364992"/>
            <a:ext cx="3566160" cy="228600"/>
          </a:xfrm>
          <a:prstGeom prst="rect">
            <a:avLst/>
          </a:prstGeom>
          <a:noFill/>
          <a:ln/>
        </p:spPr>
        <p:txBody>
          <a:bodyPr wrap="square" lIns="0" tIns="0" rIns="0" bIns="0" rtlCol="0" anchor="t"/>
          <a:lstStyle/>
          <a:p>
            <a:pPr indent="0" marL="0">
              <a:buNone/>
            </a:pPr>
            <a:r>
              <a:rPr lang="en-US" sz="1000" dirty="0">
                <a:solidFill>
                  <a:srgbClr val="5B6470"/>
                </a:solidFill>
                <a:latin typeface="Calibri" pitchFamily="34" charset="0"/>
                <a:ea typeface="Calibri" pitchFamily="34" charset="-122"/>
                <a:cs typeface="Calibri" pitchFamily="34" charset="-120"/>
              </a:rPr>
              <a:t>NOT /mnt/c — ansible.cfg would be ignored</a:t>
            </a:r>
            <a:endParaRPr lang="en-US" sz="1000" dirty="0"/>
          </a:p>
        </p:txBody>
      </p:sp>
      <p:sp>
        <p:nvSpPr>
          <p:cNvPr id="29" name="Text 27"/>
          <p:cNvSpPr txBox="1"/>
          <p:nvPr/>
        </p:nvSpPr>
        <p:spPr>
          <a:xfrm>
            <a:off x="932688" y="3593592"/>
            <a:ext cx="3566160" cy="228600"/>
          </a:xfrm>
          <a:prstGeom prst="rect">
            <a:avLst/>
          </a:prstGeom>
          <a:noFill/>
          <a:ln/>
        </p:spPr>
        <p:txBody>
          <a:bodyPr wrap="square" lIns="0" tIns="0" rIns="0" bIns="0" rtlCol="0" anchor="t"/>
          <a:lstStyle/>
          <a:p>
            <a:pPr indent="0" marL="0">
              <a:buNone/>
            </a:pPr>
            <a:r>
              <a:rPr lang="en-US" sz="950" dirty="0">
                <a:solidFill>
                  <a:srgbClr val="D92D27"/>
                </a:solidFill>
                <a:latin typeface="Courier New" pitchFamily="34" charset="0"/>
                <a:ea typeface="Courier New" pitchFamily="34" charset="-122"/>
                <a:cs typeface="Courier New" pitchFamily="34" charset="-120"/>
              </a:rPr>
              <a:t>cp -r /mnt/c/.../ansible-lab ~/</a:t>
            </a:r>
            <a:endParaRPr lang="en-US" sz="950" dirty="0"/>
          </a:p>
        </p:txBody>
      </p:sp>
      <p:sp>
        <p:nvSpPr>
          <p:cNvPr id="30" name="Shape 28"/>
          <p:cNvSpPr/>
          <p:nvPr/>
        </p:nvSpPr>
        <p:spPr>
          <a:xfrm>
            <a:off x="4663440" y="3163824"/>
            <a:ext cx="365760" cy="365760"/>
          </a:xfrm>
          <a:prstGeom prst="ellipse">
            <a:avLst/>
          </a:prstGeom>
          <a:solidFill>
            <a:srgbClr val="D92D27"/>
          </a:solidFill>
          <a:ln w="12700">
            <a:solidFill>
              <a:srgbClr val="D92D27"/>
            </a:solidFill>
            <a:prstDash val="solid"/>
          </a:ln>
        </p:spPr>
      </p:sp>
      <p:sp>
        <p:nvSpPr>
          <p:cNvPr id="31" name="Text 29"/>
          <p:cNvSpPr txBox="1"/>
          <p:nvPr/>
        </p:nvSpPr>
        <p:spPr>
          <a:xfrm>
            <a:off x="4663440" y="316382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2" name="Text 30"/>
          <p:cNvSpPr txBox="1"/>
          <p:nvPr/>
        </p:nvSpPr>
        <p:spPr>
          <a:xfrm>
            <a:off x="5138928" y="3118104"/>
            <a:ext cx="3566160" cy="246888"/>
          </a:xfrm>
          <a:prstGeom prst="rect">
            <a:avLst/>
          </a:prstGeom>
          <a:noFill/>
          <a:ln/>
        </p:spPr>
        <p:txBody>
          <a:bodyPr wrap="square" lIns="0" tIns="0" rIns="0" bIns="0" rtlCol="0" anchor="t"/>
          <a:lstStyle/>
          <a:p>
            <a:pPr indent="0" marL="0">
              <a:buNone/>
            </a:pPr>
            <a:r>
              <a:rPr lang="en-US" sz="1250" b="1" dirty="0">
                <a:solidFill>
                  <a:srgbClr val="1F2328"/>
                </a:solidFill>
                <a:latin typeface="Calibri" pitchFamily="34" charset="0"/>
                <a:ea typeface="Calibri" pitchFamily="34" charset="-122"/>
                <a:cs typeface="Calibri" pitchFamily="34" charset="-120"/>
              </a:rPr>
              <a:t>Install Ansible</a:t>
            </a:r>
            <a:endParaRPr lang="en-US" sz="1250" dirty="0"/>
          </a:p>
        </p:txBody>
      </p:sp>
      <p:sp>
        <p:nvSpPr>
          <p:cNvPr id="33" name="Text 31"/>
          <p:cNvSpPr txBox="1"/>
          <p:nvPr/>
        </p:nvSpPr>
        <p:spPr>
          <a:xfrm>
            <a:off x="5138928" y="3364992"/>
            <a:ext cx="3566160" cy="228600"/>
          </a:xfrm>
          <a:prstGeom prst="rect">
            <a:avLst/>
          </a:prstGeom>
          <a:noFill/>
          <a:ln/>
        </p:spPr>
        <p:txBody>
          <a:bodyPr wrap="square" lIns="0" tIns="0" rIns="0" bIns="0" rtlCol="0" anchor="t"/>
          <a:lstStyle/>
          <a:p>
            <a:pPr indent="0" marL="0">
              <a:buNone/>
            </a:pPr>
            <a:r>
              <a:rPr lang="en-US" sz="1000" dirty="0">
                <a:solidFill>
                  <a:srgbClr val="5B6470"/>
                </a:solidFill>
                <a:latin typeface="Calibri" pitchFamily="34" charset="0"/>
                <a:ea typeface="Calibri" pitchFamily="34" charset="-122"/>
                <a:cs typeface="Calibri" pitchFamily="34" charset="-120"/>
              </a:rPr>
              <a:t>pipx, sshpass, ansible, ansible-lint, SSH key</a:t>
            </a:r>
            <a:endParaRPr lang="en-US" sz="1000" dirty="0"/>
          </a:p>
        </p:txBody>
      </p:sp>
      <p:sp>
        <p:nvSpPr>
          <p:cNvPr id="34" name="Text 32"/>
          <p:cNvSpPr txBox="1"/>
          <p:nvPr/>
        </p:nvSpPr>
        <p:spPr>
          <a:xfrm>
            <a:off x="5138928" y="3593592"/>
            <a:ext cx="3566160" cy="228600"/>
          </a:xfrm>
          <a:prstGeom prst="rect">
            <a:avLst/>
          </a:prstGeom>
          <a:noFill/>
          <a:ln/>
        </p:spPr>
        <p:txBody>
          <a:bodyPr wrap="square" lIns="0" tIns="0" rIns="0" bIns="0" rtlCol="0" anchor="t"/>
          <a:lstStyle/>
          <a:p>
            <a:pPr indent="0" marL="0">
              <a:buNone/>
            </a:pPr>
            <a:r>
              <a:rPr lang="en-US" sz="950" dirty="0">
                <a:solidFill>
                  <a:srgbClr val="D92D27"/>
                </a:solidFill>
                <a:latin typeface="Courier New" pitchFamily="34" charset="0"/>
                <a:ea typeface="Courier New" pitchFamily="34" charset="-122"/>
                <a:cs typeface="Courier New" pitchFamily="34" charset="-120"/>
              </a:rPr>
              <a:t>bash scripts/setup-wsl.sh</a:t>
            </a:r>
            <a:endParaRPr lang="en-US" sz="950" dirty="0"/>
          </a:p>
        </p:txBody>
      </p:sp>
      <p:sp>
        <p:nvSpPr>
          <p:cNvPr id="35" name="Shape 33"/>
          <p:cNvSpPr/>
          <p:nvPr/>
        </p:nvSpPr>
        <p:spPr>
          <a:xfrm>
            <a:off x="457200" y="4059936"/>
            <a:ext cx="365760" cy="365760"/>
          </a:xfrm>
          <a:prstGeom prst="ellipse">
            <a:avLst/>
          </a:prstGeom>
          <a:solidFill>
            <a:srgbClr val="D92D27"/>
          </a:solidFill>
          <a:ln w="12700">
            <a:solidFill>
              <a:srgbClr val="D92D27"/>
            </a:solidFill>
            <a:prstDash val="solid"/>
          </a:ln>
        </p:spPr>
      </p:sp>
      <p:sp>
        <p:nvSpPr>
          <p:cNvPr id="36" name="Text 34"/>
          <p:cNvSpPr txBox="1"/>
          <p:nvPr/>
        </p:nvSpPr>
        <p:spPr>
          <a:xfrm>
            <a:off x="457200" y="405993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7" name="Text 35"/>
          <p:cNvSpPr txBox="1"/>
          <p:nvPr/>
        </p:nvSpPr>
        <p:spPr>
          <a:xfrm>
            <a:off x="932688" y="4014216"/>
            <a:ext cx="3566160" cy="246888"/>
          </a:xfrm>
          <a:prstGeom prst="rect">
            <a:avLst/>
          </a:prstGeom>
          <a:noFill/>
          <a:ln/>
        </p:spPr>
        <p:txBody>
          <a:bodyPr wrap="square" lIns="0" tIns="0" rIns="0" bIns="0" rtlCol="0" anchor="t"/>
          <a:lstStyle/>
          <a:p>
            <a:pPr indent="0" marL="0">
              <a:buNone/>
            </a:pPr>
            <a:r>
              <a:rPr lang="en-US" sz="1250" b="1" dirty="0">
                <a:solidFill>
                  <a:srgbClr val="1F2328"/>
                </a:solidFill>
                <a:latin typeface="Calibri" pitchFamily="34" charset="0"/>
                <a:ea typeface="Calibri" pitchFamily="34" charset="-122"/>
                <a:cs typeface="Calibri" pitchFamily="34" charset="-120"/>
              </a:rPr>
              <a:t>Start the nodes</a:t>
            </a:r>
            <a:endParaRPr lang="en-US" sz="1250" dirty="0"/>
          </a:p>
        </p:txBody>
      </p:sp>
      <p:sp>
        <p:nvSpPr>
          <p:cNvPr id="38" name="Text 36"/>
          <p:cNvSpPr txBox="1"/>
          <p:nvPr/>
        </p:nvSpPr>
        <p:spPr>
          <a:xfrm>
            <a:off x="932688" y="4261104"/>
            <a:ext cx="3566160" cy="228600"/>
          </a:xfrm>
          <a:prstGeom prst="rect">
            <a:avLst/>
          </a:prstGeom>
          <a:noFill/>
          <a:ln/>
        </p:spPr>
        <p:txBody>
          <a:bodyPr wrap="square" lIns="0" tIns="0" rIns="0" bIns="0" rtlCol="0" anchor="t"/>
          <a:lstStyle/>
          <a:p>
            <a:pPr indent="0" marL="0">
              <a:buNone/>
            </a:pPr>
            <a:r>
              <a:rPr lang="en-US" sz="1000" dirty="0">
                <a:solidFill>
                  <a:srgbClr val="5B6470"/>
                </a:solidFill>
                <a:latin typeface="Calibri" pitchFamily="34" charset="0"/>
                <a:ea typeface="Calibri" pitchFamily="34" charset="-122"/>
                <a:cs typeface="Calibri" pitchFamily="34" charset="-120"/>
              </a:rPr>
              <a:t>web1, web2, db1 (+ control fallback)</a:t>
            </a:r>
            <a:endParaRPr lang="en-US" sz="1000" dirty="0"/>
          </a:p>
        </p:txBody>
      </p:sp>
      <p:sp>
        <p:nvSpPr>
          <p:cNvPr id="39" name="Text 37"/>
          <p:cNvSpPr txBox="1"/>
          <p:nvPr/>
        </p:nvSpPr>
        <p:spPr>
          <a:xfrm>
            <a:off x="932688" y="4489704"/>
            <a:ext cx="3566160" cy="228600"/>
          </a:xfrm>
          <a:prstGeom prst="rect">
            <a:avLst/>
          </a:prstGeom>
          <a:noFill/>
          <a:ln/>
        </p:spPr>
        <p:txBody>
          <a:bodyPr wrap="square" lIns="0" tIns="0" rIns="0" bIns="0" rtlCol="0" anchor="t"/>
          <a:lstStyle/>
          <a:p>
            <a:pPr indent="0" marL="0">
              <a:buNone/>
            </a:pPr>
            <a:r>
              <a:rPr lang="en-US" sz="950" dirty="0">
                <a:solidFill>
                  <a:srgbClr val="D92D27"/>
                </a:solidFill>
                <a:latin typeface="Courier New" pitchFamily="34" charset="0"/>
                <a:ea typeface="Courier New" pitchFamily="34" charset="-122"/>
                <a:cs typeface="Courier New" pitchFamily="34" charset="-120"/>
              </a:rPr>
              <a:t>docker compose up -d --build</a:t>
            </a:r>
            <a:endParaRPr lang="en-US" sz="950" dirty="0"/>
          </a:p>
        </p:txBody>
      </p:sp>
      <p:sp>
        <p:nvSpPr>
          <p:cNvPr id="40" name="Shape 38"/>
          <p:cNvSpPr/>
          <p:nvPr/>
        </p:nvSpPr>
        <p:spPr>
          <a:xfrm>
            <a:off x="4663440" y="4059936"/>
            <a:ext cx="365760" cy="365760"/>
          </a:xfrm>
          <a:prstGeom prst="ellipse">
            <a:avLst/>
          </a:prstGeom>
          <a:solidFill>
            <a:srgbClr val="D92D27"/>
          </a:solidFill>
          <a:ln w="12700">
            <a:solidFill>
              <a:srgbClr val="D92D27"/>
            </a:solidFill>
            <a:prstDash val="solid"/>
          </a:ln>
        </p:spPr>
      </p:sp>
      <p:sp>
        <p:nvSpPr>
          <p:cNvPr id="41" name="Text 39"/>
          <p:cNvSpPr txBox="1"/>
          <p:nvPr/>
        </p:nvSpPr>
        <p:spPr>
          <a:xfrm>
            <a:off x="4663440" y="405993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2" name="Text 40"/>
          <p:cNvSpPr txBox="1"/>
          <p:nvPr/>
        </p:nvSpPr>
        <p:spPr>
          <a:xfrm>
            <a:off x="5138928" y="4014216"/>
            <a:ext cx="3566160" cy="246888"/>
          </a:xfrm>
          <a:prstGeom prst="rect">
            <a:avLst/>
          </a:prstGeom>
          <a:noFill/>
          <a:ln/>
        </p:spPr>
        <p:txBody>
          <a:bodyPr wrap="square" lIns="0" tIns="0" rIns="0" bIns="0" rtlCol="0" anchor="t"/>
          <a:lstStyle/>
          <a:p>
            <a:pPr indent="0" marL="0">
              <a:buNone/>
            </a:pPr>
            <a:r>
              <a:rPr lang="en-US" sz="1250" b="1" dirty="0">
                <a:solidFill>
                  <a:srgbClr val="1F2328"/>
                </a:solidFill>
                <a:latin typeface="Calibri" pitchFamily="34" charset="0"/>
                <a:ea typeface="Calibri" pitchFamily="34" charset="-122"/>
                <a:cs typeface="Calibri" pitchFamily="34" charset="-120"/>
              </a:rPr>
              <a:t>Smoke test</a:t>
            </a:r>
            <a:endParaRPr lang="en-US" sz="1250" dirty="0"/>
          </a:p>
        </p:txBody>
      </p:sp>
      <p:sp>
        <p:nvSpPr>
          <p:cNvPr id="43" name="Text 41"/>
          <p:cNvSpPr txBox="1"/>
          <p:nvPr/>
        </p:nvSpPr>
        <p:spPr>
          <a:xfrm>
            <a:off x="5138928" y="4261104"/>
            <a:ext cx="3566160" cy="228600"/>
          </a:xfrm>
          <a:prstGeom prst="rect">
            <a:avLst/>
          </a:prstGeom>
          <a:noFill/>
          <a:ln/>
        </p:spPr>
        <p:txBody>
          <a:bodyPr wrap="square" lIns="0" tIns="0" rIns="0" bIns="0" rtlCol="0" anchor="t"/>
          <a:lstStyle/>
          <a:p>
            <a:pPr indent="0" marL="0">
              <a:buNone/>
            </a:pPr>
            <a:r>
              <a:rPr lang="en-US" sz="1000" dirty="0">
                <a:solidFill>
                  <a:srgbClr val="5B6470"/>
                </a:solidFill>
                <a:latin typeface="Calibri" pitchFamily="34" charset="0"/>
                <a:ea typeface="Calibri" pitchFamily="34" charset="-122"/>
                <a:cs typeface="Calibri" pitchFamily="34" charset="-120"/>
              </a:rPr>
              <a:t>password: ansible</a:t>
            </a:r>
            <a:endParaRPr lang="en-US" sz="1000" dirty="0"/>
          </a:p>
        </p:txBody>
      </p:sp>
      <p:sp>
        <p:nvSpPr>
          <p:cNvPr id="44" name="Text 42"/>
          <p:cNvSpPr txBox="1"/>
          <p:nvPr/>
        </p:nvSpPr>
        <p:spPr>
          <a:xfrm>
            <a:off x="5138928" y="4489704"/>
            <a:ext cx="3566160" cy="228600"/>
          </a:xfrm>
          <a:prstGeom prst="rect">
            <a:avLst/>
          </a:prstGeom>
          <a:noFill/>
          <a:ln/>
        </p:spPr>
        <p:txBody>
          <a:bodyPr wrap="square" lIns="0" tIns="0" rIns="0" bIns="0" rtlCol="0" anchor="t"/>
          <a:lstStyle/>
          <a:p>
            <a:pPr indent="0" marL="0">
              <a:buNone/>
            </a:pPr>
            <a:r>
              <a:rPr lang="en-US" sz="950" dirty="0">
                <a:solidFill>
                  <a:srgbClr val="D92D27"/>
                </a:solidFill>
                <a:latin typeface="Courier New" pitchFamily="34" charset="0"/>
                <a:ea typeface="Courier New" pitchFamily="34" charset="-122"/>
                <a:cs typeface="Courier New" pitchFamily="34" charset="-120"/>
              </a:rPr>
              <a:t>ansible all -m ping -k</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Ansible for Beginners</dc:title>
  <dc:subject>PptxGenJS Presentation</dc:subject>
  <dc:creator>PptxGenJS</dc:creator>
  <cp:lastModifiedBy>PptxGenJS</cp:lastModifiedBy>
  <cp:revision>1</cp:revision>
  <dcterms:created xsi:type="dcterms:W3CDTF">2026-09-29T12:40:00Z</dcterms:created>
  <dcterms:modified xsi:type="dcterms:W3CDTF">2026-09-29T12:40:00Z</dcterms:modified>
</cp:coreProperties>
</file>